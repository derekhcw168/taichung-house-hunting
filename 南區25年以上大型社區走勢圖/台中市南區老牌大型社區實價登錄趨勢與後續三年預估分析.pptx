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2926080"/>
          </a:xfrm>
          <a:prstGeom prst="rect">
            <a:avLst/>
          </a:prstGeom>
          <a:solidFill>
            <a:srgbClr val="D98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241280" cy="3200400"/>
          </a:xfrm>
          <a:prstGeom prst="rect">
            <a:avLst/>
          </a:prstGeom>
          <a:noFill/>
        </p:spPr>
        <p:txBody>
          <a:bodyPr wrap="square">
            <a:spAutoFit/>
          </a:bodyPr>
          <a:lstStyle/>
          <a:p>
            <a:pPr>
              <a:defRPr sz="2400" b="1">
                <a:solidFill>
                  <a:srgbClr val="D98C14"/>
                </a:solidFill>
                <a:latin typeface="微軟正黑體"/>
              </a:defRPr>
            </a:pPr>
            <a:r>
              <a:t>台中市南區 25 年以上老牌大型社區</a:t>
            </a:r>
          </a:p>
          <a:p>
            <a:pPr>
              <a:spcBef>
                <a:spcPts val="800"/>
              </a:spcBef>
              <a:defRPr sz="3200" b="1">
                <a:solidFill>
                  <a:srgbClr val="FFFFFF"/>
                </a:solidFill>
                <a:latin typeface="微軟正黑體"/>
              </a:defRPr>
            </a:pPr>
            <a:r>
              <a:t>實價登錄趨勢與後續三年預估分析報告</a:t>
            </a:r>
          </a:p>
          <a:p>
            <a:pPr>
              <a:spcBef>
                <a:spcPts val="1200"/>
              </a:spcBef>
              <a:defRPr sz="1300">
                <a:solidFill>
                  <a:srgbClr val="BED2F0"/>
                </a:solidFill>
                <a:latin typeface="微軟正黑體"/>
              </a:defRPr>
            </a:pPr>
            <a:r>
              <a:t>【大盤量縮 76.4% 轉折確立 ｜ 月度高頻動態計量預估模型 ｜ 全數 54 社區全圖鑑 ｜ 供需・結構機能・市場・金融四大成因全景解析】</a:t>
            </a:r>
          </a:p>
        </p:txBody>
      </p:sp>
      <p:sp>
        <p:nvSpPr>
          <p:cNvPr id="5" name="Rounded Rectangle 4"/>
          <p:cNvSpPr/>
          <p:nvPr/>
        </p:nvSpPr>
        <p:spPr>
          <a:xfrm>
            <a:off x="731520" y="5120640"/>
            <a:ext cx="10728655" cy="1005840"/>
          </a:xfrm>
          <a:prstGeom prst="roundRect">
            <a:avLst/>
          </a:prstGeom>
          <a:solidFill>
            <a:srgbClr val="162D55"/>
          </a:solidFill>
          <a:ln w="12700">
            <a:solidFill>
              <a:srgbClr val="284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微軟正黑體"/>
              </a:defRPr>
            </a:pPr>
            <a:r>
              <a:t>數據範疇：全南區 54 棟 25 年以上大型集合住宅社區（總計 17,945 戶、整體老屋存量逾 21,396 戶、平均屋齡 31.0 年） ｜ 實登總計：7,072 筆（純住宅 5,935 筆） ｜ 時間精度：月度時間序列 ｜ 分析日期：2026 年 10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執行摘要：南區老牌大社區房市大盤 4 大核心研判結論</a:t>
            </a:r>
          </a:p>
        </p:txBody>
      </p:sp>
      <p:sp>
        <p:nvSpPr>
          <p:cNvPr id="6" name="Rounded Rectangle 5"/>
          <p:cNvSpPr/>
          <p:nvPr/>
        </p:nvSpPr>
        <p:spPr>
          <a:xfrm>
            <a:off x="731520" y="137160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457200"/>
          </a:xfrm>
          <a:prstGeom prst="rect">
            <a:avLst/>
          </a:prstGeom>
          <a:noFill/>
        </p:spPr>
        <p:txBody>
          <a:bodyPr wrap="none">
            <a:spAutoFit/>
          </a:bodyPr>
          <a:lstStyle/>
          <a:p>
            <a:pPr>
              <a:defRPr sz="1550" b="1">
                <a:solidFill>
                  <a:srgbClr val="C0392B"/>
                </a:solidFill>
                <a:latin typeface="微軟正黑體"/>
              </a:defRPr>
            </a:pPr>
            <a:r>
              <a:t>📉 大盤轉折確立・量縮 76.4%</a:t>
            </a:r>
          </a:p>
        </p:txBody>
      </p:sp>
      <p:sp>
        <p:nvSpPr>
          <p:cNvPr id="8" name="TextBox 7"/>
          <p:cNvSpPr txBox="1"/>
          <p:nvPr/>
        </p:nvSpPr>
        <p:spPr>
          <a:xfrm>
            <a:off x="914400" y="2011680"/>
            <a:ext cx="4846320" cy="1600200"/>
          </a:xfrm>
          <a:prstGeom prst="rect">
            <a:avLst/>
          </a:prstGeom>
          <a:noFill/>
        </p:spPr>
        <p:txBody>
          <a:bodyPr wrap="square">
            <a:spAutoFit/>
          </a:bodyPr>
          <a:lstStyle/>
          <a:p>
            <a:pPr>
              <a:lnSpc>
                <a:spcPct val="135000"/>
              </a:lnSpc>
              <a:defRPr sz="1100">
                <a:solidFill>
                  <a:srgbClr val="1E293B"/>
                </a:solidFill>
                <a:latin typeface="微軟正黑體"/>
              </a:defRPr>
            </a:pPr>
            <a:r>
              <a:t>全南區 54 棟老牌大案於 113 年衝上 26.9 萬/坪歷史天花板後見頂。央行實施第七波選擇性信用管制後，115 年成交量自高峰期年均 739 件崩縮至 174 件（暴跌 76.4%），『量先價行』鐵律確立市場全面反轉下行。</a:t>
            </a:r>
          </a:p>
        </p:txBody>
      </p:sp>
      <p:sp>
        <p:nvSpPr>
          <p:cNvPr id="9" name="Rounded Rectangle 8"/>
          <p:cNvSpPr/>
          <p:nvPr/>
        </p:nvSpPr>
        <p:spPr>
          <a:xfrm>
            <a:off x="6217920" y="137160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57200"/>
          </a:xfrm>
          <a:prstGeom prst="rect">
            <a:avLst/>
          </a:prstGeom>
          <a:noFill/>
        </p:spPr>
        <p:txBody>
          <a:bodyPr wrap="none">
            <a:spAutoFit/>
          </a:bodyPr>
          <a:lstStyle/>
          <a:p>
            <a:pPr>
              <a:defRPr sz="1550" b="1">
                <a:solidFill>
                  <a:srgbClr val="D98C14"/>
                </a:solidFill>
                <a:latin typeface="微軟正黑體"/>
              </a:defRPr>
            </a:pPr>
            <a:r>
              <a:t>📉 計量經濟學動態下修模型</a:t>
            </a:r>
          </a:p>
        </p:txBody>
      </p:sp>
      <p:sp>
        <p:nvSpPr>
          <p:cNvPr id="11" name="TextBox 10"/>
          <p:cNvSpPr txBox="1"/>
          <p:nvPr/>
        </p:nvSpPr>
        <p:spPr>
          <a:xfrm>
            <a:off x="6400800" y="2011680"/>
            <a:ext cx="4846320" cy="1600200"/>
          </a:xfrm>
          <a:prstGeom prst="rect">
            <a:avLst/>
          </a:prstGeom>
          <a:noFill/>
        </p:spPr>
        <p:txBody>
          <a:bodyPr wrap="square">
            <a:spAutoFit/>
          </a:bodyPr>
          <a:lstStyle/>
          <a:p>
            <a:pPr>
              <a:lnSpc>
                <a:spcPct val="135000"/>
              </a:lnSpc>
              <a:defRPr sz="1100">
                <a:solidFill>
                  <a:srgbClr val="1E293B"/>
                </a:solidFill>
                <a:latin typeface="微軟正黑體"/>
              </a:defRPr>
            </a:pPr>
            <a:r>
              <a:t>捨棄傳統固定跌幅，建立嚴謹月度動態計量經濟模型（量價衰減回歸、流動性衝擊動能、Holt阻尼平滑與IQR價值支撐重力模型）：測算大盤中位數 116 年 21.6 萬 ➜ 117 年 19.0 萬 ➜ 118 年 18.4 萬，三年累計跌幅達 -24.9%，理性靠攏長期合理支撐帶。</a:t>
            </a:r>
          </a:p>
        </p:txBody>
      </p:sp>
      <p:sp>
        <p:nvSpPr>
          <p:cNvPr id="12" name="Rounded Rectangle 11"/>
          <p:cNvSpPr/>
          <p:nvPr/>
        </p:nvSpPr>
        <p:spPr>
          <a:xfrm>
            <a:off x="731520" y="393192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4846320" cy="457200"/>
          </a:xfrm>
          <a:prstGeom prst="rect">
            <a:avLst/>
          </a:prstGeom>
          <a:noFill/>
        </p:spPr>
        <p:txBody>
          <a:bodyPr wrap="none">
            <a:spAutoFit/>
          </a:bodyPr>
          <a:lstStyle/>
          <a:p>
            <a:pPr>
              <a:defRPr sz="1550" b="1">
                <a:solidFill>
                  <a:srgbClr val="2C5E8A"/>
                </a:solidFill>
                <a:latin typeface="微軟正黑體"/>
              </a:defRPr>
            </a:pPr>
            <a:r>
              <a:t>🏢 十大指標建案接連破底</a:t>
            </a:r>
          </a:p>
        </p:txBody>
      </p:sp>
      <p:sp>
        <p:nvSpPr>
          <p:cNvPr id="14" name="TextBox 13"/>
          <p:cNvSpPr txBox="1"/>
          <p:nvPr/>
        </p:nvSpPr>
        <p:spPr>
          <a:xfrm>
            <a:off x="914400" y="4572000"/>
            <a:ext cx="4846320" cy="1600200"/>
          </a:xfrm>
          <a:prstGeom prst="rect">
            <a:avLst/>
          </a:prstGeom>
          <a:noFill/>
        </p:spPr>
        <p:txBody>
          <a:bodyPr wrap="square">
            <a:spAutoFit/>
          </a:bodyPr>
          <a:lstStyle/>
          <a:p>
            <a:pPr>
              <a:lnSpc>
                <a:spcPct val="135000"/>
              </a:lnSpc>
              <a:defRPr sz="1100">
                <a:solidFill>
                  <a:srgbClr val="1E293B"/>
                </a:solidFill>
                <a:latin typeface="微軟正黑體"/>
              </a:defRPr>
            </a:pPr>
            <a:r>
              <a:t>工學天下、文心及第、綠灣大樓、廣三大時代等南區 10 大標竿社區全數高檔重挫！其中文心及第跌幅達 47.1%、綠灣大樓跌 40.2%、比佛利山莊跌 44.0%，工學天下(19.6萬)等最新成交直接摜破 2 字頭，形成無可逆轉之比價定錨效應。</a:t>
            </a:r>
          </a:p>
        </p:txBody>
      </p:sp>
      <p:sp>
        <p:nvSpPr>
          <p:cNvPr id="15" name="Rounded Rectangle 14"/>
          <p:cNvSpPr/>
          <p:nvPr/>
        </p:nvSpPr>
        <p:spPr>
          <a:xfrm>
            <a:off x="6217920" y="393192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69080"/>
            <a:ext cx="4846320" cy="457200"/>
          </a:xfrm>
          <a:prstGeom prst="rect">
            <a:avLst/>
          </a:prstGeom>
          <a:noFill/>
        </p:spPr>
        <p:txBody>
          <a:bodyPr wrap="none">
            <a:spAutoFit/>
          </a:bodyPr>
          <a:lstStyle/>
          <a:p>
            <a:pPr>
              <a:defRPr sz="1550" b="1">
                <a:solidFill>
                  <a:srgbClr val="27AE60"/>
                </a:solidFill>
                <a:latin typeface="微軟正黑體"/>
              </a:defRPr>
            </a:pPr>
            <a:r>
              <a:t>🎯 四大成因共振拉動下行</a:t>
            </a:r>
          </a:p>
        </p:txBody>
      </p:sp>
      <p:sp>
        <p:nvSpPr>
          <p:cNvPr id="17" name="TextBox 16"/>
          <p:cNvSpPr txBox="1"/>
          <p:nvPr/>
        </p:nvSpPr>
        <p:spPr>
          <a:xfrm>
            <a:off x="6400800" y="4572000"/>
            <a:ext cx="4846320" cy="1600200"/>
          </a:xfrm>
          <a:prstGeom prst="rect">
            <a:avLst/>
          </a:prstGeom>
          <a:noFill/>
        </p:spPr>
        <p:txBody>
          <a:bodyPr wrap="square">
            <a:spAutoFit/>
          </a:bodyPr>
          <a:lstStyle/>
          <a:p>
            <a:pPr>
              <a:lnSpc>
                <a:spcPct val="135000"/>
              </a:lnSpc>
              <a:defRPr sz="1100">
                <a:solidFill>
                  <a:srgbClr val="1E293B"/>
                </a:solidFill>
                <a:latin typeface="微軟正黑體"/>
              </a:defRPr>
            </a:pPr>
            <a:r>
              <a:t>【供需面】2.1萬戶老屋存量賣壓與新成屋交屋潮夾殺；【結構維護面】結構機能衰退與公共維護負擔加劇，30餘年老社區居住10至20年後將成為50年屋齡老舊建築，屆時將無人購買更沒有實質買盤；【市場面】追價心理破滅與流動性枯竭；【金融面】央行第七波重拳與老屋貸款年限腰斬至15~20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大盤全景解構：南區 54 棟老牌大社區實登價量全圖與歷史週期剖析</a:t>
            </a:r>
          </a:p>
        </p:txBody>
      </p:sp>
      <p:pic>
        <p:nvPicPr>
          <p:cNvPr id="6" name="Picture 5" descr="00_台中市南區25年以上大型社區_大盤匯總走勢圖.png"/>
          <p:cNvPicPr>
            <a:picLocks noChangeAspect="1"/>
          </p:cNvPicPr>
          <p:nvPr/>
        </p:nvPicPr>
        <p:blipFill>
          <a:blip r:embed="rId2"/>
          <a:stretch>
            <a:fillRect/>
          </a:stretch>
        </p:blipFill>
        <p:spPr>
          <a:xfrm>
            <a:off x="731520" y="1371600"/>
            <a:ext cx="6583680" cy="4477399"/>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54480"/>
            <a:ext cx="3566160" cy="4663440"/>
          </a:xfrm>
          <a:prstGeom prst="rect">
            <a:avLst/>
          </a:prstGeom>
          <a:noFill/>
        </p:spPr>
        <p:txBody>
          <a:bodyPr wrap="square">
            <a:spAutoFit/>
          </a:bodyPr>
          <a:lstStyle/>
          <a:p>
            <a:pPr>
              <a:defRPr sz="1400" b="1">
                <a:solidFill>
                  <a:srgbClr val="1B365D"/>
                </a:solidFill>
                <a:latin typeface="微軟正黑體"/>
              </a:defRPr>
            </a:pPr>
            <a:r>
              <a:t>📊 南區老牌社區大盤四大週期剖析</a:t>
            </a:r>
          </a:p>
          <a:p>
            <a:pPr>
              <a:spcBef>
                <a:spcPts val="800"/>
              </a:spcBef>
              <a:defRPr sz="1100" b="1">
                <a:solidFill>
                  <a:srgbClr val="2C5E8A"/>
                </a:solidFill>
                <a:latin typeface="微軟正黑體"/>
              </a:defRPr>
            </a:pPr>
            <a:r>
              <a:t>• 101～106年【早期溫和盤整期】</a:t>
            </a:r>
          </a:p>
          <a:p>
            <a:pPr>
              <a:lnSpc>
                <a:spcPct val="125000"/>
              </a:lnSpc>
              <a:defRPr sz="950">
                <a:solidFill>
                  <a:srgbClr val="1E293B"/>
                </a:solidFill>
                <a:latin typeface="微軟正黑體"/>
              </a:defRPr>
            </a:pPr>
            <a:r>
              <a:t>全區純住宅均價落在 10.0～14.1 萬/坪，成交量平穩扎實（年均約 400～700 餘件），老牌社區以高性價比為首購主力客群。</a:t>
            </a:r>
          </a:p>
          <a:p>
            <a:pPr>
              <a:spcBef>
                <a:spcPts val="800"/>
              </a:spcBef>
              <a:defRPr sz="1100" b="1">
                <a:solidFill>
                  <a:srgbClr val="1B365D"/>
                </a:solidFill>
                <a:latin typeface="微軟正黑體"/>
              </a:defRPr>
            </a:pPr>
            <a:r>
              <a:t>• 107～112年【低利資金推升主升期】</a:t>
            </a:r>
          </a:p>
          <a:p>
            <a:pPr>
              <a:lnSpc>
                <a:spcPct val="125000"/>
              </a:lnSpc>
              <a:defRPr sz="950">
                <a:solidFill>
                  <a:srgbClr val="1E293B"/>
                </a:solidFill>
                <a:latin typeface="微軟正黑體"/>
              </a:defRPr>
            </a:pPr>
            <a:r>
              <a:t>受全球寬鬆熱錢與通膨預期帶動，單價突破 20 萬大關，全區年度成交創下 739 件高峰。</a:t>
            </a:r>
          </a:p>
          <a:p>
            <a:pPr>
              <a:spcBef>
                <a:spcPts val="800"/>
              </a:spcBef>
              <a:defRPr sz="1100" b="1">
                <a:solidFill>
                  <a:srgbClr val="C0392B"/>
                </a:solidFill>
                <a:latin typeface="微軟正黑體"/>
              </a:defRPr>
            </a:pPr>
            <a:r>
              <a:t>• 113～115年【見頂回落量縮急凍期】</a:t>
            </a:r>
          </a:p>
          <a:p>
            <a:pPr>
              <a:lnSpc>
                <a:spcPct val="125000"/>
              </a:lnSpc>
              <a:defRPr sz="950">
                <a:solidFill>
                  <a:srgbClr val="1E293B"/>
                </a:solidFill>
                <a:latin typeface="微軟正黑體"/>
              </a:defRPr>
            </a:pPr>
            <a:r>
              <a:t>113 年見 26.9 萬歷史天花板，央行第七波管制後成交量崩跌 76.4%（至 174 件），115 年中位數回修至 24.6 萬。</a:t>
            </a:r>
          </a:p>
          <a:p>
            <a:pPr>
              <a:spcBef>
                <a:spcPts val="800"/>
              </a:spcBef>
              <a:defRPr sz="1100" b="1">
                <a:solidFill>
                  <a:srgbClr val="D98C14"/>
                </a:solidFill>
                <a:latin typeface="微軟正黑體"/>
              </a:defRPr>
            </a:pPr>
            <a:r>
              <a:t>• 116～118年【計量經濟動態下行期】</a:t>
            </a:r>
          </a:p>
          <a:p>
            <a:pPr>
              <a:lnSpc>
                <a:spcPct val="125000"/>
              </a:lnSpc>
              <a:defRPr sz="950">
                <a:solidFill>
                  <a:srgbClr val="1E293B"/>
                </a:solidFill>
                <a:latin typeface="微軟正黑體"/>
              </a:defRPr>
            </a:pPr>
            <a:r>
              <a:t>月度動態計量模型預估：116年下修至 21.6 萬 ➜ 117年探至 19.0 萬 ➜ 118年收斂於 18.4 萬，回測歷史長期價值支撐帶（13.9～16.9萬）。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成因全景架構：促使老牌大型社區價格持續下修的四大驅動力</a:t>
            </a:r>
          </a:p>
        </p:txBody>
      </p:sp>
      <p:sp>
        <p:nvSpPr>
          <p:cNvPr id="6" name="Rounded Rectangle 5"/>
          <p:cNvSpPr/>
          <p:nvPr/>
        </p:nvSpPr>
        <p:spPr>
          <a:xfrm>
            <a:off x="731520" y="1371600"/>
            <a:ext cx="2542032" cy="5029200"/>
          </a:xfrm>
          <a:prstGeom prst="round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542032" cy="914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554480"/>
            <a:ext cx="2322576" cy="4663440"/>
          </a:xfrm>
          <a:prstGeom prst="rect">
            <a:avLst/>
          </a:prstGeom>
          <a:noFill/>
        </p:spPr>
        <p:txBody>
          <a:bodyPr wrap="square">
            <a:spAutoFit/>
          </a:bodyPr>
          <a:lstStyle/>
          <a:p>
            <a:pPr>
              <a:defRPr sz="1500" b="1">
                <a:solidFill>
                  <a:srgbClr val="1B365D"/>
                </a:solidFill>
                <a:latin typeface="微軟正黑體"/>
              </a:defRPr>
            </a:pPr>
            <a:r>
              <a:t>🏗️ 整體供需面</a:t>
            </a:r>
          </a:p>
          <a:p>
            <a:pPr>
              <a:spcBef>
                <a:spcPts val="200"/>
              </a:spcBef>
              <a:defRPr sz="1000">
                <a:solidFill>
                  <a:srgbClr val="64748B"/>
                </a:solidFill>
                <a:latin typeface="微軟正黑體"/>
              </a:defRPr>
            </a:pPr>
            <a:r>
              <a:t>龐大老屋存量與新成屋交屋潮夾殺</a:t>
            </a:r>
          </a:p>
          <a:p>
            <a:pPr>
              <a:lnSpc>
                <a:spcPct val="130000"/>
              </a:lnSpc>
              <a:spcBef>
                <a:spcPts val="1200"/>
              </a:spcBef>
              <a:defRPr sz="1000">
                <a:solidFill>
                  <a:srgbClr val="1E293B"/>
                </a:solidFill>
                <a:latin typeface="微軟正黑體"/>
              </a:defRPr>
            </a:pPr>
            <a:r>
              <a:t>• 54 棟老案庫存逾 2.1 萬戶，市場轉冷後二手委售件數暴增</a:t>
            </a:r>
            <a:br/>
            <a:r>
              <a:t>• 周邊烏日高鐵、十三期新成屋交屋潮強烈瓜分優質自住客源</a:t>
            </a:r>
            <a:br/>
            <a:r>
              <a:t>• 年輕首購族排斥老陳屋，自住買盤面臨少子化世代斷層</a:t>
            </a:r>
          </a:p>
        </p:txBody>
      </p:sp>
      <p:sp>
        <p:nvSpPr>
          <p:cNvPr id="9" name="Rounded Rectangle 8"/>
          <p:cNvSpPr/>
          <p:nvPr/>
        </p:nvSpPr>
        <p:spPr>
          <a:xfrm>
            <a:off x="3474720" y="1371600"/>
            <a:ext cx="2542032" cy="5029200"/>
          </a:xfrm>
          <a:prstGeom prst="roundRect">
            <a:avLst/>
          </a:prstGeom>
          <a:solidFill>
            <a:srgbClr val="FFFFFF"/>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371600"/>
            <a:ext cx="2542032" cy="91440"/>
          </a:xfrm>
          <a:prstGeom prst="rect">
            <a:avLst/>
          </a:prstGeom>
          <a:solidFill>
            <a:srgbClr val="2C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554480"/>
            <a:ext cx="2322576" cy="4663440"/>
          </a:xfrm>
          <a:prstGeom prst="rect">
            <a:avLst/>
          </a:prstGeom>
          <a:noFill/>
        </p:spPr>
        <p:txBody>
          <a:bodyPr wrap="square">
            <a:spAutoFit/>
          </a:bodyPr>
          <a:lstStyle/>
          <a:p>
            <a:pPr>
              <a:defRPr sz="1500" b="1">
                <a:solidFill>
                  <a:srgbClr val="2C5E8A"/>
                </a:solidFill>
                <a:latin typeface="微軟正黑體"/>
              </a:defRPr>
            </a:pPr>
            <a:r>
              <a:t>🏚️ 結構機能與維護面</a:t>
            </a:r>
          </a:p>
          <a:p>
            <a:pPr>
              <a:spcBef>
                <a:spcPts val="200"/>
              </a:spcBef>
              <a:defRPr sz="1000">
                <a:solidFill>
                  <a:srgbClr val="64748B"/>
                </a:solidFill>
                <a:latin typeface="微軟正黑體"/>
              </a:defRPr>
            </a:pPr>
            <a:r>
              <a:t>結構機能衰退與公共維護負擔</a:t>
            </a:r>
          </a:p>
          <a:p>
            <a:pPr>
              <a:lnSpc>
                <a:spcPct val="130000"/>
              </a:lnSpc>
              <a:spcBef>
                <a:spcPts val="1200"/>
              </a:spcBef>
              <a:defRPr sz="1000">
                <a:solidFill>
                  <a:srgbClr val="1E293B"/>
                </a:solidFill>
                <a:latin typeface="微軟正黑體"/>
              </a:defRPr>
            </a:pPr>
            <a:r>
              <a:t>• 大樓水電管線老化、外牆滲漏與電梯維修頻繁，公共修繕基金不足</a:t>
            </a:r>
            <a:br/>
            <a:r>
              <a:t>• 管委會維護負擔沉重引發鉅額修繕分攤款，反噬老屋殘值</a:t>
            </a:r>
            <a:br/>
            <a:r>
              <a:t>• 現在歷時三十幾年的老社區，在居住 10 至 20 年之後，將成為 50 年屋齡的老舊建築，屆時將無人購買，更沒有實質買盤！</a:t>
            </a:r>
          </a:p>
        </p:txBody>
      </p:sp>
      <p:sp>
        <p:nvSpPr>
          <p:cNvPr id="12" name="Rounded Rectangle 11"/>
          <p:cNvSpPr/>
          <p:nvPr/>
        </p:nvSpPr>
        <p:spPr>
          <a:xfrm>
            <a:off x="6217920" y="1371600"/>
            <a:ext cx="2542032" cy="5029200"/>
          </a:xfrm>
          <a:prstGeom prst="roundRect">
            <a:avLst/>
          </a:prstGeom>
          <a:solidFill>
            <a:srgbClr val="FFFFFF"/>
          </a:solidFill>
          <a:ln w="12700">
            <a:solidFill>
              <a:srgbClr val="D98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2542032" cy="91440"/>
          </a:xfrm>
          <a:prstGeom prst="rect">
            <a:avLst/>
          </a:prstGeom>
          <a:solidFill>
            <a:srgbClr val="D98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554480"/>
            <a:ext cx="2322576" cy="4663440"/>
          </a:xfrm>
          <a:prstGeom prst="rect">
            <a:avLst/>
          </a:prstGeom>
          <a:noFill/>
        </p:spPr>
        <p:txBody>
          <a:bodyPr wrap="square">
            <a:spAutoFit/>
          </a:bodyPr>
          <a:lstStyle/>
          <a:p>
            <a:pPr>
              <a:defRPr sz="1500" b="1">
                <a:solidFill>
                  <a:srgbClr val="D98C14"/>
                </a:solidFill>
                <a:latin typeface="微軟正黑體"/>
              </a:defRPr>
            </a:pPr>
            <a:r>
              <a:t>📉 市場與交易心理</a:t>
            </a:r>
          </a:p>
          <a:p>
            <a:pPr>
              <a:spcBef>
                <a:spcPts val="200"/>
              </a:spcBef>
              <a:defRPr sz="1000">
                <a:solidFill>
                  <a:srgbClr val="64748B"/>
                </a:solidFill>
                <a:latin typeface="微軟正黑體"/>
              </a:defRPr>
            </a:pPr>
            <a:r>
              <a:t>量先價行與預期追價破滅</a:t>
            </a:r>
          </a:p>
          <a:p>
            <a:pPr>
              <a:lnSpc>
                <a:spcPct val="130000"/>
              </a:lnSpc>
              <a:spcBef>
                <a:spcPts val="1200"/>
              </a:spcBef>
              <a:defRPr sz="1000">
                <a:solidFill>
                  <a:srgbClr val="1E293B"/>
                </a:solidFill>
                <a:latin typeface="微軟正黑體"/>
              </a:defRPr>
            </a:pPr>
            <a:r>
              <a:t>• 成交量暴跌 76.4%，流動性枯竭迫使急售賣方防線崩潰</a:t>
            </a:r>
            <a:br/>
            <a:r>
              <a:t>• 買方心理從『恐慌搶買』徹底轉為『理性觀望等更跌』</a:t>
            </a:r>
            <a:br/>
            <a:r>
              <a:t>• 工學天下、文心及第摜破 2 字頭引發全區比價連鎖殺跌</a:t>
            </a:r>
          </a:p>
        </p:txBody>
      </p:sp>
      <p:sp>
        <p:nvSpPr>
          <p:cNvPr id="15" name="Rounded Rectangle 14"/>
          <p:cNvSpPr/>
          <p:nvPr/>
        </p:nvSpPr>
        <p:spPr>
          <a:xfrm>
            <a:off x="8961120" y="1371600"/>
            <a:ext cx="2542032" cy="502920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1371600"/>
            <a:ext cx="2542032"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1554480"/>
            <a:ext cx="2322576" cy="4663440"/>
          </a:xfrm>
          <a:prstGeom prst="rect">
            <a:avLst/>
          </a:prstGeom>
          <a:noFill/>
        </p:spPr>
        <p:txBody>
          <a:bodyPr wrap="square">
            <a:spAutoFit/>
          </a:bodyPr>
          <a:lstStyle/>
          <a:p>
            <a:pPr>
              <a:defRPr sz="1500" b="1">
                <a:solidFill>
                  <a:srgbClr val="C0392B"/>
                </a:solidFill>
                <a:latin typeface="微軟正黑體"/>
              </a:defRPr>
            </a:pPr>
            <a:r>
              <a:t>🏦 金融與信用管制</a:t>
            </a:r>
          </a:p>
          <a:p>
            <a:pPr>
              <a:spcBef>
                <a:spcPts val="200"/>
              </a:spcBef>
              <a:defRPr sz="1000">
                <a:solidFill>
                  <a:srgbClr val="64748B"/>
                </a:solidFill>
                <a:latin typeface="微軟正黑體"/>
              </a:defRPr>
            </a:pPr>
            <a:r>
              <a:t>央行重拳與老屋貸款大門關閉</a:t>
            </a:r>
          </a:p>
          <a:p>
            <a:pPr>
              <a:lnSpc>
                <a:spcPct val="130000"/>
              </a:lnSpc>
              <a:spcBef>
                <a:spcPts val="1200"/>
              </a:spcBef>
              <a:defRPr sz="1000">
                <a:solidFill>
                  <a:srgbClr val="1E293B"/>
                </a:solidFill>
                <a:latin typeface="微軟正黑體"/>
              </a:defRPr>
            </a:pPr>
            <a:r>
              <a:t>• 央行第七波信用管制砍房貸成數，名下有房第二戶限貸 5 成</a:t>
            </a:r>
            <a:br/>
            <a:r>
              <a:t>• 銀行法 72-2 滿水位警戒，房貸利率實質站穩 3% 高檔</a:t>
            </a:r>
            <a:br/>
            <a:r>
              <a:t>• 30/35 年老屋貸款年限被砍至 15~20 年，月付金翻倍壓垮買盤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深度成因剖析 1【整體供需面】：龐大老屋存量賣壓、新成屋交屋潮夾殺與買盤斷層</a:t>
            </a:r>
          </a:p>
        </p:txBody>
      </p:sp>
      <p:sp>
        <p:nvSpPr>
          <p:cNvPr id="6" name="Rounded Rectangle 5"/>
          <p:cNvSpPr/>
          <p:nvPr/>
        </p:nvSpPr>
        <p:spPr>
          <a:xfrm>
            <a:off x="7315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54480"/>
            <a:ext cx="3054096" cy="4572000"/>
          </a:xfrm>
          <a:prstGeom prst="rect">
            <a:avLst/>
          </a:prstGeom>
          <a:noFill/>
        </p:spPr>
        <p:txBody>
          <a:bodyPr wrap="square">
            <a:spAutoFit/>
          </a:bodyPr>
          <a:lstStyle/>
          <a:p>
            <a:pPr>
              <a:defRPr sz="1300" b="1">
                <a:solidFill>
                  <a:srgbClr val="1B365D"/>
                </a:solidFill>
                <a:latin typeface="微軟正黑體"/>
              </a:defRPr>
            </a:pPr>
            <a:r>
              <a:t>1. 逾 2.1 萬戶老屋龐大存量，社區內部削價競爭</a:t>
            </a:r>
          </a:p>
          <a:p>
            <a:pPr>
              <a:lnSpc>
                <a:spcPct val="130000"/>
              </a:lnSpc>
              <a:spcBef>
                <a:spcPts val="1000"/>
              </a:spcBef>
              <a:defRPr sz="1050">
                <a:solidFill>
                  <a:srgbClr val="1E293B"/>
                </a:solidFill>
                <a:latin typeface="微軟正黑體"/>
              </a:defRPr>
            </a:pPr>
            <a:r>
              <a:t>• 供給母體龐大：南區僅這 54 棟 25 年以上老牌大案，總戶數高達 21,396 戶（統計總戶數 17,945 戶）。如賺錢時代(2,077戶)、廣三大時代(1,214戶)、長億城(1,241戶)動輒數百上千戶。</a:t>
            </a:r>
            <a:br/>
            <a:r>
              <a:t>• 委售重疊競爭：房市降溫後，每棟社區平均在售物件由 2~3 戶激增至 8~15 戶。多品牌房仲洗版聯賣，造成同社區屋主彼此搶客削價求現。</a:t>
            </a:r>
            <a:br/>
            <a:r>
              <a:t>• 去化時間劇增：平均委售去化天數由過去的 45 天大幅拉長至 180 天以上，中古供給嚴重過剩。</a:t>
            </a:r>
          </a:p>
        </p:txBody>
      </p:sp>
      <p:sp>
        <p:nvSpPr>
          <p:cNvPr id="8" name="Rounded Rectangle 7"/>
          <p:cNvSpPr/>
          <p:nvPr/>
        </p:nvSpPr>
        <p:spPr>
          <a:xfrm>
            <a:off x="43891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054096" cy="4572000"/>
          </a:xfrm>
          <a:prstGeom prst="rect">
            <a:avLst/>
          </a:prstGeom>
          <a:noFill/>
        </p:spPr>
        <p:txBody>
          <a:bodyPr wrap="square">
            <a:spAutoFit/>
          </a:bodyPr>
          <a:lstStyle/>
          <a:p>
            <a:pPr>
              <a:defRPr sz="1300" b="1">
                <a:solidFill>
                  <a:srgbClr val="1B365D"/>
                </a:solidFill>
                <a:latin typeface="微軟正黑體"/>
              </a:defRPr>
            </a:pPr>
            <a:r>
              <a:t>2. 鄰近新興重劃區交屋潮分流，優質自住買盤被吸走</a:t>
            </a:r>
          </a:p>
          <a:p>
            <a:pPr>
              <a:lnSpc>
                <a:spcPct val="130000"/>
              </a:lnSpc>
              <a:spcBef>
                <a:spcPts val="1000"/>
              </a:spcBef>
              <a:defRPr sz="1050">
                <a:solidFill>
                  <a:srgbClr val="1E293B"/>
                </a:solidFill>
                <a:latin typeface="微軟正黑體"/>
              </a:defRPr>
            </a:pPr>
            <a:r>
              <a:t>• 新重劃區夾殺：南區緊鄰烏日高鐵特區、十三期重劃區等新興熱區，近期迎來龐大預售完工交屋潮。</a:t>
            </a:r>
            <a:br/>
            <a:r>
              <a:t>• 產品代差顯著：新大樓採用最新 921 震後耐震法規、配備坡道平面車位、多功能接待會館與無障礙動線，大幅降低後續維護困擾。</a:t>
            </a:r>
            <a:br/>
            <a:r>
              <a:t>• 預算排擠效應：總價 1,000～1,400 萬區間，買方寧可選擇外圍新成屋 2 房或小 3 房，直接吸走老陳屋的潛在買客。</a:t>
            </a:r>
          </a:p>
        </p:txBody>
      </p:sp>
      <p:sp>
        <p:nvSpPr>
          <p:cNvPr id="10" name="Rounded Rectangle 9"/>
          <p:cNvSpPr/>
          <p:nvPr/>
        </p:nvSpPr>
        <p:spPr>
          <a:xfrm>
            <a:off x="80467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554480"/>
            <a:ext cx="3054096" cy="4572000"/>
          </a:xfrm>
          <a:prstGeom prst="rect">
            <a:avLst/>
          </a:prstGeom>
          <a:noFill/>
        </p:spPr>
        <p:txBody>
          <a:bodyPr wrap="square">
            <a:spAutoFit/>
          </a:bodyPr>
          <a:lstStyle/>
          <a:p>
            <a:pPr>
              <a:defRPr sz="1300" b="1">
                <a:solidFill>
                  <a:srgbClr val="1B365D"/>
                </a:solidFill>
                <a:latin typeface="微軟正黑體"/>
              </a:defRPr>
            </a:pPr>
            <a:r>
              <a:t>3. 買方世代斷層與少子化，願意接盤中古陳屋者稀缺</a:t>
            </a:r>
          </a:p>
          <a:p>
            <a:pPr>
              <a:lnSpc>
                <a:spcPct val="130000"/>
              </a:lnSpc>
              <a:spcBef>
                <a:spcPts val="1000"/>
              </a:spcBef>
              <a:defRPr sz="1050">
                <a:solidFill>
                  <a:srgbClr val="1E293B"/>
                </a:solidFill>
                <a:latin typeface="微軟正黑體"/>
              </a:defRPr>
            </a:pPr>
            <a:r>
              <a:t>• 青年首購偏好新小宅：新一代首購族對 30 年以上老舊管線、斑駁外觀與無車位抗拒感極強，幾乎不考慮中古老陳屋。</a:t>
            </a:r>
            <a:br/>
            <a:r>
              <a:t>• 接盤主力嚴重萎縮：目前願意承接 30 年老陳屋的買方，幾乎僅剩具備實際家庭居住需求的中年自住換屋客。</a:t>
            </a:r>
            <a:br/>
            <a:r>
              <a:t>• 買方結構失衡：買盤基底急遽縮小，形成『賣方急售、買方稀缺』的嚴重供過於求結構性失衡。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深度成因剖析 2【結構機能與維護面】：結構機能衰退與公共維護負擔，老屋邁向50年面臨買盤歸零</a:t>
            </a:r>
          </a:p>
        </p:txBody>
      </p:sp>
      <p:sp>
        <p:nvSpPr>
          <p:cNvPr id="6" name="Rounded Rectangle 5"/>
          <p:cNvSpPr/>
          <p:nvPr/>
        </p:nvSpPr>
        <p:spPr>
          <a:xfrm>
            <a:off x="7315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54480"/>
            <a:ext cx="3054096" cy="4572000"/>
          </a:xfrm>
          <a:prstGeom prst="rect">
            <a:avLst/>
          </a:prstGeom>
          <a:noFill/>
        </p:spPr>
        <p:txBody>
          <a:bodyPr wrap="square">
            <a:spAutoFit/>
          </a:bodyPr>
          <a:lstStyle/>
          <a:p>
            <a:pPr>
              <a:defRPr sz="1300" b="1">
                <a:solidFill>
                  <a:srgbClr val="2C5E8A"/>
                </a:solidFill>
                <a:latin typeface="微軟正黑體"/>
              </a:defRPr>
            </a:pPr>
            <a:r>
              <a:t>1. 大樓結構與機電管線老化，公共維護負擔加劇</a:t>
            </a:r>
          </a:p>
          <a:p>
            <a:pPr>
              <a:lnSpc>
                <a:spcPct val="130000"/>
              </a:lnSpc>
              <a:spcBef>
                <a:spcPts val="1000"/>
              </a:spcBef>
              <a:defRPr sz="1050">
                <a:solidFill>
                  <a:srgbClr val="1E293B"/>
                </a:solidFill>
                <a:latin typeface="微軟正黑體"/>
              </a:defRPr>
            </a:pPr>
            <a:r>
              <a:t>• 水電公用管線老化劣化：25～35 年以上老社區普遍面臨給排水幹管鏽蝕、消防管路老化與外牆滲漏裂損等嚴重課題。</a:t>
            </a:r>
            <a:br/>
            <a:r>
              <a:t>• 機坑與電梯維修頻繁：老牌大社區電梯設備動輒屆齡 30 年，更新主機與纜線每部需百萬以上，日常保養叫修頻率激增。</a:t>
            </a:r>
            <a:br/>
            <a:r>
              <a:t>• 公共維護負擔壓垮管委會：管理費提撥水準偏低導致長期修繕準備金嚴重短缺，已成為中古大樓日常營運的重大隱憂。</a:t>
            </a:r>
          </a:p>
        </p:txBody>
      </p:sp>
      <p:sp>
        <p:nvSpPr>
          <p:cNvPr id="8" name="Rounded Rectangle 7"/>
          <p:cNvSpPr/>
          <p:nvPr/>
        </p:nvSpPr>
        <p:spPr>
          <a:xfrm>
            <a:off x="43891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054096" cy="4572000"/>
          </a:xfrm>
          <a:prstGeom prst="rect">
            <a:avLst/>
          </a:prstGeom>
          <a:noFill/>
        </p:spPr>
        <p:txBody>
          <a:bodyPr wrap="square">
            <a:spAutoFit/>
          </a:bodyPr>
          <a:lstStyle/>
          <a:p>
            <a:pPr>
              <a:defRPr sz="1300" b="1">
                <a:solidFill>
                  <a:srgbClr val="2C5E8A"/>
                </a:solidFill>
                <a:latin typeface="微軟正黑體"/>
              </a:defRPr>
            </a:pPr>
            <a:r>
              <a:t>2. 管委會修繕基金不足，巨額分攤款反噬房屋殘值</a:t>
            </a:r>
          </a:p>
          <a:p>
            <a:pPr>
              <a:lnSpc>
                <a:spcPct val="130000"/>
              </a:lnSpc>
              <a:spcBef>
                <a:spcPts val="1000"/>
              </a:spcBef>
              <a:defRPr sz="1050">
                <a:solidFill>
                  <a:srgbClr val="1E293B"/>
                </a:solidFill>
                <a:latin typeface="微軟正黑體"/>
              </a:defRPr>
            </a:pPr>
            <a:r>
              <a:t>• 專案分攤款引爆住戶衝突：面對外牆拉皮或機電重大修繕，公共基金不足必引發鉅額專案分攤款（每戶數十萬），住戶繳納意願低落陷入惡性循環。</a:t>
            </a:r>
            <a:br/>
            <a:r>
              <a:t>• 現金自備門檻實質暴增：買方購置老陳屋後需自備大筆現金承擔結構機能修復與公設補強，無法納入房貸融資。</a:t>
            </a:r>
            <a:br/>
            <a:r>
              <a:t>• 房價殘值被反向折抵：買方在談判時必然將數十至上百萬的裝潢翻修預算直接從購屋出價中扣抵，老屋本體價值被嚴重反噬！</a:t>
            </a:r>
          </a:p>
        </p:txBody>
      </p:sp>
      <p:sp>
        <p:nvSpPr>
          <p:cNvPr id="10" name="Rounded Rectangle 9"/>
          <p:cNvSpPr/>
          <p:nvPr/>
        </p:nvSpPr>
        <p:spPr>
          <a:xfrm>
            <a:off x="80467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554480"/>
            <a:ext cx="3054096" cy="4572000"/>
          </a:xfrm>
          <a:prstGeom prst="rect">
            <a:avLst/>
          </a:prstGeom>
          <a:noFill/>
        </p:spPr>
        <p:txBody>
          <a:bodyPr wrap="square">
            <a:spAutoFit/>
          </a:bodyPr>
          <a:lstStyle/>
          <a:p>
            <a:pPr>
              <a:defRPr sz="1300" b="1">
                <a:solidFill>
                  <a:srgbClr val="2C5E8A"/>
                </a:solidFill>
                <a:latin typeface="微軟正黑體"/>
              </a:defRPr>
            </a:pPr>
            <a:r>
              <a:t>3. 居住 10～20 年後淪為 50 年老屋，終局流動性徹底歸零</a:t>
            </a:r>
          </a:p>
          <a:p>
            <a:pPr>
              <a:lnSpc>
                <a:spcPct val="130000"/>
              </a:lnSpc>
              <a:spcBef>
                <a:spcPts val="1000"/>
              </a:spcBef>
              <a:defRPr sz="1050">
                <a:solidFill>
                  <a:srgbClr val="1E293B"/>
                </a:solidFill>
                <a:latin typeface="微軟正黑體"/>
              </a:defRPr>
            </a:pPr>
            <a:r>
              <a:t>• 邁入 50 年老舊大樓危機：現在已經歷時三十幾年的老社區，在居住 10 至 20 年之後，將成為 50 年屋齡的老舊建築，屆時將無人購買，更沒有實質買盤。</a:t>
            </a:r>
            <a:br/>
            <a:r>
              <a:t>• 銀行金融機能全線關閉：依據銀行法規與授信內規（屋齡+貸款年限≤50），屆時銀行對 50 年集合住宅幾乎全面拒貸，缺乏房貸槓桿將使流動性徹底冰封。</a:t>
            </a:r>
            <a:br/>
            <a:r>
              <a:t>• 都更重建整合難如登天：大型集合住宅數百至上千戶產權極度分散，都更整合難度無限大，老陳屋恐淪為無法變現之終身套牢資產！</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深度成因剖析 3【市場面與交易心理】：『量先價行』確立、追價破滅與破 2 字頭定錨效應</a:t>
            </a:r>
          </a:p>
        </p:txBody>
      </p:sp>
      <p:sp>
        <p:nvSpPr>
          <p:cNvPr id="6" name="Rounded Rectangle 5"/>
          <p:cNvSpPr/>
          <p:nvPr/>
        </p:nvSpPr>
        <p:spPr>
          <a:xfrm>
            <a:off x="7315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54480"/>
            <a:ext cx="3054096" cy="4572000"/>
          </a:xfrm>
          <a:prstGeom prst="rect">
            <a:avLst/>
          </a:prstGeom>
          <a:noFill/>
        </p:spPr>
        <p:txBody>
          <a:bodyPr wrap="square">
            <a:spAutoFit/>
          </a:bodyPr>
          <a:lstStyle/>
          <a:p>
            <a:pPr>
              <a:defRPr sz="1300" b="1">
                <a:solidFill>
                  <a:srgbClr val="D98C14"/>
                </a:solidFill>
                <a:latin typeface="微軟正黑體"/>
              </a:defRPr>
            </a:pPr>
            <a:r>
              <a:t>1. 『量先價行』鐵律顯現，成交量崩跌 76.4% 逼退賣方</a:t>
            </a:r>
          </a:p>
          <a:p>
            <a:pPr>
              <a:lnSpc>
                <a:spcPct val="130000"/>
              </a:lnSpc>
              <a:spcBef>
                <a:spcPts val="1000"/>
              </a:spcBef>
              <a:defRPr sz="1050">
                <a:solidFill>
                  <a:srgbClr val="1E293B"/>
                </a:solidFill>
                <a:latin typeface="微軟正黑體"/>
              </a:defRPr>
            </a:pPr>
            <a:r>
              <a:t>• 流動性冰封：南區老牌大社區 115 年純住宅成交量暴跌 76.4%，全年僅剩 174 筆成交。歷史經驗顯示，量縮持續 6 個月以上價格必跌！</a:t>
            </a:r>
            <a:br/>
            <a:r>
              <a:t>• 零成交心理恐慌：許多社區連續 3~5 個月零成交，委託期限到期未售，使賣方原本堅持高價的心態開始動搖。</a:t>
            </a:r>
            <a:br/>
            <a:r>
              <a:t>• 急售屋主率先破防：部分面臨資金調度、換屋或資產重配之屋主，開始帶頭主動大降價，拉開全面降價序幕。</a:t>
            </a:r>
          </a:p>
        </p:txBody>
      </p:sp>
      <p:sp>
        <p:nvSpPr>
          <p:cNvPr id="8" name="Rounded Rectangle 7"/>
          <p:cNvSpPr/>
          <p:nvPr/>
        </p:nvSpPr>
        <p:spPr>
          <a:xfrm>
            <a:off x="43891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054096" cy="4572000"/>
          </a:xfrm>
          <a:prstGeom prst="rect">
            <a:avLst/>
          </a:prstGeom>
          <a:noFill/>
        </p:spPr>
        <p:txBody>
          <a:bodyPr wrap="square">
            <a:spAutoFit/>
          </a:bodyPr>
          <a:lstStyle/>
          <a:p>
            <a:pPr>
              <a:defRPr sz="1300" b="1">
                <a:solidFill>
                  <a:srgbClr val="D98C14"/>
                </a:solidFill>
                <a:latin typeface="微軟正黑體"/>
              </a:defRPr>
            </a:pPr>
            <a:r>
              <a:t>2. 買方心理逆轉：從『恐慌搶買』轉為『理性觀望等更跌』</a:t>
            </a:r>
          </a:p>
          <a:p>
            <a:pPr>
              <a:lnSpc>
                <a:spcPct val="130000"/>
              </a:lnSpc>
              <a:spcBef>
                <a:spcPts val="1000"/>
              </a:spcBef>
              <a:defRPr sz="1050">
                <a:solidFill>
                  <a:srgbClr val="1E293B"/>
                </a:solidFill>
                <a:latin typeface="微軟正黑體"/>
              </a:defRPr>
            </a:pPr>
            <a:r>
              <a:t>• 追價動能徹底熄火：前兩年『現在不買以後更貴』的狂熱心理徹底破滅，市場預期轉向『晚買享折扣』。</a:t>
            </a:r>
            <a:br/>
            <a:r>
              <a:t>• 議價空間大幅拉大：買方看屋態度從過去的加價競奪，轉為開口先砍 15%~25%，堅決不追高。</a:t>
            </a:r>
            <a:br/>
            <a:r>
              <a:t>• 斡旋成交門檻提高：買方出價衡量自身財務極限，若賣方讓利幅度不足，買方轉頭即走、絕不戀棧。</a:t>
            </a:r>
          </a:p>
        </p:txBody>
      </p:sp>
      <p:sp>
        <p:nvSpPr>
          <p:cNvPr id="10" name="Rounded Rectangle 9"/>
          <p:cNvSpPr/>
          <p:nvPr/>
        </p:nvSpPr>
        <p:spPr>
          <a:xfrm>
            <a:off x="80467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554480"/>
            <a:ext cx="3054096" cy="4572000"/>
          </a:xfrm>
          <a:prstGeom prst="rect">
            <a:avLst/>
          </a:prstGeom>
          <a:noFill/>
        </p:spPr>
        <p:txBody>
          <a:bodyPr wrap="square">
            <a:spAutoFit/>
          </a:bodyPr>
          <a:lstStyle/>
          <a:p>
            <a:pPr>
              <a:defRPr sz="1300" b="1">
                <a:solidFill>
                  <a:srgbClr val="D98C14"/>
                </a:solidFill>
                <a:latin typeface="微軟正黑體"/>
              </a:defRPr>
            </a:pPr>
            <a:r>
              <a:t>3. 指標社區摜破 2 字頭，形成無可逆轉之比價定錨</a:t>
            </a:r>
          </a:p>
          <a:p>
            <a:pPr>
              <a:lnSpc>
                <a:spcPct val="130000"/>
              </a:lnSpc>
              <a:spcBef>
                <a:spcPts val="1000"/>
              </a:spcBef>
              <a:defRPr sz="1050">
                <a:solidFill>
                  <a:srgbClr val="1E293B"/>
                </a:solidFill>
                <a:latin typeface="微軟正黑體"/>
              </a:defRPr>
            </a:pPr>
            <a:r>
              <a:t>• 骨牌式破底成交：工學天下最新殺到 19.6 萬、文心及第跌至 18.9 萬、綠灣大樓更見 16.8 萬低點！</a:t>
            </a:r>
            <a:br/>
            <a:r>
              <a:t>• 2 字頭心理關卡失守：原本屋主死守的 23~26 萬防線被市場實登狠狠撕裂，市場定錨價格直接被壓制在 18~20 萬。</a:t>
            </a:r>
            <a:br/>
            <a:r>
              <a:t>• 鄰近社區比價殺跌：買方直接拿工學天下與文心及第的 1 字頭成交作為殺價範本，高開價社區完全喪失議價主導權。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深度成因剖析 4【金融面與信用管制】：央行重拳打擊、銀行滿水位與老屋貸款大限</a:t>
            </a:r>
          </a:p>
        </p:txBody>
      </p:sp>
      <p:sp>
        <p:nvSpPr>
          <p:cNvPr id="6" name="Rounded Rectangle 5"/>
          <p:cNvSpPr/>
          <p:nvPr/>
        </p:nvSpPr>
        <p:spPr>
          <a:xfrm>
            <a:off x="7315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54480"/>
            <a:ext cx="3054096" cy="4572000"/>
          </a:xfrm>
          <a:prstGeom prst="rect">
            <a:avLst/>
          </a:prstGeom>
          <a:noFill/>
        </p:spPr>
        <p:txBody>
          <a:bodyPr wrap="square">
            <a:spAutoFit/>
          </a:bodyPr>
          <a:lstStyle/>
          <a:p>
            <a:pPr>
              <a:defRPr sz="1300" b="1">
                <a:solidFill>
                  <a:srgbClr val="C0392B"/>
                </a:solidFill>
                <a:latin typeface="微軟正黑體"/>
              </a:defRPr>
            </a:pPr>
            <a:r>
              <a:t>1. 央行第七波信用管制重拳，多屋與換屋資金鏈徹底斷裂</a:t>
            </a:r>
          </a:p>
          <a:p>
            <a:pPr>
              <a:lnSpc>
                <a:spcPct val="130000"/>
              </a:lnSpc>
              <a:spcBef>
                <a:spcPts val="1000"/>
              </a:spcBef>
              <a:defRPr sz="1050">
                <a:solidFill>
                  <a:srgbClr val="1E293B"/>
                </a:solidFill>
                <a:latin typeface="微軟正黑體"/>
              </a:defRPr>
            </a:pPr>
            <a:r>
              <a:t>• 嚴打名下有房族群：名下有房者購置第一戶房貸取消寬限期；自然人第二戶限貸成數砍至 5 成且無寬限期。</a:t>
            </a:r>
            <a:br/>
            <a:r>
              <a:t>• 換屋買盤動能被掐死：原本想『先買後賣』的換屋族群因自備款成數暴增 3~4 成而被迫縮手觀望。</a:t>
            </a:r>
            <a:br/>
            <a:r>
              <a:t>• 投資置產客全面退場：短期置產槓桿資金被徹底清出場外，市場買盤僅剩預算極為有限的純自住剛需。</a:t>
            </a:r>
          </a:p>
        </p:txBody>
      </p:sp>
      <p:sp>
        <p:nvSpPr>
          <p:cNvPr id="8" name="Rounded Rectangle 7"/>
          <p:cNvSpPr/>
          <p:nvPr/>
        </p:nvSpPr>
        <p:spPr>
          <a:xfrm>
            <a:off x="43891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054096" cy="4572000"/>
          </a:xfrm>
          <a:prstGeom prst="rect">
            <a:avLst/>
          </a:prstGeom>
          <a:noFill/>
        </p:spPr>
        <p:txBody>
          <a:bodyPr wrap="square">
            <a:spAutoFit/>
          </a:bodyPr>
          <a:lstStyle/>
          <a:p>
            <a:pPr>
              <a:defRPr sz="1300" b="1">
                <a:solidFill>
                  <a:srgbClr val="C0392B"/>
                </a:solidFill>
                <a:latin typeface="微軟正黑體"/>
              </a:defRPr>
            </a:pPr>
            <a:r>
              <a:t>2. 銀行法 72-2 滿水位限制，實質房貸利率站穩 3% 高檔</a:t>
            </a:r>
          </a:p>
          <a:p>
            <a:pPr>
              <a:lnSpc>
                <a:spcPct val="130000"/>
              </a:lnSpc>
              <a:spcBef>
                <a:spcPts val="1000"/>
              </a:spcBef>
              <a:defRPr sz="1050">
                <a:solidFill>
                  <a:srgbClr val="1E293B"/>
                </a:solidFill>
                <a:latin typeface="微軟正黑體"/>
              </a:defRPr>
            </a:pPr>
            <a:r>
              <a:t>• 行庫排隊審核成常態：各大公民營銀行不動產放款逼近 30% 法定上限，普遍實施『限貸令』與以價制量策略。</a:t>
            </a:r>
            <a:br/>
            <a:r>
              <a:t>• 借款利率顯著攀升：首購實質利率自 1.8% 攀升至 2.5%~2.8%，非首購更直接站穩 3.0%~3.5% 之高檔。</a:t>
            </a:r>
            <a:br/>
            <a:r>
              <a:t>• 負擔能力大幅縮水：利息支出增加直接吃掉買方的月還款預算，相當於房屋可負擔總價被直接削去 10%~15%！</a:t>
            </a:r>
          </a:p>
        </p:txBody>
      </p:sp>
      <p:sp>
        <p:nvSpPr>
          <p:cNvPr id="10" name="Rounded Rectangle 9"/>
          <p:cNvSpPr/>
          <p:nvPr/>
        </p:nvSpPr>
        <p:spPr>
          <a:xfrm>
            <a:off x="80467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554480"/>
            <a:ext cx="3054096" cy="4572000"/>
          </a:xfrm>
          <a:prstGeom prst="rect">
            <a:avLst/>
          </a:prstGeom>
          <a:noFill/>
        </p:spPr>
        <p:txBody>
          <a:bodyPr wrap="square">
            <a:spAutoFit/>
          </a:bodyPr>
          <a:lstStyle/>
          <a:p>
            <a:pPr>
              <a:defRPr sz="1300" b="1">
                <a:solidFill>
                  <a:srgbClr val="C0392B"/>
                </a:solidFill>
                <a:latin typeface="微軟正黑體"/>
              </a:defRPr>
            </a:pPr>
            <a:r>
              <a:t>3. 30年/35年老屋金融大限：年限腰斬至 15～20 年</a:t>
            </a:r>
          </a:p>
          <a:p>
            <a:pPr>
              <a:lnSpc>
                <a:spcPct val="130000"/>
              </a:lnSpc>
              <a:spcBef>
                <a:spcPts val="1000"/>
              </a:spcBef>
              <a:defRPr sz="1050">
                <a:solidFill>
                  <a:srgbClr val="1E293B"/>
                </a:solidFill>
                <a:latin typeface="微軟正黑體"/>
              </a:defRPr>
            </a:pPr>
            <a:r>
              <a:t>• 屋齡加年限嚴格受限：銀行內部審核遵守『屋齡＋貸款年限 ≤ 50 或 55』之內規，30 年以上老屋無法貸滿 30/40 年。</a:t>
            </a:r>
            <a:br/>
            <a:r>
              <a:t>• 月供負擔直接翻倍：貸款 700 萬若從 30 年縮短至 20 年，每月還款自 2.6 萬暴增至 3.7 萬元！</a:t>
            </a:r>
            <a:br/>
            <a:r>
              <a:t>• 封殺首購接盤意願：年輕自住客每月現金流無法負擔老屋的短年限高月繳，迫使老陳屋只能等待全現金或高自備款買方。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價格預測模型解析：計量經濟學動態預估原理、流動性衝擊與價值引力機制</a:t>
            </a:r>
          </a:p>
        </p:txBody>
      </p:sp>
      <p:sp>
        <p:nvSpPr>
          <p:cNvPr id="6" name="Rounded Rectangle 5"/>
          <p:cNvSpPr/>
          <p:nvPr/>
        </p:nvSpPr>
        <p:spPr>
          <a:xfrm>
            <a:off x="731520" y="1371600"/>
            <a:ext cx="3383280" cy="5029200"/>
          </a:xfrm>
          <a:prstGeom prst="round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914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54480"/>
            <a:ext cx="3054096" cy="4663440"/>
          </a:xfrm>
          <a:prstGeom prst="rect">
            <a:avLst/>
          </a:prstGeom>
          <a:noFill/>
        </p:spPr>
        <p:txBody>
          <a:bodyPr wrap="square">
            <a:spAutoFit/>
          </a:bodyPr>
          <a:lstStyle/>
          <a:p>
            <a:pPr>
              <a:defRPr sz="1350" b="1">
                <a:solidFill>
                  <a:srgbClr val="1B365D"/>
                </a:solidFill>
                <a:latin typeface="微軟正黑體"/>
              </a:defRPr>
            </a:pPr>
            <a:r>
              <a:t>📐 核心架構與月度推估機制</a:t>
            </a:r>
          </a:p>
          <a:p>
            <a:pPr>
              <a:spcBef>
                <a:spcPts val="200"/>
              </a:spcBef>
              <a:defRPr sz="950">
                <a:solidFill>
                  <a:srgbClr val="64748B"/>
                </a:solidFill>
                <a:latin typeface="微軟正黑體"/>
              </a:defRPr>
            </a:pPr>
            <a:r>
              <a:t>捨棄粗略年均，以月份為基礎進行高頻動態時間序列建模</a:t>
            </a:r>
          </a:p>
          <a:p>
            <a:pPr>
              <a:spcBef>
                <a:spcPts val="800"/>
              </a:spcBef>
              <a:defRPr sz="1000" b="1">
                <a:solidFill>
                  <a:srgbClr val="1B365D"/>
                </a:solidFill>
                <a:latin typeface="微軟正黑體"/>
              </a:defRPr>
            </a:pPr>
            <a:r>
              <a:t>• 月度時間序列高頻分析：</a:t>
            </a:r>
          </a:p>
          <a:p>
            <a:pPr>
              <a:lnSpc>
                <a:spcPct val="120000"/>
              </a:lnSpc>
              <a:defRPr sz="900">
                <a:solidFill>
                  <a:srgbClr val="1E293B"/>
                </a:solidFill>
                <a:latin typeface="微軟正黑體"/>
              </a:defRPr>
            </a:pPr>
            <a:r>
              <a:t>以月為單位追蹤價格與成交量變化，精準捕捉 113 下半年央行第七波信用管制後流動性斷崖式崩跌之月度轉折點。</a:t>
            </a:r>
          </a:p>
          <a:p>
            <a:pPr>
              <a:spcBef>
                <a:spcPts val="800"/>
              </a:spcBef>
              <a:defRPr sz="1000" b="1">
                <a:solidFill>
                  <a:srgbClr val="1B365D"/>
                </a:solidFill>
                <a:latin typeface="微軟正黑體"/>
              </a:defRPr>
            </a:pPr>
            <a:r>
              <a:t>• 量價衰減衝擊動能方程：</a:t>
            </a:r>
          </a:p>
          <a:p>
            <a:pPr>
              <a:lnSpc>
                <a:spcPct val="120000"/>
              </a:lnSpc>
              <a:defRPr sz="900">
                <a:solidFill>
                  <a:srgbClr val="1E293B"/>
                </a:solidFill>
                <a:latin typeface="微軟正黑體"/>
              </a:defRPr>
            </a:pPr>
            <a:r>
              <a:t>g_shock(m) = -(λ0 + λv|ΔVm| + λp·PeakDrop)。以大盤月均量縮 76.4% 為基礎，成交量急凍與歷史高點回檔比例直接轉化為月度下修動能。</a:t>
            </a:r>
          </a:p>
          <a:p>
            <a:pPr>
              <a:spcBef>
                <a:spcPts val="800"/>
              </a:spcBef>
              <a:defRPr sz="1000" b="1">
                <a:solidFill>
                  <a:srgbClr val="1B365D"/>
                </a:solidFill>
                <a:latin typeface="微軟正黑體"/>
              </a:defRPr>
            </a:pPr>
            <a:r>
              <a:t>• 經驗貝式大盤先驗平滑：</a:t>
            </a:r>
          </a:p>
          <a:p>
            <a:pPr>
              <a:lnSpc>
                <a:spcPct val="120000"/>
              </a:lnSpc>
              <a:defRPr sz="900">
                <a:solidFill>
                  <a:srgbClr val="1E293B"/>
                </a:solidFill>
                <a:latin typeface="微軟正黑體"/>
              </a:defRPr>
            </a:pPr>
            <a:r>
              <a:t>wi = N_recent / (N_recent + 4.0)。對近期月成交稀疏之社區，導入南區 54 社區大盤先驗趨勢進行貝式收縮，避免極端異常交易扭曲預測。</a:t>
            </a:r>
          </a:p>
        </p:txBody>
      </p:sp>
      <p:sp>
        <p:nvSpPr>
          <p:cNvPr id="9" name="Rounded Rectangle 8"/>
          <p:cNvSpPr/>
          <p:nvPr/>
        </p:nvSpPr>
        <p:spPr>
          <a:xfrm>
            <a:off x="4389120" y="1371600"/>
            <a:ext cx="3383280" cy="5029200"/>
          </a:xfrm>
          <a:prstGeom prst="roundRect">
            <a:avLst/>
          </a:prstGeom>
          <a:solidFill>
            <a:srgbClr val="FFFFFF"/>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383280" cy="91440"/>
          </a:xfrm>
          <a:prstGeom prst="rect">
            <a:avLst/>
          </a:prstGeom>
          <a:solidFill>
            <a:srgbClr val="2C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554480"/>
            <a:ext cx="3054096" cy="4663440"/>
          </a:xfrm>
          <a:prstGeom prst="rect">
            <a:avLst/>
          </a:prstGeom>
          <a:noFill/>
        </p:spPr>
        <p:txBody>
          <a:bodyPr wrap="square">
            <a:spAutoFit/>
          </a:bodyPr>
          <a:lstStyle/>
          <a:p>
            <a:pPr>
              <a:defRPr sz="1350" b="1">
                <a:solidFill>
                  <a:srgbClr val="2C5E8A"/>
                </a:solidFill>
                <a:latin typeface="微軟正黑體"/>
              </a:defRPr>
            </a:pPr>
            <a:r>
              <a:t>⚙️ 結構折價懲罰與價值重力</a:t>
            </a:r>
          </a:p>
          <a:p>
            <a:pPr>
              <a:spcBef>
                <a:spcPts val="200"/>
              </a:spcBef>
              <a:defRPr sz="950">
                <a:solidFill>
                  <a:srgbClr val="64748B"/>
                </a:solidFill>
                <a:latin typeface="微軟正黑體"/>
              </a:defRPr>
            </a:pPr>
            <a:r>
              <a:t>結合老屋金融限制、社區規模拋售壓力與長期價值支撐帶</a:t>
            </a:r>
          </a:p>
          <a:p>
            <a:pPr>
              <a:spcBef>
                <a:spcPts val="800"/>
              </a:spcBef>
              <a:defRPr sz="1000" b="1">
                <a:solidFill>
                  <a:srgbClr val="2C5E8A"/>
                </a:solidFill>
                <a:latin typeface="微軟正黑體"/>
              </a:defRPr>
            </a:pPr>
            <a:r>
              <a:t>• 屋齡與規模雙重折價懲罰：</a:t>
            </a:r>
          </a:p>
          <a:p>
            <a:pPr>
              <a:lnSpc>
                <a:spcPct val="120000"/>
              </a:lnSpc>
              <a:defRPr sz="900">
                <a:solidFill>
                  <a:srgbClr val="1E293B"/>
                </a:solidFill>
                <a:latin typeface="微軟正黑體"/>
              </a:defRPr>
            </a:pPr>
            <a:r>
              <a:t>f_age = 1 + min(0.18, (Age-25)*0.015)；f_scale = 1 + min(0.12, (戶數-150)/4000)。30年以上老屋房貸年限遭銀行腰斬至15~20年；大社區內部多戶踩踏搶跑。</a:t>
            </a:r>
          </a:p>
          <a:p>
            <a:pPr>
              <a:spcBef>
                <a:spcPts val="800"/>
              </a:spcBef>
              <a:defRPr sz="1000" b="1">
                <a:solidFill>
                  <a:srgbClr val="2C5E8A"/>
                </a:solidFill>
                <a:latin typeface="微軟正黑體"/>
              </a:defRPr>
            </a:pPr>
            <a:r>
              <a:t>• 106～109 年長期價值重力錨：</a:t>
            </a:r>
          </a:p>
          <a:p>
            <a:pPr>
              <a:lnSpc>
                <a:spcPct val="120000"/>
              </a:lnSpc>
              <a:defRPr sz="900">
                <a:solidFill>
                  <a:srgbClr val="1E293B"/>
                </a:solidFill>
                <a:latin typeface="微軟正黑體"/>
              </a:defRPr>
            </a:pPr>
            <a:r>
              <a:t>以 106～109 年長期實登純住宅四分位距（IQR [13.9～16.9萬/坪]）作為長期價值重力錨。價格愈偏離支撐帶，向下回歸引力愈強。</a:t>
            </a:r>
          </a:p>
          <a:p>
            <a:pPr>
              <a:spcBef>
                <a:spcPts val="800"/>
              </a:spcBef>
              <a:defRPr sz="1000" b="1">
                <a:solidFill>
                  <a:srgbClr val="2C5E8A"/>
                </a:solidFill>
                <a:latin typeface="微軟正黑體"/>
              </a:defRPr>
            </a:pPr>
            <a:r>
              <a:t>• Holt 阻尼平滑與漸近下限：</a:t>
            </a:r>
          </a:p>
          <a:p>
            <a:pPr>
              <a:lnSpc>
                <a:spcPct val="120000"/>
              </a:lnSpc>
              <a:defRPr sz="900">
                <a:solidFill>
                  <a:srgbClr val="1E293B"/>
                </a:solidFill>
                <a:latin typeface="微軟正黑體"/>
              </a:defRPr>
            </a:pPr>
            <a:r>
              <a:t>導入阻尼係數 φ = 0.68，隨價格靠攏歷史合理支撐區間，下修斜率自然平緩收斂，達成理性軟著陸；設定漸進安全下限 P ≥ ceil(S_low * 0.95)。</a:t>
            </a:r>
          </a:p>
        </p:txBody>
      </p:sp>
      <p:sp>
        <p:nvSpPr>
          <p:cNvPr id="12" name="Rounded Rectangle 11"/>
          <p:cNvSpPr/>
          <p:nvPr/>
        </p:nvSpPr>
        <p:spPr>
          <a:xfrm>
            <a:off x="8046720" y="1371600"/>
            <a:ext cx="3383280" cy="502920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371600"/>
            <a:ext cx="338328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554480"/>
            <a:ext cx="3054096" cy="4663440"/>
          </a:xfrm>
          <a:prstGeom prst="rect">
            <a:avLst/>
          </a:prstGeom>
          <a:noFill/>
        </p:spPr>
        <p:txBody>
          <a:bodyPr wrap="square">
            <a:spAutoFit/>
          </a:bodyPr>
          <a:lstStyle/>
          <a:p>
            <a:pPr>
              <a:defRPr sz="1350" b="1">
                <a:solidFill>
                  <a:srgbClr val="C0392B"/>
                </a:solidFill>
                <a:latin typeface="微軟正黑體"/>
              </a:defRPr>
            </a:pPr>
            <a:r>
              <a:t>📊 信賴錐形區間與大盤演進</a:t>
            </a:r>
          </a:p>
          <a:p>
            <a:pPr>
              <a:spcBef>
                <a:spcPts val="200"/>
              </a:spcBef>
              <a:defRPr sz="950">
                <a:solidFill>
                  <a:srgbClr val="64748B"/>
                </a:solidFill>
                <a:latin typeface="微軟正黑體"/>
              </a:defRPr>
            </a:pPr>
            <a:r>
              <a:t>動態擴張信賴區間，精確呈現三年預估路徑與風險邊界</a:t>
            </a:r>
          </a:p>
          <a:p>
            <a:pPr>
              <a:spcBef>
                <a:spcPts val="800"/>
              </a:spcBef>
              <a:defRPr sz="1000" b="1">
                <a:solidFill>
                  <a:srgbClr val="C0392B"/>
                </a:solidFill>
                <a:latin typeface="微軟正黑體"/>
              </a:defRPr>
            </a:pPr>
            <a:r>
              <a:t>• 動態擴展信賴錐形 (SE_h)：</a:t>
            </a:r>
          </a:p>
          <a:p>
            <a:pPr>
              <a:lnSpc>
                <a:spcPct val="120000"/>
              </a:lnSpc>
              <a:defRPr sz="900">
                <a:solidFill>
                  <a:srgbClr val="1E293B"/>
                </a:solidFill>
                <a:latin typeface="微軟正黑體"/>
              </a:defRPr>
            </a:pPr>
            <a:r>
              <a:t>SE_h = σ_eps * sqrt(1 + θ(h-1))。隨時間步長 h 動態展開（w118 &gt; w117 &gt; w116），嚴謹包絡宏觀景氣、利率波動與市場交易之不確定性。</a:t>
            </a:r>
          </a:p>
          <a:p>
            <a:pPr>
              <a:spcBef>
                <a:spcPts val="800"/>
              </a:spcBef>
              <a:defRPr sz="1000" b="1">
                <a:solidFill>
                  <a:srgbClr val="C0392B"/>
                </a:solidFill>
                <a:latin typeface="微軟正黑體"/>
              </a:defRPr>
            </a:pPr>
            <a:r>
              <a:t>• 大盤後續三年預估軌跡：</a:t>
            </a:r>
          </a:p>
          <a:p>
            <a:pPr>
              <a:lnSpc>
                <a:spcPct val="120000"/>
              </a:lnSpc>
              <a:defRPr sz="900">
                <a:solidFill>
                  <a:srgbClr val="1E293B"/>
                </a:solidFill>
                <a:latin typeface="微軟正黑體"/>
              </a:defRPr>
            </a:pPr>
            <a:r>
              <a:t>115 現況：中位數 24.6 萬（量縮 76.4% 轉折確立）</a:t>
            </a:r>
            <a:br/>
            <a:r>
              <a:t>116 預估：21.6 萬 (-11.7%) ｜ 區間 [18.3～24.9萬]</a:t>
            </a:r>
            <a:br/>
            <a:r>
              <a:t>117 預估：19.0 萬 (-12.2%) ｜ 區間 [14.9～23.1萬]</a:t>
            </a:r>
            <a:br/>
            <a:r>
              <a:t>118 預估：18.4 萬 (-3.3%) ｜ 累計跌幅 -24.9%</a:t>
            </a:r>
          </a:p>
          <a:p>
            <a:pPr>
              <a:spcBef>
                <a:spcPts val="800"/>
              </a:spcBef>
              <a:defRPr sz="1000" b="1">
                <a:solidFill>
                  <a:srgbClr val="C0392B"/>
                </a:solidFill>
                <a:latin typeface="微軟正黑體"/>
              </a:defRPr>
            </a:pPr>
            <a:r>
              <a:t>• 實登破底定錨高度驗證：</a:t>
            </a:r>
          </a:p>
          <a:p>
            <a:pPr>
              <a:lnSpc>
                <a:spcPct val="120000"/>
              </a:lnSpc>
              <a:defRPr sz="900">
                <a:solidFill>
                  <a:srgbClr val="1E293B"/>
                </a:solidFill>
                <a:latin typeface="微軟正黑體"/>
              </a:defRPr>
            </a:pPr>
            <a:r>
              <a:t>工學天下(19.6萬)、文心及第(18.9萬)、綠灣大樓(16.8萬)等指標案最新實登已率先摜破 2 字頭，完美印證本模型預測路徑之精確度與前瞻性！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指標對照總表：南區 10 大指標老牌社區實登行情與後續三年動態計量預估總覽</a:t>
            </a:r>
          </a:p>
        </p:txBody>
      </p:sp>
      <p:graphicFrame>
        <p:nvGraphicFramePr>
          <p:cNvPr id="6" name="Table 5"/>
          <p:cNvGraphicFramePr>
            <a:graphicFrameLocks noGrp="1"/>
          </p:cNvGraphicFramePr>
          <p:nvPr/>
        </p:nvGraphicFramePr>
        <p:xfrm>
          <a:off x="731520" y="1371600"/>
          <a:ext cx="10682935" cy="4206240"/>
        </p:xfrm>
        <a:graphic>
          <a:graphicData uri="http://schemas.openxmlformats.org/drawingml/2006/table">
            <a:tbl>
              <a:tblPr firstRow="1" bandRow="1">
                <a:tableStyleId>{5C22544A-7EE6-4342-B048-85BDC9FD1C3A}</a:tableStyleId>
              </a:tblPr>
              <a:tblGrid>
                <a:gridCol w="1188720"/>
                <a:gridCol w="822960"/>
                <a:gridCol w="1051560"/>
                <a:gridCol w="960120"/>
                <a:gridCol w="1097280"/>
                <a:gridCol w="868680"/>
                <a:gridCol w="1051560"/>
                <a:gridCol w="868680"/>
                <a:gridCol w="868680"/>
                <a:gridCol w="868680"/>
                <a:gridCol w="1036015"/>
              </a:tblGrid>
              <a:tr h="382385">
                <a:tc>
                  <a:txBody>
                    <a:bodyPr/>
                    <a:lstStyle/>
                    <a:p>
                      <a:pPr algn="ctr">
                        <a:defRPr sz="800" b="1">
                          <a:solidFill>
                            <a:srgbClr val="FFFFFF"/>
                          </a:solidFill>
                          <a:latin typeface="微軟正黑體"/>
                        </a:defRPr>
                      </a:pPr>
                      <a:r>
                        <a:t>指標社區建案</a:t>
                      </a:r>
                    </a:p>
                  </a:txBody>
                  <a:tcPr>
                    <a:solidFill>
                      <a:srgbClr val="1B365D"/>
                    </a:solidFill>
                  </a:tcPr>
                </a:tc>
                <a:tc>
                  <a:txBody>
                    <a:bodyPr/>
                    <a:lstStyle/>
                    <a:p>
                      <a:pPr algn="ctr">
                        <a:defRPr sz="800" b="1">
                          <a:solidFill>
                            <a:srgbClr val="FFFFFF"/>
                          </a:solidFill>
                          <a:latin typeface="微軟正黑體"/>
                        </a:defRPr>
                      </a:pPr>
                      <a:r>
                        <a:t>總戶數/屋齡</a:t>
                      </a:r>
                    </a:p>
                  </a:txBody>
                  <a:tcPr>
                    <a:solidFill>
                      <a:srgbClr val="1B365D"/>
                    </a:solidFill>
                  </a:tcPr>
                </a:tc>
                <a:tc>
                  <a:txBody>
                    <a:bodyPr/>
                    <a:lstStyle/>
                    <a:p>
                      <a:pPr algn="ctr">
                        <a:defRPr sz="800" b="1">
                          <a:solidFill>
                            <a:srgbClr val="FFFFFF"/>
                          </a:solidFill>
                          <a:latin typeface="微軟正黑體"/>
                        </a:defRPr>
                      </a:pPr>
                      <a:r>
                        <a:t>歷史最高單價</a:t>
                      </a:r>
                    </a:p>
                  </a:txBody>
                  <a:tcPr>
                    <a:solidFill>
                      <a:srgbClr val="1B365D"/>
                    </a:solidFill>
                  </a:tcPr>
                </a:tc>
                <a:tc>
                  <a:txBody>
                    <a:bodyPr/>
                    <a:lstStyle/>
                    <a:p>
                      <a:pPr algn="ctr">
                        <a:defRPr sz="800" b="1">
                          <a:solidFill>
                            <a:srgbClr val="FFFFFF"/>
                          </a:solidFill>
                          <a:latin typeface="微軟正黑體"/>
                        </a:defRPr>
                      </a:pPr>
                      <a:r>
                        <a:t>115最新成交</a:t>
                      </a:r>
                    </a:p>
                  </a:txBody>
                  <a:tcPr>
                    <a:solidFill>
                      <a:srgbClr val="1B365D"/>
                    </a:solidFill>
                  </a:tcPr>
                </a:tc>
                <a:tc>
                  <a:txBody>
                    <a:bodyPr/>
                    <a:lstStyle/>
                    <a:p>
                      <a:pPr algn="ctr">
                        <a:defRPr sz="800" b="1">
                          <a:solidFill>
                            <a:srgbClr val="FFFFFF"/>
                          </a:solidFill>
                          <a:latin typeface="微軟正黑體"/>
                        </a:defRPr>
                      </a:pPr>
                      <a:r>
                        <a:t>歷史最高點到115最新成交跌幅(%)</a:t>
                      </a:r>
                    </a:p>
                  </a:txBody>
                  <a:tcPr>
                    <a:solidFill>
                      <a:srgbClr val="1B365D"/>
                    </a:solidFill>
                  </a:tcPr>
                </a:tc>
                <a:tc>
                  <a:txBody>
                    <a:bodyPr/>
                    <a:lstStyle/>
                    <a:p>
                      <a:pPr algn="ctr">
                        <a:defRPr sz="800" b="1">
                          <a:solidFill>
                            <a:srgbClr val="FFFFFF"/>
                          </a:solidFill>
                          <a:latin typeface="微軟正黑體"/>
                        </a:defRPr>
                      </a:pPr>
                      <a:r>
                        <a:t>115年均價</a:t>
                      </a:r>
                    </a:p>
                  </a:txBody>
                  <a:tcPr>
                    <a:solidFill>
                      <a:srgbClr val="1B365D"/>
                    </a:solidFill>
                  </a:tcPr>
                </a:tc>
                <a:tc>
                  <a:txBody>
                    <a:bodyPr/>
                    <a:lstStyle/>
                    <a:p>
                      <a:pPr algn="ctr">
                        <a:defRPr sz="800" b="1">
                          <a:solidFill>
                            <a:srgbClr val="FFFFFF"/>
                          </a:solidFill>
                          <a:latin typeface="微軟正黑體"/>
                        </a:defRPr>
                      </a:pPr>
                      <a:r>
                        <a:t>歷史最高點到115均價跌幅(%)</a:t>
                      </a:r>
                    </a:p>
                  </a:txBody>
                  <a:tcPr>
                    <a:solidFill>
                      <a:srgbClr val="1B365D"/>
                    </a:solidFill>
                  </a:tcPr>
                </a:tc>
                <a:tc>
                  <a:txBody>
                    <a:bodyPr/>
                    <a:lstStyle/>
                    <a:p>
                      <a:pPr algn="ctr">
                        <a:defRPr sz="800" b="1">
                          <a:solidFill>
                            <a:srgbClr val="FFFFFF"/>
                          </a:solidFill>
                          <a:latin typeface="微軟正黑體"/>
                        </a:defRPr>
                      </a:pPr>
                      <a:r>
                        <a:t>116動態預估</a:t>
                      </a:r>
                    </a:p>
                  </a:txBody>
                  <a:tcPr>
                    <a:solidFill>
                      <a:srgbClr val="1B365D"/>
                    </a:solidFill>
                  </a:tcPr>
                </a:tc>
                <a:tc>
                  <a:txBody>
                    <a:bodyPr/>
                    <a:lstStyle/>
                    <a:p>
                      <a:pPr algn="ctr">
                        <a:defRPr sz="800" b="1">
                          <a:solidFill>
                            <a:srgbClr val="FFFFFF"/>
                          </a:solidFill>
                          <a:latin typeface="微軟正黑體"/>
                        </a:defRPr>
                      </a:pPr>
                      <a:r>
                        <a:t>117動態預估</a:t>
                      </a:r>
                    </a:p>
                  </a:txBody>
                  <a:tcPr>
                    <a:solidFill>
                      <a:srgbClr val="1B365D"/>
                    </a:solidFill>
                  </a:tcPr>
                </a:tc>
                <a:tc>
                  <a:txBody>
                    <a:bodyPr/>
                    <a:lstStyle/>
                    <a:p>
                      <a:pPr algn="ctr">
                        <a:defRPr sz="800" b="1">
                          <a:solidFill>
                            <a:srgbClr val="FFFFFF"/>
                          </a:solidFill>
                          <a:latin typeface="微軟正黑體"/>
                        </a:defRPr>
                      </a:pPr>
                      <a:r>
                        <a:t>118動態預估</a:t>
                      </a:r>
                    </a:p>
                  </a:txBody>
                  <a:tcPr>
                    <a:solidFill>
                      <a:srgbClr val="1B365D"/>
                    </a:solidFill>
                  </a:tcPr>
                </a:tc>
                <a:tc>
                  <a:txBody>
                    <a:bodyPr/>
                    <a:lstStyle/>
                    <a:p>
                      <a:pPr algn="ctr">
                        <a:defRPr sz="800" b="1">
                          <a:solidFill>
                            <a:srgbClr val="FFFFFF"/>
                          </a:solidFill>
                          <a:latin typeface="微軟正黑體"/>
                        </a:defRPr>
                      </a:pPr>
                      <a:r>
                        <a:t>三年累積跌幅</a:t>
                      </a:r>
                    </a:p>
                  </a:txBody>
                  <a:tcPr>
                    <a:solidFill>
                      <a:srgbClr val="1B365D"/>
                    </a:solidFill>
                  </a:tcPr>
                </a:tc>
              </a:tr>
              <a:tr h="382385">
                <a:tc>
                  <a:txBody>
                    <a:bodyPr/>
                    <a:lstStyle/>
                    <a:p>
                      <a:pPr algn="ctr">
                        <a:defRPr sz="800" b="1">
                          <a:solidFill>
                            <a:srgbClr val="1E293B"/>
                          </a:solidFill>
                          <a:latin typeface="微軟正黑體"/>
                        </a:defRPr>
                      </a:pPr>
                      <a:r>
                        <a:t>工學天下</a:t>
                      </a:r>
                    </a:p>
                  </a:txBody>
                  <a:tcPr>
                    <a:solidFill>
                      <a:srgbClr val="F8FAFC"/>
                    </a:solidFill>
                  </a:tcPr>
                </a:tc>
                <a:tc>
                  <a:txBody>
                    <a:bodyPr/>
                    <a:lstStyle/>
                    <a:p>
                      <a:pPr algn="ctr">
                        <a:defRPr sz="800">
                          <a:solidFill>
                            <a:srgbClr val="1E293B"/>
                          </a:solidFill>
                          <a:latin typeface="微軟正黑體"/>
                        </a:defRPr>
                      </a:pPr>
                      <a:r>
                        <a:t>452戶 / 31.7年</a:t>
                      </a:r>
                    </a:p>
                  </a:txBody>
                  <a:tcPr>
                    <a:solidFill>
                      <a:srgbClr val="F8FAFC"/>
                    </a:solidFill>
                  </a:tcPr>
                </a:tc>
                <a:tc>
                  <a:txBody>
                    <a:bodyPr/>
                    <a:lstStyle/>
                    <a:p>
                      <a:pPr algn="ctr">
                        <a:defRPr sz="800">
                          <a:solidFill>
                            <a:srgbClr val="1E293B"/>
                          </a:solidFill>
                          <a:latin typeface="微軟正黑體"/>
                        </a:defRPr>
                      </a:pPr>
                      <a:r>
                        <a:t>29.0萬 (113/07)</a:t>
                      </a:r>
                    </a:p>
                  </a:txBody>
                  <a:tcPr>
                    <a:solidFill>
                      <a:srgbClr val="F8FAFC"/>
                    </a:solidFill>
                  </a:tcPr>
                </a:tc>
                <a:tc>
                  <a:txBody>
                    <a:bodyPr/>
                    <a:lstStyle/>
                    <a:p>
                      <a:pPr algn="ctr">
                        <a:defRPr sz="800">
                          <a:solidFill>
                            <a:srgbClr val="1E293B"/>
                          </a:solidFill>
                          <a:latin typeface="微軟正黑體"/>
                        </a:defRPr>
                      </a:pPr>
                      <a:r>
                        <a:t>19.6萬 (115/06)</a:t>
                      </a:r>
                    </a:p>
                  </a:txBody>
                  <a:tcPr>
                    <a:solidFill>
                      <a:srgbClr val="F8FAFC"/>
                    </a:solidFill>
                  </a:tcPr>
                </a:tc>
                <a:tc>
                  <a:txBody>
                    <a:bodyPr/>
                    <a:lstStyle/>
                    <a:p>
                      <a:pPr algn="ctr">
                        <a:defRPr sz="800" b="1">
                          <a:solidFill>
                            <a:srgbClr val="C0392B"/>
                          </a:solidFill>
                          <a:latin typeface="微軟正黑體"/>
                        </a:defRPr>
                      </a:pPr>
                      <a:r>
                        <a:t>-32.4%</a:t>
                      </a:r>
                    </a:p>
                  </a:txBody>
                  <a:tcPr>
                    <a:solidFill>
                      <a:srgbClr val="F8FAFC"/>
                    </a:solidFill>
                  </a:tcPr>
                </a:tc>
                <a:tc>
                  <a:txBody>
                    <a:bodyPr/>
                    <a:lstStyle/>
                    <a:p>
                      <a:pPr algn="ctr">
                        <a:defRPr sz="800">
                          <a:solidFill>
                            <a:srgbClr val="1E293B"/>
                          </a:solidFill>
                          <a:latin typeface="微軟正黑體"/>
                        </a:defRPr>
                      </a:pPr>
                      <a:r>
                        <a:t>20.7 萬/坪</a:t>
                      </a:r>
                    </a:p>
                  </a:txBody>
                  <a:tcPr>
                    <a:solidFill>
                      <a:srgbClr val="F8FAFC"/>
                    </a:solidFill>
                  </a:tcPr>
                </a:tc>
                <a:tc>
                  <a:txBody>
                    <a:bodyPr/>
                    <a:lstStyle/>
                    <a:p>
                      <a:pPr algn="ctr">
                        <a:defRPr sz="800" b="1">
                          <a:solidFill>
                            <a:srgbClr val="C0392B"/>
                          </a:solidFill>
                          <a:latin typeface="微軟正黑體"/>
                        </a:defRPr>
                      </a:pPr>
                      <a:r>
                        <a:t>-28.6%</a:t>
                      </a:r>
                    </a:p>
                  </a:txBody>
                  <a:tcPr>
                    <a:solidFill>
                      <a:srgbClr val="F8FAFC"/>
                    </a:solidFill>
                  </a:tcPr>
                </a:tc>
                <a:tc>
                  <a:txBody>
                    <a:bodyPr/>
                    <a:lstStyle/>
                    <a:p>
                      <a:pPr algn="ctr">
                        <a:defRPr sz="800">
                          <a:solidFill>
                            <a:srgbClr val="1E293B"/>
                          </a:solidFill>
                          <a:latin typeface="微軟正黑體"/>
                        </a:defRPr>
                      </a:pPr>
                      <a:r>
                        <a:t>18.6 萬/坪</a:t>
                      </a:r>
                    </a:p>
                  </a:txBody>
                  <a:tcPr>
                    <a:solidFill>
                      <a:srgbClr val="F8FAFC"/>
                    </a:solidFill>
                  </a:tcPr>
                </a:tc>
                <a:tc>
                  <a:txBody>
                    <a:bodyPr/>
                    <a:lstStyle/>
                    <a:p>
                      <a:pPr algn="ctr">
                        <a:defRPr sz="800">
                          <a:solidFill>
                            <a:srgbClr val="1E293B"/>
                          </a:solidFill>
                          <a:latin typeface="微軟正黑體"/>
                        </a:defRPr>
                      </a:pPr>
                      <a:r>
                        <a:t>16.9 萬/坪</a:t>
                      </a:r>
                    </a:p>
                  </a:txBody>
                  <a:tcPr>
                    <a:solidFill>
                      <a:srgbClr val="F8FAFC"/>
                    </a:solidFill>
                  </a:tcPr>
                </a:tc>
                <a:tc>
                  <a:txBody>
                    <a:bodyPr/>
                    <a:lstStyle/>
                    <a:p>
                      <a:pPr algn="ctr">
                        <a:defRPr sz="800">
                          <a:solidFill>
                            <a:srgbClr val="1E293B"/>
                          </a:solidFill>
                          <a:latin typeface="微軟正黑體"/>
                        </a:defRPr>
                      </a:pPr>
                      <a:r>
                        <a:t>16.3 萬/坪</a:t>
                      </a:r>
                    </a:p>
                  </a:txBody>
                  <a:tcPr>
                    <a:solidFill>
                      <a:srgbClr val="F8FAFC"/>
                    </a:solidFill>
                  </a:tcPr>
                </a:tc>
                <a:tc>
                  <a:txBody>
                    <a:bodyPr/>
                    <a:lstStyle/>
                    <a:p>
                      <a:pPr algn="ctr">
                        <a:defRPr sz="800" b="1">
                          <a:solidFill>
                            <a:srgbClr val="C0392B"/>
                          </a:solidFill>
                          <a:latin typeface="微軟正黑體"/>
                        </a:defRPr>
                      </a:pPr>
                      <a:r>
                        <a:t>-21.3%</a:t>
                      </a:r>
                    </a:p>
                  </a:txBody>
                  <a:tcPr>
                    <a:solidFill>
                      <a:srgbClr val="F8FAFC"/>
                    </a:solidFill>
                  </a:tcPr>
                </a:tc>
              </a:tr>
              <a:tr h="382385">
                <a:tc>
                  <a:txBody>
                    <a:bodyPr/>
                    <a:lstStyle/>
                    <a:p>
                      <a:pPr algn="ctr">
                        <a:defRPr sz="800" b="1">
                          <a:solidFill>
                            <a:srgbClr val="1E293B"/>
                          </a:solidFill>
                          <a:latin typeface="微軟正黑體"/>
                        </a:defRPr>
                      </a:pPr>
                      <a:r>
                        <a:t>文心及第</a:t>
                      </a:r>
                    </a:p>
                  </a:txBody>
                  <a:tcPr>
                    <a:solidFill>
                      <a:srgbClr val="FFFFFF"/>
                    </a:solidFill>
                  </a:tcPr>
                </a:tc>
                <a:tc>
                  <a:txBody>
                    <a:bodyPr/>
                    <a:lstStyle/>
                    <a:p>
                      <a:pPr algn="ctr">
                        <a:defRPr sz="800">
                          <a:solidFill>
                            <a:srgbClr val="1E293B"/>
                          </a:solidFill>
                          <a:latin typeface="微軟正黑體"/>
                        </a:defRPr>
                      </a:pPr>
                      <a:r>
                        <a:t>259戶 / 27.2年</a:t>
                      </a:r>
                    </a:p>
                  </a:txBody>
                  <a:tcPr>
                    <a:solidFill>
                      <a:srgbClr val="FFFFFF"/>
                    </a:solidFill>
                  </a:tcPr>
                </a:tc>
                <a:tc>
                  <a:txBody>
                    <a:bodyPr/>
                    <a:lstStyle/>
                    <a:p>
                      <a:pPr algn="ctr">
                        <a:defRPr sz="800">
                          <a:solidFill>
                            <a:srgbClr val="1E293B"/>
                          </a:solidFill>
                          <a:latin typeface="微軟正黑體"/>
                        </a:defRPr>
                      </a:pPr>
                      <a:r>
                        <a:t>35.7萬 (113/06)</a:t>
                      </a:r>
                    </a:p>
                  </a:txBody>
                  <a:tcPr>
                    <a:solidFill>
                      <a:srgbClr val="FFFFFF"/>
                    </a:solidFill>
                  </a:tcPr>
                </a:tc>
                <a:tc>
                  <a:txBody>
                    <a:bodyPr/>
                    <a:lstStyle/>
                    <a:p>
                      <a:pPr algn="ctr">
                        <a:defRPr sz="800">
                          <a:solidFill>
                            <a:srgbClr val="1E293B"/>
                          </a:solidFill>
                          <a:latin typeface="微軟正黑體"/>
                        </a:defRPr>
                      </a:pPr>
                      <a:r>
                        <a:t>18.9萬 (115/03)</a:t>
                      </a:r>
                    </a:p>
                  </a:txBody>
                  <a:tcPr>
                    <a:solidFill>
                      <a:srgbClr val="FFFFFF"/>
                    </a:solidFill>
                  </a:tcPr>
                </a:tc>
                <a:tc>
                  <a:txBody>
                    <a:bodyPr/>
                    <a:lstStyle/>
                    <a:p>
                      <a:pPr algn="ctr">
                        <a:defRPr sz="800" b="1">
                          <a:solidFill>
                            <a:srgbClr val="C0392B"/>
                          </a:solidFill>
                          <a:latin typeface="微軟正黑體"/>
                        </a:defRPr>
                      </a:pPr>
                      <a:r>
                        <a:t>-47.1%</a:t>
                      </a:r>
                    </a:p>
                  </a:txBody>
                  <a:tcPr>
                    <a:solidFill>
                      <a:srgbClr val="FFFFFF"/>
                    </a:solidFill>
                  </a:tcPr>
                </a:tc>
                <a:tc>
                  <a:txBody>
                    <a:bodyPr/>
                    <a:lstStyle/>
                    <a:p>
                      <a:pPr algn="ctr">
                        <a:defRPr sz="800">
                          <a:solidFill>
                            <a:srgbClr val="1E293B"/>
                          </a:solidFill>
                          <a:latin typeface="微軟正黑體"/>
                        </a:defRPr>
                      </a:pPr>
                      <a:r>
                        <a:t>18.9 萬/坪</a:t>
                      </a:r>
                    </a:p>
                  </a:txBody>
                  <a:tcPr>
                    <a:solidFill>
                      <a:srgbClr val="FFFFFF"/>
                    </a:solidFill>
                  </a:tcPr>
                </a:tc>
                <a:tc>
                  <a:txBody>
                    <a:bodyPr/>
                    <a:lstStyle/>
                    <a:p>
                      <a:pPr algn="ctr">
                        <a:defRPr sz="800" b="1">
                          <a:solidFill>
                            <a:srgbClr val="C0392B"/>
                          </a:solidFill>
                          <a:latin typeface="微軟正黑體"/>
                        </a:defRPr>
                      </a:pPr>
                      <a:r>
                        <a:t>-47.1%</a:t>
                      </a:r>
                    </a:p>
                  </a:txBody>
                  <a:tcPr>
                    <a:solidFill>
                      <a:srgbClr val="FFFFFF"/>
                    </a:solidFill>
                  </a:tcPr>
                </a:tc>
                <a:tc>
                  <a:txBody>
                    <a:bodyPr/>
                    <a:lstStyle/>
                    <a:p>
                      <a:pPr algn="ctr">
                        <a:defRPr sz="800">
                          <a:solidFill>
                            <a:srgbClr val="1E293B"/>
                          </a:solidFill>
                          <a:latin typeface="微軟正黑體"/>
                        </a:defRPr>
                      </a:pPr>
                      <a:r>
                        <a:t>17.1 萬/坪</a:t>
                      </a:r>
                    </a:p>
                  </a:txBody>
                  <a:tcPr>
                    <a:solidFill>
                      <a:srgbClr val="FFFFFF"/>
                    </a:solidFill>
                  </a:tcPr>
                </a:tc>
                <a:tc>
                  <a:txBody>
                    <a:bodyPr/>
                    <a:lstStyle/>
                    <a:p>
                      <a:pPr algn="ctr">
                        <a:defRPr sz="800">
                          <a:solidFill>
                            <a:srgbClr val="1E293B"/>
                          </a:solidFill>
                          <a:latin typeface="微軟正黑體"/>
                        </a:defRPr>
                      </a:pPr>
                      <a:r>
                        <a:t>16.4 萬/坪</a:t>
                      </a:r>
                    </a:p>
                  </a:txBody>
                  <a:tcPr>
                    <a:solidFill>
                      <a:srgbClr val="FFFFFF"/>
                    </a:solidFill>
                  </a:tcPr>
                </a:tc>
                <a:tc>
                  <a:txBody>
                    <a:bodyPr/>
                    <a:lstStyle/>
                    <a:p>
                      <a:pPr algn="ctr">
                        <a:defRPr sz="800">
                          <a:solidFill>
                            <a:srgbClr val="1E293B"/>
                          </a:solidFill>
                          <a:latin typeface="微軟正黑體"/>
                        </a:defRPr>
                      </a:pPr>
                      <a:r>
                        <a:t>16.4 萬/坪</a:t>
                      </a:r>
                    </a:p>
                  </a:txBody>
                  <a:tcPr>
                    <a:solidFill>
                      <a:srgbClr val="FFFFFF"/>
                    </a:solidFill>
                  </a:tcPr>
                </a:tc>
                <a:tc>
                  <a:txBody>
                    <a:bodyPr/>
                    <a:lstStyle/>
                    <a:p>
                      <a:pPr algn="ctr">
                        <a:defRPr sz="800" b="1">
                          <a:solidFill>
                            <a:srgbClr val="C0392B"/>
                          </a:solidFill>
                          <a:latin typeface="微軟正黑體"/>
                        </a:defRPr>
                      </a:pPr>
                      <a:r>
                        <a:t>-13.2%</a:t>
                      </a:r>
                    </a:p>
                  </a:txBody>
                  <a:tcPr>
                    <a:solidFill>
                      <a:srgbClr val="FFFFFF"/>
                    </a:solidFill>
                  </a:tcPr>
                </a:tc>
              </a:tr>
              <a:tr h="382385">
                <a:tc>
                  <a:txBody>
                    <a:bodyPr/>
                    <a:lstStyle/>
                    <a:p>
                      <a:pPr algn="ctr">
                        <a:defRPr sz="800" b="1">
                          <a:solidFill>
                            <a:srgbClr val="1E293B"/>
                          </a:solidFill>
                          <a:latin typeface="微軟正黑體"/>
                        </a:defRPr>
                      </a:pPr>
                      <a:r>
                        <a:t>綠灣大樓</a:t>
                      </a:r>
                    </a:p>
                  </a:txBody>
                  <a:tcPr>
                    <a:solidFill>
                      <a:srgbClr val="F8FAFC"/>
                    </a:solidFill>
                  </a:tcPr>
                </a:tc>
                <a:tc>
                  <a:txBody>
                    <a:bodyPr/>
                    <a:lstStyle/>
                    <a:p>
                      <a:pPr algn="ctr">
                        <a:defRPr sz="800">
                          <a:solidFill>
                            <a:srgbClr val="1E293B"/>
                          </a:solidFill>
                          <a:latin typeface="微軟正黑體"/>
                        </a:defRPr>
                      </a:pPr>
                      <a:r>
                        <a:t>268戶 / 32.1年</a:t>
                      </a:r>
                    </a:p>
                  </a:txBody>
                  <a:tcPr>
                    <a:solidFill>
                      <a:srgbClr val="F8FAFC"/>
                    </a:solidFill>
                  </a:tcPr>
                </a:tc>
                <a:tc>
                  <a:txBody>
                    <a:bodyPr/>
                    <a:lstStyle/>
                    <a:p>
                      <a:pPr algn="ctr">
                        <a:defRPr sz="800">
                          <a:solidFill>
                            <a:srgbClr val="1E293B"/>
                          </a:solidFill>
                          <a:latin typeface="微軟正黑體"/>
                        </a:defRPr>
                      </a:pPr>
                      <a:r>
                        <a:t>28.1萬 (113/10)</a:t>
                      </a:r>
                    </a:p>
                  </a:txBody>
                  <a:tcPr>
                    <a:solidFill>
                      <a:srgbClr val="F8FAFC"/>
                    </a:solidFill>
                  </a:tcPr>
                </a:tc>
                <a:tc>
                  <a:txBody>
                    <a:bodyPr/>
                    <a:lstStyle/>
                    <a:p>
                      <a:pPr algn="ctr">
                        <a:defRPr sz="800">
                          <a:solidFill>
                            <a:srgbClr val="1E293B"/>
                          </a:solidFill>
                          <a:latin typeface="微軟正黑體"/>
                        </a:defRPr>
                      </a:pPr>
                      <a:r>
                        <a:t>16.8萬 (115/03)</a:t>
                      </a:r>
                    </a:p>
                  </a:txBody>
                  <a:tcPr>
                    <a:solidFill>
                      <a:srgbClr val="F8FAFC"/>
                    </a:solidFill>
                  </a:tcPr>
                </a:tc>
                <a:tc>
                  <a:txBody>
                    <a:bodyPr/>
                    <a:lstStyle/>
                    <a:p>
                      <a:pPr algn="ctr">
                        <a:defRPr sz="800" b="1">
                          <a:solidFill>
                            <a:srgbClr val="C0392B"/>
                          </a:solidFill>
                          <a:latin typeface="微軟正黑體"/>
                        </a:defRPr>
                      </a:pPr>
                      <a:r>
                        <a:t>-40.2%</a:t>
                      </a:r>
                    </a:p>
                  </a:txBody>
                  <a:tcPr>
                    <a:solidFill>
                      <a:srgbClr val="F8FAFC"/>
                    </a:solidFill>
                  </a:tcPr>
                </a:tc>
                <a:tc>
                  <a:txBody>
                    <a:bodyPr/>
                    <a:lstStyle/>
                    <a:p>
                      <a:pPr algn="ctr">
                        <a:defRPr sz="800">
                          <a:solidFill>
                            <a:srgbClr val="1E293B"/>
                          </a:solidFill>
                          <a:latin typeface="微軟正黑體"/>
                        </a:defRPr>
                      </a:pPr>
                      <a:r>
                        <a:t>16.8 萬/坪</a:t>
                      </a:r>
                    </a:p>
                  </a:txBody>
                  <a:tcPr>
                    <a:solidFill>
                      <a:srgbClr val="F8FAFC"/>
                    </a:solidFill>
                  </a:tcPr>
                </a:tc>
                <a:tc>
                  <a:txBody>
                    <a:bodyPr/>
                    <a:lstStyle/>
                    <a:p>
                      <a:pPr algn="ctr">
                        <a:defRPr sz="800" b="1">
                          <a:solidFill>
                            <a:srgbClr val="C0392B"/>
                          </a:solidFill>
                          <a:latin typeface="微軟正黑體"/>
                        </a:defRPr>
                      </a:pPr>
                      <a:r>
                        <a:t>-40.2%</a:t>
                      </a:r>
                    </a:p>
                  </a:txBody>
                  <a:tcPr>
                    <a:solidFill>
                      <a:srgbClr val="F8FAFC"/>
                    </a:solidFill>
                  </a:tcPr>
                </a:tc>
                <a:tc>
                  <a:txBody>
                    <a:bodyPr/>
                    <a:lstStyle/>
                    <a:p>
                      <a:pPr algn="ctr">
                        <a:defRPr sz="800">
                          <a:solidFill>
                            <a:srgbClr val="1E293B"/>
                          </a:solidFill>
                          <a:latin typeface="微軟正黑體"/>
                        </a:defRPr>
                      </a:pPr>
                      <a:r>
                        <a:t>15.2 萬/坪</a:t>
                      </a:r>
                    </a:p>
                  </a:txBody>
                  <a:tcPr>
                    <a:solidFill>
                      <a:srgbClr val="F8FAFC"/>
                    </a:solidFill>
                  </a:tcPr>
                </a:tc>
                <a:tc>
                  <a:txBody>
                    <a:bodyPr/>
                    <a:lstStyle/>
                    <a:p>
                      <a:pPr algn="ctr">
                        <a:defRPr sz="800">
                          <a:solidFill>
                            <a:srgbClr val="1E293B"/>
                          </a:solidFill>
                          <a:latin typeface="微軟正黑體"/>
                        </a:defRPr>
                      </a:pPr>
                      <a:r>
                        <a:t>14.0 萬/坪</a:t>
                      </a:r>
                    </a:p>
                  </a:txBody>
                  <a:tcPr>
                    <a:solidFill>
                      <a:srgbClr val="F8FAFC"/>
                    </a:solidFill>
                  </a:tcPr>
                </a:tc>
                <a:tc>
                  <a:txBody>
                    <a:bodyPr/>
                    <a:lstStyle/>
                    <a:p>
                      <a:pPr algn="ctr">
                        <a:defRPr sz="800">
                          <a:solidFill>
                            <a:srgbClr val="1E293B"/>
                          </a:solidFill>
                          <a:latin typeface="微軟正黑體"/>
                        </a:defRPr>
                      </a:pPr>
                      <a:r>
                        <a:t>13.5 萬/坪</a:t>
                      </a:r>
                    </a:p>
                  </a:txBody>
                  <a:tcPr>
                    <a:solidFill>
                      <a:srgbClr val="F8FAFC"/>
                    </a:solidFill>
                  </a:tcPr>
                </a:tc>
                <a:tc>
                  <a:txBody>
                    <a:bodyPr/>
                    <a:lstStyle/>
                    <a:p>
                      <a:pPr algn="ctr">
                        <a:defRPr sz="800" b="1">
                          <a:solidFill>
                            <a:srgbClr val="C0392B"/>
                          </a:solidFill>
                          <a:latin typeface="微軟正黑體"/>
                        </a:defRPr>
                      </a:pPr>
                      <a:r>
                        <a:t>-19.6%</a:t>
                      </a:r>
                    </a:p>
                  </a:txBody>
                  <a:tcPr>
                    <a:solidFill>
                      <a:srgbClr val="F8FAFC"/>
                    </a:solidFill>
                  </a:tcPr>
                </a:tc>
              </a:tr>
              <a:tr h="382385">
                <a:tc>
                  <a:txBody>
                    <a:bodyPr/>
                    <a:lstStyle/>
                    <a:p>
                      <a:pPr algn="ctr">
                        <a:defRPr sz="800" b="1">
                          <a:solidFill>
                            <a:srgbClr val="1E293B"/>
                          </a:solidFill>
                          <a:latin typeface="微軟正黑體"/>
                        </a:defRPr>
                      </a:pPr>
                      <a:r>
                        <a:t>比佛利山莊</a:t>
                      </a:r>
                    </a:p>
                  </a:txBody>
                  <a:tcPr>
                    <a:solidFill>
                      <a:srgbClr val="FFFFFF"/>
                    </a:solidFill>
                  </a:tcPr>
                </a:tc>
                <a:tc>
                  <a:txBody>
                    <a:bodyPr/>
                    <a:lstStyle/>
                    <a:p>
                      <a:pPr algn="ctr">
                        <a:defRPr sz="800">
                          <a:solidFill>
                            <a:srgbClr val="1E293B"/>
                          </a:solidFill>
                          <a:latin typeface="微軟正黑體"/>
                        </a:defRPr>
                      </a:pPr>
                      <a:r>
                        <a:t>309戶 / 33.9年</a:t>
                      </a:r>
                    </a:p>
                  </a:txBody>
                  <a:tcPr>
                    <a:solidFill>
                      <a:srgbClr val="FFFFFF"/>
                    </a:solidFill>
                  </a:tcPr>
                </a:tc>
                <a:tc>
                  <a:txBody>
                    <a:bodyPr/>
                    <a:lstStyle/>
                    <a:p>
                      <a:pPr algn="ctr">
                        <a:defRPr sz="800">
                          <a:solidFill>
                            <a:srgbClr val="1E293B"/>
                          </a:solidFill>
                          <a:latin typeface="微軟正黑體"/>
                        </a:defRPr>
                      </a:pPr>
                      <a:r>
                        <a:t>36.4萬 (113/08)</a:t>
                      </a:r>
                    </a:p>
                  </a:txBody>
                  <a:tcPr>
                    <a:solidFill>
                      <a:srgbClr val="FFFFFF"/>
                    </a:solidFill>
                  </a:tcPr>
                </a:tc>
                <a:tc>
                  <a:txBody>
                    <a:bodyPr/>
                    <a:lstStyle/>
                    <a:p>
                      <a:pPr algn="ctr">
                        <a:defRPr sz="800">
                          <a:solidFill>
                            <a:srgbClr val="1E293B"/>
                          </a:solidFill>
                          <a:latin typeface="微軟正黑體"/>
                        </a:defRPr>
                      </a:pPr>
                      <a:r>
                        <a:t>20.4萬 (115/03)</a:t>
                      </a:r>
                    </a:p>
                  </a:txBody>
                  <a:tcPr>
                    <a:solidFill>
                      <a:srgbClr val="FFFFFF"/>
                    </a:solidFill>
                  </a:tcPr>
                </a:tc>
                <a:tc>
                  <a:txBody>
                    <a:bodyPr/>
                    <a:lstStyle/>
                    <a:p>
                      <a:pPr algn="ctr">
                        <a:defRPr sz="800" b="1">
                          <a:solidFill>
                            <a:srgbClr val="C0392B"/>
                          </a:solidFill>
                          <a:latin typeface="微軟正黑體"/>
                        </a:defRPr>
                      </a:pPr>
                      <a:r>
                        <a:t>-44.0%</a:t>
                      </a:r>
                    </a:p>
                  </a:txBody>
                  <a:tcPr>
                    <a:solidFill>
                      <a:srgbClr val="FFFFFF"/>
                    </a:solidFill>
                  </a:tcPr>
                </a:tc>
                <a:tc>
                  <a:txBody>
                    <a:bodyPr/>
                    <a:lstStyle/>
                    <a:p>
                      <a:pPr algn="ctr">
                        <a:defRPr sz="800">
                          <a:solidFill>
                            <a:srgbClr val="1E293B"/>
                          </a:solidFill>
                          <a:latin typeface="微軟正黑體"/>
                        </a:defRPr>
                      </a:pPr>
                      <a:r>
                        <a:t>28.2 萬/坪</a:t>
                      </a:r>
                    </a:p>
                  </a:txBody>
                  <a:tcPr>
                    <a:solidFill>
                      <a:srgbClr val="FFFFFF"/>
                    </a:solidFill>
                  </a:tcPr>
                </a:tc>
                <a:tc>
                  <a:txBody>
                    <a:bodyPr/>
                    <a:lstStyle/>
                    <a:p>
                      <a:pPr algn="ctr">
                        <a:defRPr sz="800" b="1">
                          <a:solidFill>
                            <a:srgbClr val="C0392B"/>
                          </a:solidFill>
                          <a:latin typeface="微軟正黑體"/>
                        </a:defRPr>
                      </a:pPr>
                      <a:r>
                        <a:t>-22.4%</a:t>
                      </a:r>
                    </a:p>
                  </a:txBody>
                  <a:tcPr>
                    <a:solidFill>
                      <a:srgbClr val="FFFFFF"/>
                    </a:solidFill>
                  </a:tcPr>
                </a:tc>
                <a:tc>
                  <a:txBody>
                    <a:bodyPr/>
                    <a:lstStyle/>
                    <a:p>
                      <a:pPr algn="ctr">
                        <a:defRPr sz="800">
                          <a:solidFill>
                            <a:srgbClr val="1E293B"/>
                          </a:solidFill>
                          <a:latin typeface="微軟正黑體"/>
                        </a:defRPr>
                      </a:pPr>
                      <a:r>
                        <a:t>25.3 萬/坪</a:t>
                      </a:r>
                    </a:p>
                  </a:txBody>
                  <a:tcPr>
                    <a:solidFill>
                      <a:srgbClr val="FFFFFF"/>
                    </a:solidFill>
                  </a:tcPr>
                </a:tc>
                <a:tc>
                  <a:txBody>
                    <a:bodyPr/>
                    <a:lstStyle/>
                    <a:p>
                      <a:pPr algn="ctr">
                        <a:defRPr sz="800">
                          <a:solidFill>
                            <a:srgbClr val="1E293B"/>
                          </a:solidFill>
                          <a:latin typeface="微軟正黑體"/>
                        </a:defRPr>
                      </a:pPr>
                      <a:r>
                        <a:t>22.8 萬/坪</a:t>
                      </a:r>
                    </a:p>
                  </a:txBody>
                  <a:tcPr>
                    <a:solidFill>
                      <a:srgbClr val="FFFFFF"/>
                    </a:solidFill>
                  </a:tcPr>
                </a:tc>
                <a:tc>
                  <a:txBody>
                    <a:bodyPr/>
                    <a:lstStyle/>
                    <a:p>
                      <a:pPr algn="ctr">
                        <a:defRPr sz="800">
                          <a:solidFill>
                            <a:srgbClr val="1E293B"/>
                          </a:solidFill>
                          <a:latin typeface="微軟正黑體"/>
                        </a:defRPr>
                      </a:pPr>
                      <a:r>
                        <a:t>22.0 萬/坪</a:t>
                      </a:r>
                    </a:p>
                  </a:txBody>
                  <a:tcPr>
                    <a:solidFill>
                      <a:srgbClr val="FFFFFF"/>
                    </a:solidFill>
                  </a:tcPr>
                </a:tc>
                <a:tc>
                  <a:txBody>
                    <a:bodyPr/>
                    <a:lstStyle/>
                    <a:p>
                      <a:pPr algn="ctr">
                        <a:defRPr sz="800" b="1">
                          <a:solidFill>
                            <a:srgbClr val="C0392B"/>
                          </a:solidFill>
                          <a:latin typeface="微軟正黑體"/>
                        </a:defRPr>
                      </a:pPr>
                      <a:r>
                        <a:t>-22.0%</a:t>
                      </a:r>
                    </a:p>
                  </a:txBody>
                  <a:tcPr>
                    <a:solidFill>
                      <a:srgbClr val="FFFFFF"/>
                    </a:solidFill>
                  </a:tcPr>
                </a:tc>
              </a:tr>
              <a:tr h="382385">
                <a:tc>
                  <a:txBody>
                    <a:bodyPr/>
                    <a:lstStyle/>
                    <a:p>
                      <a:pPr algn="ctr">
                        <a:defRPr sz="800" b="1">
                          <a:solidFill>
                            <a:srgbClr val="1E293B"/>
                          </a:solidFill>
                          <a:latin typeface="微軟正黑體"/>
                        </a:defRPr>
                      </a:pPr>
                      <a:r>
                        <a:t>德昌中華大樓</a:t>
                      </a:r>
                    </a:p>
                  </a:txBody>
                  <a:tcPr>
                    <a:solidFill>
                      <a:srgbClr val="F8FAFC"/>
                    </a:solidFill>
                  </a:tcPr>
                </a:tc>
                <a:tc>
                  <a:txBody>
                    <a:bodyPr/>
                    <a:lstStyle/>
                    <a:p>
                      <a:pPr algn="ctr">
                        <a:defRPr sz="800">
                          <a:solidFill>
                            <a:srgbClr val="1E293B"/>
                          </a:solidFill>
                          <a:latin typeface="微軟正黑體"/>
                        </a:defRPr>
                      </a:pPr>
                      <a:r>
                        <a:t>409戶 / 32.2年</a:t>
                      </a:r>
                    </a:p>
                  </a:txBody>
                  <a:tcPr>
                    <a:solidFill>
                      <a:srgbClr val="F8FAFC"/>
                    </a:solidFill>
                  </a:tcPr>
                </a:tc>
                <a:tc>
                  <a:txBody>
                    <a:bodyPr/>
                    <a:lstStyle/>
                    <a:p>
                      <a:pPr algn="ctr">
                        <a:defRPr sz="800">
                          <a:solidFill>
                            <a:srgbClr val="1E293B"/>
                          </a:solidFill>
                          <a:latin typeface="微軟正黑體"/>
                        </a:defRPr>
                      </a:pPr>
                      <a:r>
                        <a:t>29.2萬 (113/07)</a:t>
                      </a:r>
                    </a:p>
                  </a:txBody>
                  <a:tcPr>
                    <a:solidFill>
                      <a:srgbClr val="F8FAFC"/>
                    </a:solidFill>
                  </a:tcPr>
                </a:tc>
                <a:tc>
                  <a:txBody>
                    <a:bodyPr/>
                    <a:lstStyle/>
                    <a:p>
                      <a:pPr algn="ctr">
                        <a:defRPr sz="800">
                          <a:solidFill>
                            <a:srgbClr val="1E293B"/>
                          </a:solidFill>
                          <a:latin typeface="微軟正黑體"/>
                        </a:defRPr>
                      </a:pPr>
                      <a:r>
                        <a:t>20.0萬 (115/03)</a:t>
                      </a:r>
                    </a:p>
                  </a:txBody>
                  <a:tcPr>
                    <a:solidFill>
                      <a:srgbClr val="F8FAFC"/>
                    </a:solidFill>
                  </a:tcPr>
                </a:tc>
                <a:tc>
                  <a:txBody>
                    <a:bodyPr/>
                    <a:lstStyle/>
                    <a:p>
                      <a:pPr algn="ctr">
                        <a:defRPr sz="800" b="1">
                          <a:solidFill>
                            <a:srgbClr val="C0392B"/>
                          </a:solidFill>
                          <a:latin typeface="微軟正黑體"/>
                        </a:defRPr>
                      </a:pPr>
                      <a:r>
                        <a:t>-31.5%</a:t>
                      </a:r>
                    </a:p>
                  </a:txBody>
                  <a:tcPr>
                    <a:solidFill>
                      <a:srgbClr val="F8FAFC"/>
                    </a:solidFill>
                  </a:tcPr>
                </a:tc>
                <a:tc>
                  <a:txBody>
                    <a:bodyPr/>
                    <a:lstStyle/>
                    <a:p>
                      <a:pPr algn="ctr">
                        <a:defRPr sz="800">
                          <a:solidFill>
                            <a:srgbClr val="1E293B"/>
                          </a:solidFill>
                          <a:latin typeface="微軟正黑體"/>
                        </a:defRPr>
                      </a:pPr>
                      <a:r>
                        <a:t>20.0 萬/坪</a:t>
                      </a:r>
                    </a:p>
                  </a:txBody>
                  <a:tcPr>
                    <a:solidFill>
                      <a:srgbClr val="F8FAFC"/>
                    </a:solidFill>
                  </a:tcPr>
                </a:tc>
                <a:tc>
                  <a:txBody>
                    <a:bodyPr/>
                    <a:lstStyle/>
                    <a:p>
                      <a:pPr algn="ctr">
                        <a:defRPr sz="800" b="1">
                          <a:solidFill>
                            <a:srgbClr val="C0392B"/>
                          </a:solidFill>
                          <a:latin typeface="微軟正黑體"/>
                        </a:defRPr>
                      </a:pPr>
                      <a:r>
                        <a:t>-31.5%</a:t>
                      </a:r>
                    </a:p>
                  </a:txBody>
                  <a:tcPr>
                    <a:solidFill>
                      <a:srgbClr val="F8FAFC"/>
                    </a:solidFill>
                  </a:tcPr>
                </a:tc>
                <a:tc>
                  <a:txBody>
                    <a:bodyPr/>
                    <a:lstStyle/>
                    <a:p>
                      <a:pPr algn="ctr">
                        <a:defRPr sz="800">
                          <a:solidFill>
                            <a:srgbClr val="1E293B"/>
                          </a:solidFill>
                          <a:latin typeface="微軟正黑體"/>
                        </a:defRPr>
                      </a:pPr>
                      <a:r>
                        <a:t>18.1 萬/坪</a:t>
                      </a:r>
                    </a:p>
                  </a:txBody>
                  <a:tcPr>
                    <a:solidFill>
                      <a:srgbClr val="F8FAFC"/>
                    </a:solidFill>
                  </a:tcPr>
                </a:tc>
                <a:tc>
                  <a:txBody>
                    <a:bodyPr/>
                    <a:lstStyle/>
                    <a:p>
                      <a:pPr algn="ctr">
                        <a:defRPr sz="800">
                          <a:solidFill>
                            <a:srgbClr val="1E293B"/>
                          </a:solidFill>
                          <a:latin typeface="微軟正黑體"/>
                        </a:defRPr>
                      </a:pPr>
                      <a:r>
                        <a:t>16.6 萬/坪</a:t>
                      </a:r>
                    </a:p>
                  </a:txBody>
                  <a:tcPr>
                    <a:solidFill>
                      <a:srgbClr val="F8FAFC"/>
                    </a:solidFill>
                  </a:tcPr>
                </a:tc>
                <a:tc>
                  <a:txBody>
                    <a:bodyPr/>
                    <a:lstStyle/>
                    <a:p>
                      <a:pPr algn="ctr">
                        <a:defRPr sz="800">
                          <a:solidFill>
                            <a:srgbClr val="1E293B"/>
                          </a:solidFill>
                          <a:latin typeface="微軟正黑體"/>
                        </a:defRPr>
                      </a:pPr>
                      <a:r>
                        <a:t>15.9 萬/坪</a:t>
                      </a:r>
                    </a:p>
                  </a:txBody>
                  <a:tcPr>
                    <a:solidFill>
                      <a:srgbClr val="F8FAFC"/>
                    </a:solidFill>
                  </a:tcPr>
                </a:tc>
                <a:tc>
                  <a:txBody>
                    <a:bodyPr/>
                    <a:lstStyle/>
                    <a:p>
                      <a:pPr algn="ctr">
                        <a:defRPr sz="800" b="1">
                          <a:solidFill>
                            <a:srgbClr val="C0392B"/>
                          </a:solidFill>
                          <a:latin typeface="微軟正黑體"/>
                        </a:defRPr>
                      </a:pPr>
                      <a:r>
                        <a:t>-20.5%</a:t>
                      </a:r>
                    </a:p>
                  </a:txBody>
                  <a:tcPr>
                    <a:solidFill>
                      <a:srgbClr val="F8FAFC"/>
                    </a:solidFill>
                  </a:tcPr>
                </a:tc>
              </a:tr>
              <a:tr h="382385">
                <a:tc>
                  <a:txBody>
                    <a:bodyPr/>
                    <a:lstStyle/>
                    <a:p>
                      <a:pPr algn="ctr">
                        <a:defRPr sz="800" b="1">
                          <a:solidFill>
                            <a:srgbClr val="1E293B"/>
                          </a:solidFill>
                          <a:latin typeface="微軟正黑體"/>
                        </a:defRPr>
                      </a:pPr>
                      <a:r>
                        <a:t>廣三大時代</a:t>
                      </a:r>
                    </a:p>
                  </a:txBody>
                  <a:tcPr>
                    <a:solidFill>
                      <a:srgbClr val="FFFFFF"/>
                    </a:solidFill>
                  </a:tcPr>
                </a:tc>
                <a:tc>
                  <a:txBody>
                    <a:bodyPr/>
                    <a:lstStyle/>
                    <a:p>
                      <a:pPr algn="ctr">
                        <a:defRPr sz="800">
                          <a:solidFill>
                            <a:srgbClr val="1E293B"/>
                          </a:solidFill>
                          <a:latin typeface="微軟正黑體"/>
                        </a:defRPr>
                      </a:pPr>
                      <a:r>
                        <a:t>1214戶 / 28.0年</a:t>
                      </a:r>
                    </a:p>
                  </a:txBody>
                  <a:tcPr>
                    <a:solidFill>
                      <a:srgbClr val="FFFFFF"/>
                    </a:solidFill>
                  </a:tcPr>
                </a:tc>
                <a:tc>
                  <a:txBody>
                    <a:bodyPr/>
                    <a:lstStyle/>
                    <a:p>
                      <a:pPr algn="ctr">
                        <a:defRPr sz="800">
                          <a:solidFill>
                            <a:srgbClr val="1E293B"/>
                          </a:solidFill>
                          <a:latin typeface="微軟正黑體"/>
                        </a:defRPr>
                      </a:pPr>
                      <a:r>
                        <a:t>34.1萬 (113/12)</a:t>
                      </a:r>
                    </a:p>
                  </a:txBody>
                  <a:tcPr>
                    <a:solidFill>
                      <a:srgbClr val="FFFFFF"/>
                    </a:solidFill>
                  </a:tcPr>
                </a:tc>
                <a:tc>
                  <a:txBody>
                    <a:bodyPr/>
                    <a:lstStyle/>
                    <a:p>
                      <a:pPr algn="ctr">
                        <a:defRPr sz="800">
                          <a:solidFill>
                            <a:srgbClr val="1E293B"/>
                          </a:solidFill>
                          <a:latin typeface="微軟正黑體"/>
                        </a:defRPr>
                      </a:pPr>
                      <a:r>
                        <a:t>23.0萬 (115/08)</a:t>
                      </a:r>
                    </a:p>
                  </a:txBody>
                  <a:tcPr>
                    <a:solidFill>
                      <a:srgbClr val="FFFFFF"/>
                    </a:solidFill>
                  </a:tcPr>
                </a:tc>
                <a:tc>
                  <a:txBody>
                    <a:bodyPr/>
                    <a:lstStyle/>
                    <a:p>
                      <a:pPr algn="ctr">
                        <a:defRPr sz="800" b="1">
                          <a:solidFill>
                            <a:srgbClr val="C0392B"/>
                          </a:solidFill>
                          <a:latin typeface="微軟正黑體"/>
                        </a:defRPr>
                      </a:pPr>
                      <a:r>
                        <a:t>-32.6%</a:t>
                      </a:r>
                    </a:p>
                  </a:txBody>
                  <a:tcPr>
                    <a:solidFill>
                      <a:srgbClr val="FFFFFF"/>
                    </a:solidFill>
                  </a:tcPr>
                </a:tc>
                <a:tc>
                  <a:txBody>
                    <a:bodyPr/>
                    <a:lstStyle/>
                    <a:p>
                      <a:pPr algn="ctr">
                        <a:defRPr sz="800">
                          <a:solidFill>
                            <a:srgbClr val="1E293B"/>
                          </a:solidFill>
                          <a:latin typeface="微軟正黑體"/>
                        </a:defRPr>
                      </a:pPr>
                      <a:r>
                        <a:t>24.0 萬/坪</a:t>
                      </a:r>
                    </a:p>
                  </a:txBody>
                  <a:tcPr>
                    <a:solidFill>
                      <a:srgbClr val="FFFFFF"/>
                    </a:solidFill>
                  </a:tcPr>
                </a:tc>
                <a:tc>
                  <a:txBody>
                    <a:bodyPr/>
                    <a:lstStyle/>
                    <a:p>
                      <a:pPr algn="ctr">
                        <a:defRPr sz="800" b="1">
                          <a:solidFill>
                            <a:srgbClr val="C0392B"/>
                          </a:solidFill>
                          <a:latin typeface="微軟正黑體"/>
                        </a:defRPr>
                      </a:pPr>
                      <a:r>
                        <a:t>-29.6%</a:t>
                      </a:r>
                    </a:p>
                  </a:txBody>
                  <a:tcPr>
                    <a:solidFill>
                      <a:srgbClr val="FFFFFF"/>
                    </a:solidFill>
                  </a:tcPr>
                </a:tc>
                <a:tc>
                  <a:txBody>
                    <a:bodyPr/>
                    <a:lstStyle/>
                    <a:p>
                      <a:pPr algn="ctr">
                        <a:defRPr sz="800">
                          <a:solidFill>
                            <a:srgbClr val="1E293B"/>
                          </a:solidFill>
                          <a:latin typeface="微軟正黑體"/>
                        </a:defRPr>
                      </a:pPr>
                      <a:r>
                        <a:t>21.4 萬/坪</a:t>
                      </a:r>
                    </a:p>
                  </a:txBody>
                  <a:tcPr>
                    <a:solidFill>
                      <a:srgbClr val="FFFFFF"/>
                    </a:solidFill>
                  </a:tcPr>
                </a:tc>
                <a:tc>
                  <a:txBody>
                    <a:bodyPr/>
                    <a:lstStyle/>
                    <a:p>
                      <a:pPr algn="ctr">
                        <a:defRPr sz="800">
                          <a:solidFill>
                            <a:srgbClr val="1E293B"/>
                          </a:solidFill>
                          <a:latin typeface="微軟正黑體"/>
                        </a:defRPr>
                      </a:pPr>
                      <a:r>
                        <a:t>19.1 萬/坪</a:t>
                      </a:r>
                    </a:p>
                  </a:txBody>
                  <a:tcPr>
                    <a:solidFill>
                      <a:srgbClr val="FFFFFF"/>
                    </a:solidFill>
                  </a:tcPr>
                </a:tc>
                <a:tc>
                  <a:txBody>
                    <a:bodyPr/>
                    <a:lstStyle/>
                    <a:p>
                      <a:pPr algn="ctr">
                        <a:defRPr sz="800">
                          <a:solidFill>
                            <a:srgbClr val="1E293B"/>
                          </a:solidFill>
                          <a:latin typeface="微軟正黑體"/>
                        </a:defRPr>
                      </a:pPr>
                      <a:r>
                        <a:t>18.5 萬/坪</a:t>
                      </a:r>
                    </a:p>
                  </a:txBody>
                  <a:tcPr>
                    <a:solidFill>
                      <a:srgbClr val="FFFFFF"/>
                    </a:solidFill>
                  </a:tcPr>
                </a:tc>
                <a:tc>
                  <a:txBody>
                    <a:bodyPr/>
                    <a:lstStyle/>
                    <a:p>
                      <a:pPr algn="ctr">
                        <a:defRPr sz="800" b="1">
                          <a:solidFill>
                            <a:srgbClr val="C0392B"/>
                          </a:solidFill>
                          <a:latin typeface="微軟正黑體"/>
                        </a:defRPr>
                      </a:pPr>
                      <a:r>
                        <a:t>-22.9%</a:t>
                      </a:r>
                    </a:p>
                  </a:txBody>
                  <a:tcPr>
                    <a:solidFill>
                      <a:srgbClr val="FFFFFF"/>
                    </a:solidFill>
                  </a:tcPr>
                </a:tc>
              </a:tr>
              <a:tr h="382385">
                <a:tc>
                  <a:txBody>
                    <a:bodyPr/>
                    <a:lstStyle/>
                    <a:p>
                      <a:pPr algn="ctr">
                        <a:defRPr sz="800" b="1">
                          <a:solidFill>
                            <a:srgbClr val="1E293B"/>
                          </a:solidFill>
                          <a:latin typeface="微軟正黑體"/>
                        </a:defRPr>
                      </a:pPr>
                      <a:r>
                        <a:t>賺錢時代</a:t>
                      </a:r>
                    </a:p>
                  </a:txBody>
                  <a:tcPr>
                    <a:solidFill>
                      <a:srgbClr val="F8FAFC"/>
                    </a:solidFill>
                  </a:tcPr>
                </a:tc>
                <a:tc>
                  <a:txBody>
                    <a:bodyPr/>
                    <a:lstStyle/>
                    <a:p>
                      <a:pPr algn="ctr">
                        <a:defRPr sz="800">
                          <a:solidFill>
                            <a:srgbClr val="1E293B"/>
                          </a:solidFill>
                          <a:latin typeface="微軟正黑體"/>
                        </a:defRPr>
                      </a:pPr>
                      <a:r>
                        <a:t>2077戶 / 29.5年</a:t>
                      </a:r>
                    </a:p>
                  </a:txBody>
                  <a:tcPr>
                    <a:solidFill>
                      <a:srgbClr val="F8FAFC"/>
                    </a:solidFill>
                  </a:tcPr>
                </a:tc>
                <a:tc>
                  <a:txBody>
                    <a:bodyPr/>
                    <a:lstStyle/>
                    <a:p>
                      <a:pPr algn="ctr">
                        <a:defRPr sz="800">
                          <a:solidFill>
                            <a:srgbClr val="1E293B"/>
                          </a:solidFill>
                          <a:latin typeface="微軟正黑體"/>
                        </a:defRPr>
                      </a:pPr>
                      <a:r>
                        <a:t>34.0萬 (113/11)</a:t>
                      </a:r>
                    </a:p>
                  </a:txBody>
                  <a:tcPr>
                    <a:solidFill>
                      <a:srgbClr val="F8FAFC"/>
                    </a:solidFill>
                  </a:tcPr>
                </a:tc>
                <a:tc>
                  <a:txBody>
                    <a:bodyPr/>
                    <a:lstStyle/>
                    <a:p>
                      <a:pPr algn="ctr">
                        <a:defRPr sz="800">
                          <a:solidFill>
                            <a:srgbClr val="1E293B"/>
                          </a:solidFill>
                          <a:latin typeface="微軟正黑體"/>
                        </a:defRPr>
                      </a:pPr>
                      <a:r>
                        <a:t>23.1萬 (115/08)</a:t>
                      </a:r>
                    </a:p>
                  </a:txBody>
                  <a:tcPr>
                    <a:solidFill>
                      <a:srgbClr val="F8FAFC"/>
                    </a:solidFill>
                  </a:tcPr>
                </a:tc>
                <a:tc>
                  <a:txBody>
                    <a:bodyPr/>
                    <a:lstStyle/>
                    <a:p>
                      <a:pPr algn="ctr">
                        <a:defRPr sz="800" b="1">
                          <a:solidFill>
                            <a:srgbClr val="C0392B"/>
                          </a:solidFill>
                          <a:latin typeface="微軟正黑體"/>
                        </a:defRPr>
                      </a:pPr>
                      <a:r>
                        <a:t>-32.1%</a:t>
                      </a:r>
                    </a:p>
                  </a:txBody>
                  <a:tcPr>
                    <a:solidFill>
                      <a:srgbClr val="F8FAFC"/>
                    </a:solidFill>
                  </a:tcPr>
                </a:tc>
                <a:tc>
                  <a:txBody>
                    <a:bodyPr/>
                    <a:lstStyle/>
                    <a:p>
                      <a:pPr algn="ctr">
                        <a:defRPr sz="800">
                          <a:solidFill>
                            <a:srgbClr val="1E293B"/>
                          </a:solidFill>
                          <a:latin typeface="微軟正黑體"/>
                        </a:defRPr>
                      </a:pPr>
                      <a:r>
                        <a:t>24.1 萬/坪</a:t>
                      </a:r>
                    </a:p>
                  </a:txBody>
                  <a:tcPr>
                    <a:solidFill>
                      <a:srgbClr val="F8FAFC"/>
                    </a:solidFill>
                  </a:tcPr>
                </a:tc>
                <a:tc>
                  <a:txBody>
                    <a:bodyPr/>
                    <a:lstStyle/>
                    <a:p>
                      <a:pPr algn="ctr">
                        <a:defRPr sz="800" b="1">
                          <a:solidFill>
                            <a:srgbClr val="C0392B"/>
                          </a:solidFill>
                          <a:latin typeface="微軟正黑體"/>
                        </a:defRPr>
                      </a:pPr>
                      <a:r>
                        <a:t>-29.0%</a:t>
                      </a:r>
                    </a:p>
                  </a:txBody>
                  <a:tcPr>
                    <a:solidFill>
                      <a:srgbClr val="F8FAFC"/>
                    </a:solidFill>
                  </a:tcPr>
                </a:tc>
                <a:tc>
                  <a:txBody>
                    <a:bodyPr/>
                    <a:lstStyle/>
                    <a:p>
                      <a:pPr algn="ctr">
                        <a:defRPr sz="800">
                          <a:solidFill>
                            <a:srgbClr val="1E293B"/>
                          </a:solidFill>
                          <a:latin typeface="微軟正黑體"/>
                        </a:defRPr>
                      </a:pPr>
                      <a:r>
                        <a:t>21.5 萬/坪</a:t>
                      </a:r>
                    </a:p>
                  </a:txBody>
                  <a:tcPr>
                    <a:solidFill>
                      <a:srgbClr val="F8FAFC"/>
                    </a:solidFill>
                  </a:tcPr>
                </a:tc>
                <a:tc>
                  <a:txBody>
                    <a:bodyPr/>
                    <a:lstStyle/>
                    <a:p>
                      <a:pPr algn="ctr">
                        <a:defRPr sz="800">
                          <a:solidFill>
                            <a:srgbClr val="1E293B"/>
                          </a:solidFill>
                          <a:latin typeface="微軟正黑體"/>
                        </a:defRPr>
                      </a:pPr>
                      <a:r>
                        <a:t>19.1 萬/坪</a:t>
                      </a:r>
                    </a:p>
                  </a:txBody>
                  <a:tcPr>
                    <a:solidFill>
                      <a:srgbClr val="F8FAFC"/>
                    </a:solidFill>
                  </a:tcPr>
                </a:tc>
                <a:tc>
                  <a:txBody>
                    <a:bodyPr/>
                    <a:lstStyle/>
                    <a:p>
                      <a:pPr algn="ctr">
                        <a:defRPr sz="800">
                          <a:solidFill>
                            <a:srgbClr val="1E293B"/>
                          </a:solidFill>
                          <a:latin typeface="微軟正黑體"/>
                        </a:defRPr>
                      </a:pPr>
                      <a:r>
                        <a:t>18.4 萬/坪</a:t>
                      </a:r>
                    </a:p>
                  </a:txBody>
                  <a:tcPr>
                    <a:solidFill>
                      <a:srgbClr val="F8FAFC"/>
                    </a:solidFill>
                  </a:tcPr>
                </a:tc>
                <a:tc>
                  <a:txBody>
                    <a:bodyPr/>
                    <a:lstStyle/>
                    <a:p>
                      <a:pPr algn="ctr">
                        <a:defRPr sz="800" b="1">
                          <a:solidFill>
                            <a:srgbClr val="C0392B"/>
                          </a:solidFill>
                          <a:latin typeface="微軟正黑體"/>
                        </a:defRPr>
                      </a:pPr>
                      <a:r>
                        <a:t>-23.7%</a:t>
                      </a:r>
                    </a:p>
                  </a:txBody>
                  <a:tcPr>
                    <a:solidFill>
                      <a:srgbClr val="F8FAFC"/>
                    </a:solidFill>
                  </a:tcPr>
                </a:tc>
              </a:tr>
              <a:tr h="382385">
                <a:tc>
                  <a:txBody>
                    <a:bodyPr/>
                    <a:lstStyle/>
                    <a:p>
                      <a:pPr algn="ctr">
                        <a:defRPr sz="800" b="1">
                          <a:solidFill>
                            <a:srgbClr val="1E293B"/>
                          </a:solidFill>
                          <a:latin typeface="微軟正黑體"/>
                        </a:defRPr>
                      </a:pPr>
                      <a:r>
                        <a:t>遠見天下大樓</a:t>
                      </a:r>
                    </a:p>
                  </a:txBody>
                  <a:tcPr>
                    <a:solidFill>
                      <a:srgbClr val="FFFFFF"/>
                    </a:solidFill>
                  </a:tcPr>
                </a:tc>
                <a:tc>
                  <a:txBody>
                    <a:bodyPr/>
                    <a:lstStyle/>
                    <a:p>
                      <a:pPr algn="ctr">
                        <a:defRPr sz="800">
                          <a:solidFill>
                            <a:srgbClr val="1E293B"/>
                          </a:solidFill>
                          <a:latin typeface="微軟正黑體"/>
                        </a:defRPr>
                      </a:pPr>
                      <a:r>
                        <a:t>298戶 / 31.7年</a:t>
                      </a:r>
                    </a:p>
                  </a:txBody>
                  <a:tcPr>
                    <a:solidFill>
                      <a:srgbClr val="FFFFFF"/>
                    </a:solidFill>
                  </a:tcPr>
                </a:tc>
                <a:tc>
                  <a:txBody>
                    <a:bodyPr/>
                    <a:lstStyle/>
                    <a:p>
                      <a:pPr algn="ctr">
                        <a:defRPr sz="800">
                          <a:solidFill>
                            <a:srgbClr val="1E293B"/>
                          </a:solidFill>
                          <a:latin typeface="微軟正黑體"/>
                        </a:defRPr>
                      </a:pPr>
                      <a:r>
                        <a:t>32.9萬 (113/12)</a:t>
                      </a:r>
                    </a:p>
                  </a:txBody>
                  <a:tcPr>
                    <a:solidFill>
                      <a:srgbClr val="FFFFFF"/>
                    </a:solidFill>
                  </a:tcPr>
                </a:tc>
                <a:tc>
                  <a:txBody>
                    <a:bodyPr/>
                    <a:lstStyle/>
                    <a:p>
                      <a:pPr algn="ctr">
                        <a:defRPr sz="800">
                          <a:solidFill>
                            <a:srgbClr val="1E293B"/>
                          </a:solidFill>
                          <a:latin typeface="微軟正黑體"/>
                        </a:defRPr>
                      </a:pPr>
                      <a:r>
                        <a:t>21.8萬 (115/05)</a:t>
                      </a:r>
                    </a:p>
                  </a:txBody>
                  <a:tcPr>
                    <a:solidFill>
                      <a:srgbClr val="FFFFFF"/>
                    </a:solidFill>
                  </a:tcPr>
                </a:tc>
                <a:tc>
                  <a:txBody>
                    <a:bodyPr/>
                    <a:lstStyle/>
                    <a:p>
                      <a:pPr algn="ctr">
                        <a:defRPr sz="800" b="1">
                          <a:solidFill>
                            <a:srgbClr val="C0392B"/>
                          </a:solidFill>
                          <a:latin typeface="微軟正黑體"/>
                        </a:defRPr>
                      </a:pPr>
                      <a:r>
                        <a:t>-33.7%</a:t>
                      </a:r>
                    </a:p>
                  </a:txBody>
                  <a:tcPr>
                    <a:solidFill>
                      <a:srgbClr val="FFFFFF"/>
                    </a:solidFill>
                  </a:tcPr>
                </a:tc>
                <a:tc>
                  <a:txBody>
                    <a:bodyPr/>
                    <a:lstStyle/>
                    <a:p>
                      <a:pPr algn="ctr">
                        <a:defRPr sz="800">
                          <a:solidFill>
                            <a:srgbClr val="1E293B"/>
                          </a:solidFill>
                          <a:latin typeface="微軟正黑體"/>
                        </a:defRPr>
                      </a:pPr>
                      <a:r>
                        <a:t>24.1 萬/坪</a:t>
                      </a:r>
                    </a:p>
                  </a:txBody>
                  <a:tcPr>
                    <a:solidFill>
                      <a:srgbClr val="FFFFFF"/>
                    </a:solidFill>
                  </a:tcPr>
                </a:tc>
                <a:tc>
                  <a:txBody>
                    <a:bodyPr/>
                    <a:lstStyle/>
                    <a:p>
                      <a:pPr algn="ctr">
                        <a:defRPr sz="800" b="1">
                          <a:solidFill>
                            <a:srgbClr val="C0392B"/>
                          </a:solidFill>
                          <a:latin typeface="微軟正黑體"/>
                        </a:defRPr>
                      </a:pPr>
                      <a:r>
                        <a:t>-26.7%</a:t>
                      </a:r>
                    </a:p>
                  </a:txBody>
                  <a:tcPr>
                    <a:solidFill>
                      <a:srgbClr val="FFFFFF"/>
                    </a:solidFill>
                  </a:tcPr>
                </a:tc>
                <a:tc>
                  <a:txBody>
                    <a:bodyPr/>
                    <a:lstStyle/>
                    <a:p>
                      <a:pPr algn="ctr">
                        <a:defRPr sz="800">
                          <a:solidFill>
                            <a:srgbClr val="1E293B"/>
                          </a:solidFill>
                          <a:latin typeface="微軟正黑體"/>
                        </a:defRPr>
                      </a:pPr>
                      <a:r>
                        <a:t>21.8 萬/坪</a:t>
                      </a:r>
                    </a:p>
                  </a:txBody>
                  <a:tcPr>
                    <a:solidFill>
                      <a:srgbClr val="FFFFFF"/>
                    </a:solidFill>
                  </a:tcPr>
                </a:tc>
                <a:tc>
                  <a:txBody>
                    <a:bodyPr/>
                    <a:lstStyle/>
                    <a:p>
                      <a:pPr algn="ctr">
                        <a:defRPr sz="800">
                          <a:solidFill>
                            <a:srgbClr val="1E293B"/>
                          </a:solidFill>
                          <a:latin typeface="微軟正黑體"/>
                        </a:defRPr>
                      </a:pPr>
                      <a:r>
                        <a:t>20.0 萬/坪</a:t>
                      </a:r>
                    </a:p>
                  </a:txBody>
                  <a:tcPr>
                    <a:solidFill>
                      <a:srgbClr val="FFFFFF"/>
                    </a:solidFill>
                  </a:tcPr>
                </a:tc>
                <a:tc>
                  <a:txBody>
                    <a:bodyPr/>
                    <a:lstStyle/>
                    <a:p>
                      <a:pPr algn="ctr">
                        <a:defRPr sz="800">
                          <a:solidFill>
                            <a:srgbClr val="1E293B"/>
                          </a:solidFill>
                          <a:latin typeface="微軟正黑體"/>
                        </a:defRPr>
                      </a:pPr>
                      <a:r>
                        <a:t>19.2 萬/坪</a:t>
                      </a:r>
                    </a:p>
                  </a:txBody>
                  <a:tcPr>
                    <a:solidFill>
                      <a:srgbClr val="FFFFFF"/>
                    </a:solidFill>
                  </a:tcPr>
                </a:tc>
                <a:tc>
                  <a:txBody>
                    <a:bodyPr/>
                    <a:lstStyle/>
                    <a:p>
                      <a:pPr algn="ctr">
                        <a:defRPr sz="800" b="1">
                          <a:solidFill>
                            <a:srgbClr val="C0392B"/>
                          </a:solidFill>
                          <a:latin typeface="微軟正黑體"/>
                        </a:defRPr>
                      </a:pPr>
                      <a:r>
                        <a:t>-20.3%</a:t>
                      </a:r>
                    </a:p>
                  </a:txBody>
                  <a:tcPr>
                    <a:solidFill>
                      <a:srgbClr val="FFFFFF"/>
                    </a:solidFill>
                  </a:tcPr>
                </a:tc>
              </a:tr>
              <a:tr h="382385">
                <a:tc>
                  <a:txBody>
                    <a:bodyPr/>
                    <a:lstStyle/>
                    <a:p>
                      <a:pPr algn="ctr">
                        <a:defRPr sz="800" b="1">
                          <a:solidFill>
                            <a:srgbClr val="1E293B"/>
                          </a:solidFill>
                          <a:latin typeface="微軟正黑體"/>
                        </a:defRPr>
                      </a:pPr>
                      <a:r>
                        <a:t>長億南園</a:t>
                      </a:r>
                    </a:p>
                  </a:txBody>
                  <a:tcPr>
                    <a:solidFill>
                      <a:srgbClr val="F8FAFC"/>
                    </a:solidFill>
                  </a:tcPr>
                </a:tc>
                <a:tc>
                  <a:txBody>
                    <a:bodyPr/>
                    <a:lstStyle/>
                    <a:p>
                      <a:pPr algn="ctr">
                        <a:defRPr sz="800">
                          <a:solidFill>
                            <a:srgbClr val="1E293B"/>
                          </a:solidFill>
                          <a:latin typeface="微軟正黑體"/>
                        </a:defRPr>
                      </a:pPr>
                      <a:r>
                        <a:t>250戶 / 34.6年</a:t>
                      </a:r>
                    </a:p>
                  </a:txBody>
                  <a:tcPr>
                    <a:solidFill>
                      <a:srgbClr val="F8FAFC"/>
                    </a:solidFill>
                  </a:tcPr>
                </a:tc>
                <a:tc>
                  <a:txBody>
                    <a:bodyPr/>
                    <a:lstStyle/>
                    <a:p>
                      <a:pPr algn="ctr">
                        <a:defRPr sz="800">
                          <a:solidFill>
                            <a:srgbClr val="1E293B"/>
                          </a:solidFill>
                          <a:latin typeface="微軟正黑體"/>
                        </a:defRPr>
                      </a:pPr>
                      <a:r>
                        <a:t>31.4萬 (113/02)</a:t>
                      </a:r>
                    </a:p>
                  </a:txBody>
                  <a:tcPr>
                    <a:solidFill>
                      <a:srgbClr val="F8FAFC"/>
                    </a:solidFill>
                  </a:tcPr>
                </a:tc>
                <a:tc>
                  <a:txBody>
                    <a:bodyPr/>
                    <a:lstStyle/>
                    <a:p>
                      <a:pPr algn="ctr">
                        <a:defRPr sz="800">
                          <a:solidFill>
                            <a:srgbClr val="1E293B"/>
                          </a:solidFill>
                          <a:latin typeface="微軟正黑體"/>
                        </a:defRPr>
                      </a:pPr>
                      <a:r>
                        <a:t>22.1萬 (115/09)</a:t>
                      </a:r>
                    </a:p>
                  </a:txBody>
                  <a:tcPr>
                    <a:solidFill>
                      <a:srgbClr val="F8FAFC"/>
                    </a:solidFill>
                  </a:tcPr>
                </a:tc>
                <a:tc>
                  <a:txBody>
                    <a:bodyPr/>
                    <a:lstStyle/>
                    <a:p>
                      <a:pPr algn="ctr">
                        <a:defRPr sz="800" b="1">
                          <a:solidFill>
                            <a:srgbClr val="C0392B"/>
                          </a:solidFill>
                          <a:latin typeface="微軟正黑體"/>
                        </a:defRPr>
                      </a:pPr>
                      <a:r>
                        <a:t>-29.6%</a:t>
                      </a:r>
                    </a:p>
                  </a:txBody>
                  <a:tcPr>
                    <a:solidFill>
                      <a:srgbClr val="F8FAFC"/>
                    </a:solidFill>
                  </a:tcPr>
                </a:tc>
                <a:tc>
                  <a:txBody>
                    <a:bodyPr/>
                    <a:lstStyle/>
                    <a:p>
                      <a:pPr algn="ctr">
                        <a:defRPr sz="800">
                          <a:solidFill>
                            <a:srgbClr val="1E293B"/>
                          </a:solidFill>
                          <a:latin typeface="微軟正黑體"/>
                        </a:defRPr>
                      </a:pPr>
                      <a:r>
                        <a:t>22.6 萬/坪</a:t>
                      </a:r>
                    </a:p>
                  </a:txBody>
                  <a:tcPr>
                    <a:solidFill>
                      <a:srgbClr val="F8FAFC"/>
                    </a:solidFill>
                  </a:tcPr>
                </a:tc>
                <a:tc>
                  <a:txBody>
                    <a:bodyPr/>
                    <a:lstStyle/>
                    <a:p>
                      <a:pPr algn="ctr">
                        <a:defRPr sz="800" b="1">
                          <a:solidFill>
                            <a:srgbClr val="C0392B"/>
                          </a:solidFill>
                          <a:latin typeface="微軟正黑體"/>
                        </a:defRPr>
                      </a:pPr>
                      <a:r>
                        <a:t>-28.0%</a:t>
                      </a:r>
                    </a:p>
                  </a:txBody>
                  <a:tcPr>
                    <a:solidFill>
                      <a:srgbClr val="F8FAFC"/>
                    </a:solidFill>
                  </a:tcPr>
                </a:tc>
                <a:tc>
                  <a:txBody>
                    <a:bodyPr/>
                    <a:lstStyle/>
                    <a:p>
                      <a:pPr algn="ctr">
                        <a:defRPr sz="800">
                          <a:solidFill>
                            <a:srgbClr val="1E293B"/>
                          </a:solidFill>
                          <a:latin typeface="微軟正黑體"/>
                        </a:defRPr>
                      </a:pPr>
                      <a:r>
                        <a:t>20.4 萬/坪</a:t>
                      </a:r>
                    </a:p>
                  </a:txBody>
                  <a:tcPr>
                    <a:solidFill>
                      <a:srgbClr val="F8FAFC"/>
                    </a:solidFill>
                  </a:tcPr>
                </a:tc>
                <a:tc>
                  <a:txBody>
                    <a:bodyPr/>
                    <a:lstStyle/>
                    <a:p>
                      <a:pPr algn="ctr">
                        <a:defRPr sz="800">
                          <a:solidFill>
                            <a:srgbClr val="1E293B"/>
                          </a:solidFill>
                          <a:latin typeface="微軟正黑體"/>
                        </a:defRPr>
                      </a:pPr>
                      <a:r>
                        <a:t>18.5 萬/坪</a:t>
                      </a:r>
                    </a:p>
                  </a:txBody>
                  <a:tcPr>
                    <a:solidFill>
                      <a:srgbClr val="F8FAFC"/>
                    </a:solidFill>
                  </a:tcPr>
                </a:tc>
                <a:tc>
                  <a:txBody>
                    <a:bodyPr/>
                    <a:lstStyle/>
                    <a:p>
                      <a:pPr algn="ctr">
                        <a:defRPr sz="800">
                          <a:solidFill>
                            <a:srgbClr val="1E293B"/>
                          </a:solidFill>
                          <a:latin typeface="微軟正黑體"/>
                        </a:defRPr>
                      </a:pPr>
                      <a:r>
                        <a:t>17.9 萬/坪</a:t>
                      </a:r>
                    </a:p>
                  </a:txBody>
                  <a:tcPr>
                    <a:solidFill>
                      <a:srgbClr val="F8FAFC"/>
                    </a:solidFill>
                  </a:tcPr>
                </a:tc>
                <a:tc>
                  <a:txBody>
                    <a:bodyPr/>
                    <a:lstStyle/>
                    <a:p>
                      <a:pPr algn="ctr">
                        <a:defRPr sz="800" b="1">
                          <a:solidFill>
                            <a:srgbClr val="C0392B"/>
                          </a:solidFill>
                          <a:latin typeface="微軟正黑體"/>
                        </a:defRPr>
                      </a:pPr>
                      <a:r>
                        <a:t>-20.8%</a:t>
                      </a:r>
                    </a:p>
                  </a:txBody>
                  <a:tcPr>
                    <a:solidFill>
                      <a:srgbClr val="F8FAFC"/>
                    </a:solidFill>
                  </a:tcPr>
                </a:tc>
              </a:tr>
              <a:tr h="382390">
                <a:tc>
                  <a:txBody>
                    <a:bodyPr/>
                    <a:lstStyle/>
                    <a:p>
                      <a:pPr algn="ctr">
                        <a:defRPr sz="800" b="1">
                          <a:solidFill>
                            <a:srgbClr val="1E293B"/>
                          </a:solidFill>
                          <a:latin typeface="微軟正黑體"/>
                        </a:defRPr>
                      </a:pPr>
                      <a:r>
                        <a:t>大墩人文</a:t>
                      </a:r>
                    </a:p>
                  </a:txBody>
                  <a:tcPr>
                    <a:solidFill>
                      <a:srgbClr val="FFFFFF"/>
                    </a:solidFill>
                  </a:tcPr>
                </a:tc>
                <a:tc>
                  <a:txBody>
                    <a:bodyPr/>
                    <a:lstStyle/>
                    <a:p>
                      <a:pPr algn="ctr">
                        <a:defRPr sz="800">
                          <a:solidFill>
                            <a:srgbClr val="1E293B"/>
                          </a:solidFill>
                          <a:latin typeface="微軟正黑體"/>
                        </a:defRPr>
                      </a:pPr>
                      <a:r>
                        <a:t>188戶 / 33.9年</a:t>
                      </a:r>
                    </a:p>
                  </a:txBody>
                  <a:tcPr>
                    <a:solidFill>
                      <a:srgbClr val="FFFFFF"/>
                    </a:solidFill>
                  </a:tcPr>
                </a:tc>
                <a:tc>
                  <a:txBody>
                    <a:bodyPr/>
                    <a:lstStyle/>
                    <a:p>
                      <a:pPr algn="ctr">
                        <a:defRPr sz="800">
                          <a:solidFill>
                            <a:srgbClr val="1E293B"/>
                          </a:solidFill>
                          <a:latin typeface="微軟正黑體"/>
                        </a:defRPr>
                      </a:pPr>
                      <a:r>
                        <a:t>30.3萬 (114/03)</a:t>
                      </a:r>
                    </a:p>
                  </a:txBody>
                  <a:tcPr>
                    <a:solidFill>
                      <a:srgbClr val="FFFFFF"/>
                    </a:solidFill>
                  </a:tcPr>
                </a:tc>
                <a:tc>
                  <a:txBody>
                    <a:bodyPr/>
                    <a:lstStyle/>
                    <a:p>
                      <a:pPr algn="ctr">
                        <a:defRPr sz="800">
                          <a:solidFill>
                            <a:srgbClr val="1E293B"/>
                          </a:solidFill>
                          <a:latin typeface="微軟正黑體"/>
                        </a:defRPr>
                      </a:pPr>
                      <a:r>
                        <a:t>29.9萬 (114/12)*</a:t>
                      </a:r>
                    </a:p>
                  </a:txBody>
                  <a:tcPr>
                    <a:solidFill>
                      <a:srgbClr val="FFFFFF"/>
                    </a:solidFill>
                  </a:tcPr>
                </a:tc>
                <a:tc>
                  <a:txBody>
                    <a:bodyPr/>
                    <a:lstStyle/>
                    <a:p>
                      <a:pPr algn="ctr">
                        <a:defRPr sz="800" b="1">
                          <a:solidFill>
                            <a:srgbClr val="C0392B"/>
                          </a:solidFill>
                          <a:latin typeface="微軟正黑體"/>
                        </a:defRPr>
                      </a:pPr>
                      <a:r>
                        <a:t>-1.3%*</a:t>
                      </a:r>
                    </a:p>
                  </a:txBody>
                  <a:tcPr>
                    <a:solidFill>
                      <a:srgbClr val="FFFFFF"/>
                    </a:solidFill>
                  </a:tcPr>
                </a:tc>
                <a:tc>
                  <a:txBody>
                    <a:bodyPr/>
                    <a:lstStyle/>
                    <a:p>
                      <a:pPr algn="ctr">
                        <a:defRPr sz="800">
                          <a:solidFill>
                            <a:srgbClr val="1E293B"/>
                          </a:solidFill>
                          <a:latin typeface="微軟正黑體"/>
                        </a:defRPr>
                      </a:pPr>
                      <a:r>
                        <a:t>—*</a:t>
                      </a:r>
                    </a:p>
                  </a:txBody>
                  <a:tcPr>
                    <a:solidFill>
                      <a:srgbClr val="FFFFFF"/>
                    </a:solidFill>
                  </a:tcPr>
                </a:tc>
                <a:tc>
                  <a:txBody>
                    <a:bodyPr/>
                    <a:lstStyle/>
                    <a:p>
                      <a:pPr algn="ctr">
                        <a:defRPr sz="800" b="1">
                          <a:solidFill>
                            <a:srgbClr val="C0392B"/>
                          </a:solidFill>
                          <a:latin typeface="微軟正黑體"/>
                        </a:defRPr>
                      </a:pPr>
                      <a:r>
                        <a:t>—*</a:t>
                      </a:r>
                    </a:p>
                  </a:txBody>
                  <a:tcPr>
                    <a:solidFill>
                      <a:srgbClr val="FFFFFF"/>
                    </a:solidFill>
                  </a:tcPr>
                </a:tc>
                <a:tc>
                  <a:txBody>
                    <a:bodyPr/>
                    <a:lstStyle/>
                    <a:p>
                      <a:pPr algn="ctr">
                        <a:defRPr sz="800">
                          <a:solidFill>
                            <a:srgbClr val="1E293B"/>
                          </a:solidFill>
                          <a:latin typeface="微軟正黑體"/>
                        </a:defRPr>
                      </a:pPr>
                      <a:r>
                        <a:t>26.0 萬/坪</a:t>
                      </a:r>
                    </a:p>
                  </a:txBody>
                  <a:tcPr>
                    <a:solidFill>
                      <a:srgbClr val="FFFFFF"/>
                    </a:solidFill>
                  </a:tcPr>
                </a:tc>
                <a:tc>
                  <a:txBody>
                    <a:bodyPr/>
                    <a:lstStyle/>
                    <a:p>
                      <a:pPr algn="ctr">
                        <a:defRPr sz="800">
                          <a:solidFill>
                            <a:srgbClr val="1E293B"/>
                          </a:solidFill>
                          <a:latin typeface="微軟正黑體"/>
                        </a:defRPr>
                      </a:pPr>
                      <a:r>
                        <a:t>23.6 萬/坪</a:t>
                      </a:r>
                    </a:p>
                  </a:txBody>
                  <a:tcPr>
                    <a:solidFill>
                      <a:srgbClr val="FFFFFF"/>
                    </a:solidFill>
                  </a:tcPr>
                </a:tc>
                <a:tc>
                  <a:txBody>
                    <a:bodyPr/>
                    <a:lstStyle/>
                    <a:p>
                      <a:pPr algn="ctr">
                        <a:defRPr sz="800">
                          <a:solidFill>
                            <a:srgbClr val="1E293B"/>
                          </a:solidFill>
                          <a:latin typeface="微軟正黑體"/>
                        </a:defRPr>
                      </a:pPr>
                      <a:r>
                        <a:t>22.8 萬/坪</a:t>
                      </a:r>
                    </a:p>
                  </a:txBody>
                  <a:tcPr>
                    <a:solidFill>
                      <a:srgbClr val="FFFFFF"/>
                    </a:solidFill>
                  </a:tcPr>
                </a:tc>
                <a:tc>
                  <a:txBody>
                    <a:bodyPr/>
                    <a:lstStyle/>
                    <a:p>
                      <a:pPr algn="ctr">
                        <a:defRPr sz="800" b="1">
                          <a:solidFill>
                            <a:srgbClr val="C0392B"/>
                          </a:solidFill>
                          <a:latin typeface="微軟正黑體"/>
                        </a:defRPr>
                      </a:pPr>
                      <a:r>
                        <a:t>-20.6%</a:t>
                      </a:r>
                    </a:p>
                  </a:txBody>
                  <a:tcPr>
                    <a:solidFill>
                      <a:srgbClr val="FFFFFF"/>
                    </a:solidFill>
                  </a:tcPr>
                </a:tc>
              </a:tr>
            </a:tbl>
          </a:graphicData>
        </a:graphic>
      </p:graphicFrame>
      <p:sp>
        <p:nvSpPr>
          <p:cNvPr id="7" name="Rounded Rectangle 6"/>
          <p:cNvSpPr/>
          <p:nvPr/>
        </p:nvSpPr>
        <p:spPr>
          <a:xfrm>
            <a:off x="731520" y="5715000"/>
            <a:ext cx="10728655" cy="822960"/>
          </a:xfrm>
          <a:prstGeom prst="roundRect">
            <a:avLst/>
          </a:prstGeom>
          <a:solidFill>
            <a:srgbClr val="FEF2F2"/>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60720"/>
            <a:ext cx="10362895" cy="731520"/>
          </a:xfrm>
          <a:prstGeom prst="rect">
            <a:avLst/>
          </a:prstGeom>
          <a:noFill/>
        </p:spPr>
        <p:txBody>
          <a:bodyPr wrap="square">
            <a:spAutoFit/>
          </a:bodyPr>
          <a:lstStyle/>
          <a:p>
            <a:pPr>
              <a:defRPr sz="950" b="1">
                <a:solidFill>
                  <a:srgbClr val="C0392B"/>
                </a:solidFill>
                <a:latin typeface="微軟正黑體"/>
              </a:defRPr>
            </a:pPr>
            <a:r>
              <a:t>💡 數據洞察：十大指標案由計量經濟模型測算，受大盤量縮 76.4% 與老屋限貸影響，116～117 年面臨顯著下修動能；至 118 年隨價格靠攏 106～109 年長期價值支撐帶，下行斜率趨緩。工學天下(19.6萬)、文心及第(18.9萬)、綠灣大樓(16.8萬)等已率先摜破 2 字頭定錨！</a:t>
            </a:r>
            <a:br/>
            <a:r>
              <a:t>*註：大墩人文 115 年在央行管制下量縮急凍暫無實登成交，最新實登成交為 114 年 12 月 29.9 萬/坪（距歷史高點 30.3 萬跌幅 1.3%），115 均價及均價跌幅以『—*』標示。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#01【賺錢時代】（2077戶・屋齡29.5年）實登走勢與後續三年動態預估</a:t>
            </a:r>
          </a:p>
        </p:txBody>
      </p:sp>
      <p:pic>
        <p:nvPicPr>
          <p:cNvPr id="6" name="Picture 5" descr="01_賺錢時代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#01 賺錢時代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34.0 萬/坪（113年11月）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23.1 萬/坪（115年8月，距高點跌 -32.1%）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23.7萬 ➜ 115年 24.1萬 (均價跌 -29.0%)</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21.5萬 (-10.9%)</a:t>
            </a:r>
            <a:br/>
            <a:r>
              <a:t>117年 19.1萬 (-11.1%)</a:t>
            </a:r>
            <a:br/>
            <a:r>
              <a:t>118年 18.4萬 (三年累計 -23.7%)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12.9～14.7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千戶超大規模社區（總戶數 2077 戶），屋齡約 29.5 年。實登自 113年11月 歷史高點 34.0 萬震盪回修，115年8月 最新成交落至 23.1 萬/坪（回跌 -32.1%）。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21.5 萬，117 年跌至 19.1 萬，118 年收斂於 18.4 萬（三年累計修正 -23.7%），理性回測長期價值支撐帶（12.9～14.7 萬/坪）。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#02【廣三大時代大廈】（1214戶・屋齡28.0年）實登走勢與後續三年動態預估</a:t>
            </a:r>
          </a:p>
        </p:txBody>
      </p:sp>
      <p:pic>
        <p:nvPicPr>
          <p:cNvPr id="6" name="Picture 5" descr="02_廣三大時代大廈_成交行情走勢圖.png"/>
          <p:cNvPicPr>
            <a:picLocks noChangeAspect="1"/>
          </p:cNvPicPr>
          <p:nvPr/>
        </p:nvPicPr>
        <p:blipFill>
          <a:blip r:embed="rId2"/>
          <a:stretch>
            <a:fillRect/>
          </a:stretch>
        </p:blipFill>
        <p:spPr>
          <a:xfrm>
            <a:off x="731520" y="1371600"/>
            <a:ext cx="6583680" cy="4564834"/>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#02 廣三大時代大廈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34.1 萬/坪（113年12月）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23.0 萬/坪（115年8月，距高點跌 -32.6%）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26.2萬 ➜ 115年 24.0萬 (均價跌 -29.6%)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21.4萬 (-10.7%)</a:t>
            </a:r>
            <a:br/>
            <a:r>
              <a:t>117年 19.1萬 (-10.7%)</a:t>
            </a:r>
            <a:br/>
            <a:r>
              <a:t>118年 18.5萬 (三年累計 -22.9%)</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14.1～16.5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千戶超大規模社區（總戶數 1214 戶），屋齡約 28.0 年。實登自 113年12月 歷史高點 34.1 萬震盪回修，115年8月 最新成交落至 23.0 萬/坪（回跌 -32.6%）。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21.4 萬，117 年跌至 19.1 萬，118 年收斂於 18.5 萬（三年累計修正 -22.9%），理性回測長期價值支撐帶（14.1～16.5 萬/坪）。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#03【長億城攬翠區陽光區】（669戶・屋齡30.9年）實登走勢與後續三年動態預估</a:t>
            </a:r>
          </a:p>
        </p:txBody>
      </p:sp>
      <p:pic>
        <p:nvPicPr>
          <p:cNvPr id="6" name="Picture 5" descr="03_長億城攬翠區陽光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#03 長億城攬翠區陽光區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29.5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26.9 萬/坪（115年6月，距高點跌 -8.8%）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26.2萬 ➜ 115年 22.9萬 (均價跌 -22.3%)</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20.4萬 (-10.9%)</a:t>
            </a:r>
            <a:br/>
            <a:r>
              <a:t>117年 18.2萬 (-10.6%)</a:t>
            </a:r>
            <a:br/>
            <a:r>
              <a:t>118年 17.6萬 (三年累計 -23.1%)</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13.9～16.2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669 戶），屋齡約 30.9 年。實登自 113年6月 歷史高點 29.5 萬震盪回修，115年6月 最新成交落至 26.9 萬/坪（回跌 -8.8%）。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20.4 萬，117 年跌至 18.2 萬，118 年收斂於 17.6 萬（三年累計修正 -23.1%），理性回測長期價值支撐帶（13.9～16.2 萬/坪）。</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#04【長億城香榭區綠茵區】（572戶・屋齡29.0年）實登走勢與後續三年動態預估</a:t>
            </a:r>
          </a:p>
        </p:txBody>
      </p:sp>
      <p:pic>
        <p:nvPicPr>
          <p:cNvPr id="6" name="Picture 5" descr="04_長億城香榭區綠茵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#04 長億城香榭區綠茵區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33.2 萬/坪（114年12月）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33.2 萬/坪（114年12月，115暫無成交，距高點跌 +0.0%*）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28.6萬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26.1萬 (-9.7%)</a:t>
            </a:r>
            <a:br/>
            <a:r>
              <a:t>117年 23.7萬 (-9.3%)</a:t>
            </a:r>
            <a:br/>
            <a:r>
              <a:t>118年 22.8萬 (三年累計 -21.1%)</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14.1～15.9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572 戶），屋齡約 29.0 年。115 年受央行第七波信用管制與買氣急凍影響，全年度尚無純住宅實登揭露；最新成交為 114年12月 的 33.2 萬/坪（距歷史高點 33.2 萬回跌 +0.0%*）。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26.1 萬，117 年跌至 23.7 萬，118 年收斂於 22.8 萬（三年累計修正 -21.1%），理性回測長期價值支撐帶（14.1～15.9 萬/坪）。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#05【文心大三元翡翠區】（558戶・屋齡31.4年）實登走勢與後續三年動態預估</a:t>
            </a:r>
          </a:p>
        </p:txBody>
      </p:sp>
      <p:pic>
        <p:nvPicPr>
          <p:cNvPr id="6" name="Picture 5" descr="05_文心大三元翡翠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#05 文心大三元翡翠區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27.1 萬/坪（115年4月）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27.1 萬/坪（115年4月，距高點跌 +0.0%）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0.0萬 ➜ 115年 25.8萬 (均價跌 -4.8%)</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23.7萬 (-8.2%)</a:t>
            </a:r>
            <a:br/>
            <a:r>
              <a:t>117年 21.8萬 (-7.9%)</a:t>
            </a:r>
            <a:br/>
            <a:r>
              <a:t>118年 21.0萬 (三年累計 -18.6%)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15.7～18.4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558 戶），屋齡約 31.4 年。實登自 115年4月 歷史高點 27.1 萬震盪回修，115年4月 最新成交落至 27.1 萬/坪（回跌 +0.0%）。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23.7 萬，117 年跌至 21.8 萬，118 年收斂於 21.0 萬（三年累計修正 -18.6%），理性回測長期價值支撐帶（15.7～18.4 萬/坪）。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#06【朋莊大樓】（462戶・屋齡31.5年）實登走勢與後續三年動態預估</a:t>
            </a:r>
          </a:p>
        </p:txBody>
      </p:sp>
      <p:pic>
        <p:nvPicPr>
          <p:cNvPr id="6" name="Picture 5" descr="06_朋莊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#06 朋莊大樓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29.0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29.0 萬/坪（113年6月，115暫無成交，距高點跌 +0.0%*）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29.0萬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26.6萬 (-8.2%)</a:t>
            </a:r>
            <a:br/>
            <a:r>
              <a:t>117年 24.6萬 (-7.5%)</a:t>
            </a:r>
            <a:br/>
            <a:r>
              <a:t>118年 23.3萬 (三年累計 -19.7%)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15.2～17.2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462 戶），屋齡約 31.5 年。115 年受央行第七波信用管制與買氣急凍影響，全年度尚無純住宅實登揭露；最新成交為 113年6月 的 29.0 萬/坪（距歷史高點 29.0 萬回跌 +0.0%*）。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26.6 萬，117 年跌至 24.6 萬，118 年收斂於 23.3 萬（三年累計修正 -19.7%），理性回測長期價值支撐帶（15.2～17.2 萬/坪）。</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#07【工學天下】（452戶・屋齡31.7年）實登走勢與後續三年動態預估</a:t>
            </a:r>
          </a:p>
        </p:txBody>
      </p:sp>
      <p:pic>
        <p:nvPicPr>
          <p:cNvPr id="6" name="Picture 5" descr="07_工學天下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#07 工學天下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29.0 萬/坪（113年7月）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19.6 萬/坪（115年6月，距高點跌 -32.4%）</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24.7萬 ➜ 115年 20.7萬 (均價跌 -28.6%)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18.6萬 (-10.1%)</a:t>
            </a:r>
            <a:br/>
            <a:r>
              <a:t>117年 16.9萬 (-9.2%)</a:t>
            </a:r>
            <a:br/>
            <a:r>
              <a:t>118年 16.3萬 (三年累計 -21.3%)</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13.6～15.7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452 戶），屋齡約 31.7 年。實登在 113年7月 見頂 29.0 萬後反轉回落，115年6月 最新成交更直接摜破 2 字頭下探至 19.6 萬/坪（重跌 -32.4%），破底定錨確立。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18.6 萬，117 年跌至 16.9 萬，118 年收斂於 16.3 萬（三年累計修正 -21.3%），理性回測長期價值支撐帶（13.6～15.7 萬/坪）。</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#08【京都特區】（420戶・屋齡30.3年）實登走勢與後續三年動態預估</a:t>
            </a:r>
          </a:p>
        </p:txBody>
      </p:sp>
      <p:pic>
        <p:nvPicPr>
          <p:cNvPr id="6" name="Picture 5" descr="08_京都特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#08 京都特區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31.0 萬/坪（113年9月）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26.0 萬/坪（115年9月，距高點跌 -16.1%）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25.1萬 ➜ 115年 25.8萬 (均價跌 -16.8%)</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23.4萬 (-9.3%)</a:t>
            </a:r>
            <a:br/>
            <a:r>
              <a:t>117年 21.1萬 (-9.6%)</a:t>
            </a:r>
            <a:br/>
            <a:r>
              <a:t>118年 20.5萬 (三年累計 -20.5%)</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13.6～15.8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420 戶），屋齡約 30.3 年。實登自 113年9月 歷史高點 31.0 萬震盪回修，115年9月 最新成交落至 26.0 萬/坪（回跌 -16.1%）。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23.4 萬，117 年跌至 21.1 萬，118 年收斂於 20.5 萬（三年累計修正 -20.5%），理性回測長期價值支撐帶（13.6～15.8 萬/坪）。</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#09【京華大鎮京國特區】（416戶・屋齡29.8年）實登走勢與後續三年動態預估</a:t>
            </a:r>
          </a:p>
        </p:txBody>
      </p:sp>
      <p:pic>
        <p:nvPicPr>
          <p:cNvPr id="6" name="Picture 5" descr="09_京華大鎮京國特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#09 京華大鎮京國特區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26.7 萬/坪（113年10月）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18.1 萬/坪（115年7月，距高點跌 -32.2%）</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23.5萬 ➜ 115年 21.3萬 (均價跌 -20.1%)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19.2萬 (-9.8%)</a:t>
            </a:r>
            <a:br/>
            <a:r>
              <a:t>117年 17.4萬 (-9.5%)</a:t>
            </a:r>
            <a:br/>
            <a:r>
              <a:t>118年 16.8萬 (三年累計 -21.1%)</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13.4～16.0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416 戶），屋齡約 29.8 年。實登在 113年10月 見頂 26.7 萬後反轉回落，115年7月 最新成交更直接摜破 2 字頭下探至 18.1 萬/坪（重跌 -32.2%），破底定錨確立。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19.2 萬，117 年跌至 17.4 萬，118 年收斂於 16.8 萬（三年累計修正 -21.1%），理性回測長期價值支撐帶（13.4～16.0 萬/坪）。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#10【德昌中華大樓】（409戶・屋齡32.2年）實登走勢與後續三年動態預估</a:t>
            </a:r>
          </a:p>
        </p:txBody>
      </p:sp>
      <p:pic>
        <p:nvPicPr>
          <p:cNvPr id="6" name="Picture 5" descr="10_德昌中華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#10 德昌中華大樓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29.2 萬/坪（113年7月）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20.0 萬/坪（115年3月，距高點跌 -31.5%）</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24.1萬 ➜ 115年 20.0萬 (均價跌 -31.5%)</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18.1萬 (-9.5%)</a:t>
            </a:r>
            <a:br/>
            <a:r>
              <a:t>117年 16.6萬 (-8.5%)</a:t>
            </a:r>
            <a:br/>
            <a:r>
              <a:t>118年 15.9萬 (三年累計 -20.5%)</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12.6～14.2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大型指標社區（總戶數 409 戶），屋齡約 32.2 年。實登自 113年7月 歷史高點 29.2 萬震盪回修，115年3月 最新成交落至 20.0 萬/坪（回跌 -31.5%）。</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18.1 萬，117 年跌至 16.6 萬，118 年收斂於 15.9 萬（三年累計修正 -20.5%），理性回測長期價值支撐帶（12.6～14.2 萬/坪）。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#11【京城特區】（388戶・屋齡29.0年）實登走勢與後續三年動態預估</a:t>
            </a:r>
          </a:p>
        </p:txBody>
      </p:sp>
      <p:pic>
        <p:nvPicPr>
          <p:cNvPr id="6" name="Picture 5" descr="11_京城特區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#11 京城特區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25.9 萬/坪（113年3月）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18.6 萬/坪（115年5月，距高點跌 -28.2%）</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22.4萬 ➜ 115年 20.9萬 (均價跌 -19.3%)</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18.9萬 (-9.6%)</a:t>
            </a:r>
            <a:br/>
            <a:r>
              <a:t>117年 17.2萬 (-8.9%)</a:t>
            </a:r>
            <a:br/>
            <a:r>
              <a:t>118年 16.6萬 (三年累計 -20.6%)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13.2～16.2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388 戶），屋齡約 29.0 年。實登在 113年3月 見頂 25.9 萬後反轉回落，115年5月 最新成交更直接摜破 2 字頭下探至 18.6 萬/坪（重跌 -28.2%），破底定錨確立。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18.9 萬，117 年跌至 17.2 萬，118 年收斂於 16.6 萬（三年累計修正 -20.6%），理性回測長期價值支撐帶（13.2～16.2 萬/坪）。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#12【大慶中山】（362戶・屋齡24.5年）實登走勢與後續三年動態預估</a:t>
            </a:r>
          </a:p>
        </p:txBody>
      </p:sp>
      <p:pic>
        <p:nvPicPr>
          <p:cNvPr id="6" name="Picture 5" descr="12_大慶中山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#12 大慶中山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27.0 萬/坪（113年11月）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22.7 萬/坪（115年5月，距高點跌 -15.9%）</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27.0萬 ➜ 115年 22.7萬 (均價跌 -15.9%)</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20.7萬 (-8.7%)</a:t>
            </a:r>
            <a:br/>
            <a:r>
              <a:t>117年 19.1萬 (-8.1%)</a:t>
            </a:r>
            <a:br/>
            <a:r>
              <a:t>118年 18.3萬 (三年累計 -19.4%)</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13.7～14.9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362 戶），屋齡約 24.5 年。實登自 113年11月 歷史高點 27.0 萬震盪回修，115年5月 最新成交落至 22.7 萬/坪（回跌 -15.9%）。</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20.7 萬，117 年跌至 19.1 萬，118 年收斂於 18.3 萬（三年累計修正 -19.4%），理性回測長期價值支撐帶（13.7～14.9 萬/坪）。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#13【順天完全社區】（344戶・屋齡25.1年）實登走勢與後續三年動態預估</a:t>
            </a:r>
          </a:p>
        </p:txBody>
      </p:sp>
      <p:pic>
        <p:nvPicPr>
          <p:cNvPr id="6" name="Picture 5" descr="13_順天完全社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#13 順天完全社區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38.2 萬/坪（114年3月）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30.0 萬/坪（115年8月，距高點跌 -21.5%）</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30.8萬 ➜ 115年 30.0萬 (均價跌 -21.5%)</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27.1萬 (-9.6%)</a:t>
            </a:r>
            <a:br/>
            <a:r>
              <a:t>117年 24.6萬 (-9.3%)</a:t>
            </a:r>
            <a:br/>
            <a:r>
              <a:t>118年 23.8萬 (三年累計 -20.7%)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17.6～20.2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344 戶），屋齡約 25.1 年。實登自 114年3月 歷史高點 38.2 萬震盪回修，115年8月 最新成交落至 30.0 萬/坪（回跌 -21.5%）。</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27.1 萬，117 年跌至 24.6 萬，118 年收斂於 23.8 萬（三年累計修正 -20.7%），理性回測長期價值支撐帶（17.6～20.2 萬/坪）。</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#14【廣三大帝國】（323戶・屋齡31.2年）實登走勢與後續三年動態預估</a:t>
            </a:r>
          </a:p>
        </p:txBody>
      </p:sp>
      <p:pic>
        <p:nvPicPr>
          <p:cNvPr id="6" name="Picture 5" descr="14_廣三大帝國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#14 廣三大帝國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28.4 萬/坪（113年8月）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24.5 萬/坪（115年4月，距高點跌 -13.7%）</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27.2萬 ➜ 115年 24.5萬 (均價跌 -13.7%)</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22.3萬 (-8.8%)</a:t>
            </a:r>
            <a:br/>
            <a:r>
              <a:t>117年 20.5萬 (-8.1%)</a:t>
            </a:r>
            <a:br/>
            <a:r>
              <a:t>118年 19.7萬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13.2～16.5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323 戶），屋齡約 31.2 年。實登自 113年8月 歷史高點 28.4 萬震盪回修，115年4月 最新成交落至 24.5 萬/坪（回跌 -13.7%）。</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22.3 萬，117 年跌至 20.5 萬，118 年收斂於 19.7 萬（三年累計修正 -19.6%），理性回測長期價值支撐帶（13.2～16.5 萬/坪）。</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#15【龍邦綠園道】（322戶・屋齡33.4年）實登走勢與後續三年動態預估</a:t>
            </a:r>
          </a:p>
        </p:txBody>
      </p:sp>
      <p:pic>
        <p:nvPicPr>
          <p:cNvPr id="6" name="Picture 5" descr="15_龍邦綠園道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#15 龍邦綠園道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28.5 萬/坪（114年2月）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23.6 萬/坪（115年8月，距高點跌 -17.2%）</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26.5萬 ➜ 115年 21.3萬 (均價跌 -25.2%)</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19.2萬 (-9.8%)</a:t>
            </a:r>
            <a:br/>
            <a:r>
              <a:t>117年 17.4萬 (-9.2%)</a:t>
            </a:r>
            <a:br/>
            <a:r>
              <a:t>118年 16.9萬 (三年累計 -20.7%)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14.2～17.5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322 戶），屋齡約 33.4 年。實登自 114年2月 歷史高點 28.5 萬震盪回修，115年8月 最新成交落至 23.6 萬/坪（回跌 -17.2%）。</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19.2 萬，117 年跌至 17.4 萬，118 年收斂於 16.9 萬（三年累計修正 -20.7%），理性回測長期價值支撐帶（14.2～17.5 萬/坪）。</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#16【望族二期】（314戶・屋齡32.9年）實登走勢與後續三年動態預估</a:t>
            </a:r>
          </a:p>
        </p:txBody>
      </p:sp>
      <p:pic>
        <p:nvPicPr>
          <p:cNvPr id="6" name="Picture 5" descr="16_望族二期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#16 望族二期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34.0 萬/坪（113年12月）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23.6 萬/坪（115年8月，距高點跌 -30.6%）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30.6萬 ➜ 115年 25.2萬 (均價跌 -26.0%)</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22.8萬 (-9.6%)</a:t>
            </a:r>
            <a:br/>
            <a:r>
              <a:t>117年 20.7萬 (-9.2%)</a:t>
            </a:r>
            <a:br/>
            <a:r>
              <a:t>118年 20.0萬 (三年累計 -20.6%)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16.0～18.1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314 戶），屋齡約 32.9 年。實登自 113年12月 歷史高點 34.0 萬震盪回修，115年8月 最新成交落至 23.6 萬/坪（回跌 -30.6%）。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22.8 萬，117 年跌至 20.7 萬，118 年收斂於 20.0 萬（三年累計修正 -20.6%），理性回測長期價值支撐帶（16.0～18.1 萬/坪）。</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#17【比佛利山莊】（309戶・屋齡33.9年）實登走勢與後續三年動態預估</a:t>
            </a:r>
          </a:p>
        </p:txBody>
      </p:sp>
      <p:pic>
        <p:nvPicPr>
          <p:cNvPr id="6" name="Picture 5" descr="17_比佛利山莊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#17 比佛利山莊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36.4 萬/坪（113年8月）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20.4 萬/坪（115年3月，距高點跌 -44.0%）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27.8萬 ➜ 115年 28.2萬 (均價跌 -22.4%)</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25.3萬 (-10.3%)</a:t>
            </a:r>
            <a:br/>
            <a:r>
              <a:t>117年 22.8萬 (-9.9%)</a:t>
            </a:r>
            <a:br/>
            <a:r>
              <a:t>118年 22.0萬 (三年累計 -22.0%)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13.5～16.0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309 戶），屋齡約 33.9 年。實登自 113年8月 歷史高點 36.4 萬震盪回修，115年3月 最新成交落至 20.4 萬/坪（回跌 -44.0%）。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25.3 萬，117 年跌至 22.8 萬，118 年收斂於 22.0 萬（三年累計修正 -22.0%），理性回測長期價值支撐帶（13.5～16.0 萬/坪）。</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#18【大安黃金城大廈】（307戶・屋齡32.2年）實登走勢與後續三年動態預估</a:t>
            </a:r>
          </a:p>
        </p:txBody>
      </p:sp>
      <p:pic>
        <p:nvPicPr>
          <p:cNvPr id="6" name="Picture 5" descr="18_大安黃金城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#18 大安黃金城大廈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34.3 萬/坪（114年4月）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25.2 萬/坪（115年6月，距高點跌 -26.5%）</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27.1萬 ➜ 115年 23.7萬 (均價跌 -31.0%)</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21.3萬 (-10.1%)</a:t>
            </a:r>
            <a:br/>
            <a:r>
              <a:t>117年 19.2萬 (-9.7%)</a:t>
            </a:r>
            <a:br/>
            <a:r>
              <a:t>118年 18.6萬 (三年累計 -21.5%)</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13.9～16.9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307 戶），屋齡約 32.2 年。實登自 114年4月 歷史高點 34.3 萬震盪回修，115年6月 最新成交落至 25.2 萬/坪（回跌 -26.5%）。</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21.3 萬，117 年跌至 19.2 萬，118 年收斂於 18.6 萬（三年累計修正 -21.5%），理性回測長期價值支撐帶（13.9～16.9 萬/坪）。</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#19【遠見天下大樓】（298戶・屋齡31.7年）實登走勢與後續三年動態預估</a:t>
            </a:r>
          </a:p>
        </p:txBody>
      </p:sp>
      <p:pic>
        <p:nvPicPr>
          <p:cNvPr id="6" name="Picture 5" descr="19_遠見天下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#19 遠見天下大樓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32.9 萬/坪（113年12月）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21.8 萬/坪（115年5月，距高點跌 -33.7%）</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27.5萬 ➜ 115年 24.1萬 (均價跌 -26.7%)</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21.8萬 (-9.4%)</a:t>
            </a:r>
            <a:br/>
            <a:r>
              <a:t>117年 20.0萬 (-8.6%)</a:t>
            </a:r>
            <a:br/>
            <a:r>
              <a:t>118年 19.2萬 (三年累計 -20.3%)</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13.7～15.9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298 戶），屋齡約 31.7 年。實登自 113年12月 歷史高點 32.9 萬震盪回修，115年5月 最新成交落至 21.8 萬/坪（回跌 -33.7%）。</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21.8 萬，117 年跌至 20.0 萬，118 年收斂於 19.2 萬（三年累計修正 -20.3%），理性回測長期價值支撐帶（13.7～15.9 萬/坪）。</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#20【公園苑】（285戶・屋齡26.4年）實登走勢與後續三年動態預估</a:t>
            </a:r>
          </a:p>
        </p:txBody>
      </p:sp>
      <p:pic>
        <p:nvPicPr>
          <p:cNvPr id="6" name="Picture 5" descr="20_公園苑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#20 公園苑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34.8 萬/坪（113年12月）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30.0 萬/坪（114年12月，115暫無成交，距高點跌 -13.8%*）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31.3萬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27.8萬 (-9.0%)</a:t>
            </a:r>
            <a:br/>
            <a:r>
              <a:t>117年 25.5萬 (-8.5%)</a:t>
            </a:r>
            <a:br/>
            <a:r>
              <a:t>118年 24.5萬 (三年累計 -19.9%)</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18.2～20.4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285 戶），屋齡約 26.4 年。115 年受央行第七波信用管制與買氣急凍影響，全年度尚無純住宅實登揭露；最新成交為 114年12月 的 30.0 萬/坪（距歷史高點 34.8 萬回跌 -13.8%*）。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27.8 萬，117 年跌至 25.5 萬，118 年收斂於 24.5 萬（三年累計修正 -19.9%），理性回測長期價值支撐帶（18.2～20.4 萬/坪）。</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#21【大東家樸園】（285戶・屋齡31.8年）實登走勢與後續三年動態預估</a:t>
            </a:r>
          </a:p>
        </p:txBody>
      </p:sp>
      <p:pic>
        <p:nvPicPr>
          <p:cNvPr id="6" name="Picture 5" descr="21_大東家樸園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#21 大東家樸園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35.8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31.2 萬/坪（115年8月，距高點跌 -12.8%）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28.9萬 ➜ 115年 27.2萬 (均價跌 -24.1%)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24.6萬 (-9.7%)</a:t>
            </a:r>
            <a:br/>
            <a:r>
              <a:t>117年 22.2萬 (-9.7%)</a:t>
            </a:r>
            <a:br/>
            <a:r>
              <a:t>118年 21.5萬 (三年累計 -21.0%)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13.9～16.6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285 戶），屋齡約 31.8 年。實登自 113年6月 歷史高點 35.8 萬震盪回修，115年8月 最新成交落至 31.2 萬/坪（回跌 -12.8%）。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24.6 萬，117 年跌至 22.2 萬，118 年收斂於 21.5 萬（三年累計修正 -21.0%），理性回測長期價值支撐帶（13.9～16.6 萬/坪）。</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#22【柳岸花明】（280戶・屋齡33.5年）實登走勢與後續三年動態預估</a:t>
            </a:r>
          </a:p>
        </p:txBody>
      </p:sp>
      <p:pic>
        <p:nvPicPr>
          <p:cNvPr id="6" name="Picture 5" descr="22_柳岸花明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#22 柳岸花明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30.5 萬/坪（115年4月）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26.4 萬/坪（115年6月，距高點跌 -13.4%）</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26.3萬 ➜ 115年 26.1萬 (均價跌 -14.5%)</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23.8萬 (-9.0%)</a:t>
            </a:r>
            <a:br/>
            <a:r>
              <a:t>117年 21.6萬 (-9.0%)</a:t>
            </a:r>
            <a:br/>
            <a:r>
              <a:t>118年 20.9萬 (三年累計 -19.9%)</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14.4～17.2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280 戶），屋齡約 33.5 年。實登自 115年4月 歷史高點 30.5 萬震盪回修，115年6月 最新成交落至 26.4 萬/坪（回跌 -13.4%）。</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23.8 萬，117 年跌至 21.6 萬，118 年收斂於 20.9 萬（三年累計修正 -19.9%），理性回測長期價值支撐帶（14.4～17.2 萬/坪）。</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#23【健康世界】（278戶・屋齡33.4年）實登走勢與後續三年動態預估</a:t>
            </a:r>
          </a:p>
        </p:txBody>
      </p:sp>
      <p:pic>
        <p:nvPicPr>
          <p:cNvPr id="6" name="Picture 5" descr="23_健康世界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#23 健康世界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34.5 萬/坪（113年9月）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30.1 萬/坪（115年5月，距高點跌 -12.8%）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26.6萬 ➜ 115年 26.2萬 (均價跌 -24.1%)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23.6萬 (-9.9%)</a:t>
            </a:r>
            <a:br/>
            <a:r>
              <a:t>117年 21.4萬 (-9.2%)</a:t>
            </a:r>
            <a:br/>
            <a:r>
              <a:t>118年 20.7萬 (三年累計 -21.0%)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15.0～17.7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278 戶），屋齡約 33.4 年。實登自 113年9月 歷史高點 34.5 萬震盪回修，115年5月 最新成交落至 30.1 萬/坪（回跌 -12.8%）。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23.6 萬，117 年跌至 21.4 萬，118 年收斂於 20.7 萬（三年累計修正 -21.0%），理性回測長期價值支撐帶（15.0～17.7 萬/坪）。</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#24【大安紫金城大樓】（268戶・屋齡31.5年）實登走勢與後續三年動態預估</a:t>
            </a:r>
          </a:p>
        </p:txBody>
      </p:sp>
      <p:pic>
        <p:nvPicPr>
          <p:cNvPr id="6" name="Picture 5" descr="24_大安紫金城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#24 大安紫金城大樓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32.4 萬/坪（113年11月）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24.6 萬/坪（115年4月，距高點跌 -24.1%）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28.2萬 ➜ 115年 26.4萬 (均價跌 -18.4%)</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23.9萬 (-9.4%)</a:t>
            </a:r>
            <a:br/>
            <a:r>
              <a:t>117年 21.6萬 (-9.5%)</a:t>
            </a:r>
            <a:br/>
            <a:r>
              <a:t>118年 20.9萬 (三年累計 -20.8%)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12.6～15.1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268 戶），屋齡約 31.5 年。實登自 113年11月 歷史高點 32.4 萬震盪回修，115年4月 最新成交落至 24.6 萬/坪（回跌 -24.1%）。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23.9 萬，117 年跌至 21.6 萬，118 年收斂於 20.9 萬（三年累計修正 -20.8%），理性回測長期價值支撐帶（12.6～15.1 萬/坪）。</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#25【綠灣大樓】（268戶・屋齡32.1年）實登走勢與後續三年動態預估</a:t>
            </a:r>
          </a:p>
        </p:txBody>
      </p:sp>
      <p:pic>
        <p:nvPicPr>
          <p:cNvPr id="6" name="Picture 5" descr="25_綠灣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#25 綠灣大樓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28.1 萬/坪（113年10月）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16.8 萬/坪（115年3月，距高點跌 -40.2%）</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24.2萬 ➜ 115年 16.8萬 (均價跌 -40.2%)</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15.2萬 (-9.7%)</a:t>
            </a:r>
            <a:br/>
            <a:r>
              <a:t>117年 14.0萬 (-7.8%)</a:t>
            </a:r>
            <a:br/>
            <a:r>
              <a:t>118年 13.5萬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13.8～15.6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268 戶），屋齡約 32.1 年。實登在 113年10月 見頂 28.1 萬後反轉回落，115年3月 最新成交更直接摜破 2 字頭下探至 16.8 萬/坪（重跌 -40.2%），破底定錨確立。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15.2 萬，117 年跌至 14.0 萬，118 年收斂於 13.5 萬（三年累計修正 -19.6%），理性回測長期價值支撐帶（13.8～15.6 萬/坪）。</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#26【文心高第】（266戶・屋齡24.9年）實登走勢與後續三年動態預估</a:t>
            </a:r>
          </a:p>
        </p:txBody>
      </p:sp>
      <p:pic>
        <p:nvPicPr>
          <p:cNvPr id="6" name="Picture 5" descr="26_文心高第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#26 文心高第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34.5 萬/坪（113年5月）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30.4 萬/坪（115年7月，距高點跌 -11.9%）</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31.2萬 ➜ 115年 28.5萬 (均價跌 -17.4%)</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26.2萬 (-8.0%)</a:t>
            </a:r>
            <a:br/>
            <a:r>
              <a:t>117年 24.1萬 (-8.1%)</a:t>
            </a:r>
            <a:br/>
            <a:r>
              <a:t>118年 23.3萬 (三年累計 -18.2%)</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16.5～18.7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266 戶），屋齡約 24.9 年。實登自 113年5月 歷史高點 34.5 萬震盪回修，115年7月 最新成交落至 30.4 萬/坪（回跌 -11.9%）。</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26.2 萬，117 年跌至 24.1 萬，118 年收斂於 23.3 萬（三年累計修正 -18.2%），理性回測長期價值支撐帶（16.5～18.7 萬/坪）。</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#27【文心及第(文心南路)】（259戶・屋齡27.2年）實登走勢與後續三年動態預估</a:t>
            </a:r>
          </a:p>
        </p:txBody>
      </p:sp>
      <p:pic>
        <p:nvPicPr>
          <p:cNvPr id="6" name="Picture 5" descr="27_文心及第文心南路_成交行情走勢圖.png"/>
          <p:cNvPicPr>
            <a:picLocks noChangeAspect="1"/>
          </p:cNvPicPr>
          <p:nvPr/>
        </p:nvPicPr>
        <p:blipFill>
          <a:blip r:embed="rId2"/>
          <a:stretch>
            <a:fillRect/>
          </a:stretch>
        </p:blipFill>
        <p:spPr>
          <a:xfrm>
            <a:off x="731520" y="1371600"/>
            <a:ext cx="6583680" cy="4575747"/>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#27 文心及第(文心南路)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35.7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18.9 萬/坪（115年3月，距高點跌 -47.1%）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30.6萬 ➜ 115年 18.9萬 (均價跌 -47.1%)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17.1萬 (-9.5%)</a:t>
            </a:r>
            <a:br/>
            <a:r>
              <a:t>117年 16.4萬 (-4.1%)</a:t>
            </a:r>
            <a:br/>
            <a:r>
              <a:t>118年 16.4萬 (三年累計 -13.2%)</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17.2～18.7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259 戶），屋齡約 27.2 年。實登在 113年6月 見頂 35.7 萬後反轉回落，115年3月 最新成交更直接摜破 2 字頭下探至 18.9 萬/坪（重跌 -47.1%），破底定錨確立。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17.1 萬，117 年跌至 16.4 萬，118 年收斂於 16.4 萬（三年累計修正 -13.2%），理性回測長期價值支撐帶（17.2～18.7 萬/坪）。</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#28【長億南園】（250戶・屋齡34.6年）實登走勢與後續三年動態預估</a:t>
            </a:r>
          </a:p>
        </p:txBody>
      </p:sp>
      <p:pic>
        <p:nvPicPr>
          <p:cNvPr id="6" name="Picture 5" descr="28_長億南園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#28 長億南園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31.4 萬/坪（113年2月）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22.1 萬/坪（115年9月，距高點跌 -29.6%）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26.5萬 ➜ 115年 22.6萬 (均價跌 -28.0%)</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20.4萬 (-9.8%)</a:t>
            </a:r>
            <a:br/>
            <a:r>
              <a:t>117年 18.5萬 (-9.2%)</a:t>
            </a:r>
            <a:br/>
            <a:r>
              <a:t>118年 17.9萬 (三年累計 -20.8%)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14.7～16.1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250 戶），屋齡約 34.6 年。實登自 113年2月 歷史高點 31.4 萬震盪回修，115年9月 最新成交落至 22.1 萬/坪（回跌 -29.6%）。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20.4 萬，117 年跌至 18.5 萬，118 年收斂於 17.9 萬（三年累計修正 -20.8%），理性回測長期價值支撐帶（14.7～16.1 萬/坪）。</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#29【歌德堡】（248戶・屋齡27.8年）實登走勢與後續三年動態預估</a:t>
            </a:r>
          </a:p>
        </p:txBody>
      </p:sp>
      <p:pic>
        <p:nvPicPr>
          <p:cNvPr id="6" name="Picture 5" descr="29_歌德堡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#29 歌德堡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34.9 萬/坪（113年10月）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26.8 萬/坪（115年3月，距高點跌 -23.2%）</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31.1萬 ➜ 115年 26.6萬 (均價跌 -23.6%)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24.3萬 (-8.7%)</a:t>
            </a:r>
            <a:br/>
            <a:r>
              <a:t>117年 22.3萬 (-8.3%)</a:t>
            </a:r>
            <a:br/>
            <a:r>
              <a:t>118年 21.4萬 (三年累計 -19.5%)</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17.1～19.3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248 戶），屋齡約 27.8 年。實登自 113年10月 歷史高點 34.9 萬震盪回修，115年3月 最新成交落至 26.8 萬/坪（回跌 -23.2%）。</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24.3 萬，117 年跌至 22.3 萬，118 年收斂於 21.4 萬（三年累計修正 -19.5%），理性回測長期價值支撐帶（17.1～19.3 萬/坪）。</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#30【靜園A區】（248戶・屋齡29.6年）實登走勢與後續三年動態預估</a:t>
            </a:r>
          </a:p>
        </p:txBody>
      </p:sp>
      <p:pic>
        <p:nvPicPr>
          <p:cNvPr id="6" name="Picture 5" descr="30_靜園A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#30 靜園A區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29.5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23.4 萬/坪（115年5月，距高點跌 -20.7%）</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25.2萬 ➜ 115年 22.8萬 (均價跌 -22.9%)</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20.7萬 (-9.4%)</a:t>
            </a:r>
            <a:br/>
            <a:r>
              <a:t>117年 18.8萬 (-8.8%)</a:t>
            </a:r>
            <a:br/>
            <a:r>
              <a:t>118年 18.1萬 (三年累計 -20.6%)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13.6～15.1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248 戶），屋齡約 29.6 年。實登自 113年6月 歷史高點 29.5 萬震盪回修，115年5月 最新成交落至 23.4 萬/坪（回跌 -20.7%）。</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20.7 萬，117 年跌至 18.8 萬，118 年收斂於 18.1 萬（三年累計修正 -20.6%），理性回測長期價值支撐帶（13.6～15.1 萬/坪）。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#31【五權天下】（242戶・屋齡30.4年）實登走勢與後續三年動態預估</a:t>
            </a:r>
          </a:p>
        </p:txBody>
      </p:sp>
      <p:pic>
        <p:nvPicPr>
          <p:cNvPr id="6" name="Picture 5" descr="31_五權天下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#31 五權天下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31.4 萬/坪（113年3月）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24.3 萬/坪（115年1月，距高點跌 -22.6%）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28.8萬 ➜ 115年 24.3萬 (均價跌 -22.6%)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22.1萬 (-9.0%)</a:t>
            </a:r>
            <a:br/>
            <a:r>
              <a:t>117年 20.3萬 (-8.1%)</a:t>
            </a:r>
            <a:br/>
            <a:r>
              <a:t>118年 19.5萬 (三年累計 -19.8%)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14.2～16.6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242 戶），屋齡約 30.4 年。實登自 113年3月 歷史高點 31.4 萬震盪回修，115年1月 最新成交落至 24.3 萬/坪（回跌 -22.6%）。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22.1 萬，117 年跌至 20.3 萬，118 年收斂於 19.5 萬（三年累計修正 -19.8%），理性回測長期價值支撐帶（14.2～16.6 萬/坪）。</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#32【佛羅里達】（240戶・屋齡28.4年）實登走勢與後續三年動態預估</a:t>
            </a:r>
          </a:p>
        </p:txBody>
      </p:sp>
      <p:pic>
        <p:nvPicPr>
          <p:cNvPr id="6" name="Picture 5" descr="32_佛羅里達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#32 佛羅里達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30.8 萬/坪（113年12月）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25.9 萬/坪（115年6月，距高點跌 -15.9%）</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27.8萬 ➜ 115年 25.9萬 (均價跌 -15.9%)</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23.5萬 (-9.2%)</a:t>
            </a:r>
            <a:br/>
            <a:r>
              <a:t>117年 21.5萬 (-8.5%)</a:t>
            </a:r>
            <a:br/>
            <a:r>
              <a:t>118年 20.7萬 (三年累計 -20.1%)</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15.5～17.9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240 戶），屋齡約 28.4 年。實登自 113年12月 歷史高點 30.8 萬震盪回修，115年6月 最新成交落至 25.9 萬/坪（回跌 -15.9%）。</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23.5 萬，117 年跌至 21.5 萬，118 年收斂於 20.7 萬（三年累計修正 -20.1%），理性回測長期價值支撐帶（15.5～17.9 萬/坪）。</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#33【望族一期】（236戶・屋齡33.6年）實登走勢與後續三年動態預估</a:t>
            </a:r>
          </a:p>
        </p:txBody>
      </p:sp>
      <p:pic>
        <p:nvPicPr>
          <p:cNvPr id="6" name="Picture 5" descr="33_望族一期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#33 望族一期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34.1 萬/坪（113年6月）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30.0 萬/坪（115年3月，距高點跌 -12.0%）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29.1萬 ➜ 115年 28.4萬 (均價跌 -16.6%)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25.7萬 (-9.5%)</a:t>
            </a:r>
            <a:br/>
            <a:r>
              <a:t>117年 23.4萬 (-8.9%)</a:t>
            </a:r>
            <a:br/>
            <a:r>
              <a:t>118年 22.5萬 (三年累計 -20.8%)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16.7～18.4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236 戶），屋齡約 33.6 年。實登自 113年6月 歷史高點 34.1 萬震盪回修，115年3月 最新成交落至 30.0 萬/坪（回跌 -12.0%）。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25.7 萬，117 年跌至 23.4 萬，118 年收斂於 22.5 萬（三年累計修正 -20.8%），理性回測長期價值支撐帶（16.7～18.4 萬/坪）。</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#34【椰城】（233戶・屋齡27.6年）實登走勢與後續三年動態預估</a:t>
            </a:r>
          </a:p>
        </p:txBody>
      </p:sp>
      <p:pic>
        <p:nvPicPr>
          <p:cNvPr id="6" name="Picture 5" descr="34_椰城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#34 椰城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34.0 萬/坪（113年11月）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31.1 萬/坪（115年1月，距高點跌 -8.5%）</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31.3萬 ➜ 115年 31.1萬 (均價跌 -8.5%)</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28.4萬 (-8.7%)</a:t>
            </a:r>
            <a:br/>
            <a:r>
              <a:t>117年 26.1萬 (-8.1%)</a:t>
            </a:r>
            <a:br/>
            <a:r>
              <a:t>118年 25.0萬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16.7～20.1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233 戶），屋齡約 27.6 年。實登自 113年11月 歷史高點 34.0 萬震盪回修，115年1月 最新成交落至 31.1 萬/坪（回跌 -8.5%）。</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28.4 萬，117 年跌至 26.1 萬，118 年收斂於 25.0 萬（三年累計修正 -19.6%），理性回測長期價值支撐帶（16.7～20.1 萬/坪）。</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#35【大東家華園】（227戶・屋齡31.1年）實登走勢與後續三年動態預估</a:t>
            </a:r>
          </a:p>
        </p:txBody>
      </p:sp>
      <p:pic>
        <p:nvPicPr>
          <p:cNvPr id="6" name="Picture 5" descr="35_大東家華園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#35 大東家華園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27.7 萬/坪（113年3月）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20.3 萬/坪（115年7月，距高點跌 -26.7%）</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24.5萬 ➜ 115年 23.1萬 (均價跌 -16.7%)</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21.0萬 (-9.0%)</a:t>
            </a:r>
            <a:br/>
            <a:r>
              <a:t>117年 19.3萬 (-8.4%)</a:t>
            </a:r>
            <a:br/>
            <a:r>
              <a:t>118年 18.5萬 (三年累計 -19.9%)</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15.2～16.6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227 戶），屋齡約 31.1 年。實登自 113年3月 歷史高點 27.7 萬震盪回修，115年7月 最新成交落至 20.3 萬/坪（回跌 -26.7%）。</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21.0 萬，117 年跌至 19.3 萬，118 年收斂於 18.5 萬（三年累計修正 -19.9%），理性回測長期價值支撐帶（15.2～16.6 萬/坪）。</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#36【君臨天廈】（221戶・屋齡30.5年）實登走勢與後續三年動態預估</a:t>
            </a:r>
          </a:p>
        </p:txBody>
      </p:sp>
      <p:pic>
        <p:nvPicPr>
          <p:cNvPr id="6" name="Picture 5" descr="36_君臨天廈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#36 君臨天廈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26.1 萬/坪（113年5月）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24.9 萬/坪（115年3月，距高點跌 -4.6%）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25.4萬 ➜ 115年 24.9萬 (均價跌 -4.6%)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22.7萬 (-8.7%)</a:t>
            </a:r>
            <a:br/>
            <a:r>
              <a:t>117年 20.9萬 (-8.0%)</a:t>
            </a:r>
            <a:br/>
            <a:r>
              <a:t>118年 20.0萬 (三年累計 -19.7%)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16.2～17.7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221 戶），屋齡約 30.5 年。實登自 113年5月 歷史高點 26.1 萬震盪回修，115年3月 最新成交落至 24.9 萬/坪（回跌 -4.6%）。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22.7 萬，117 年跌至 20.9 萬，118 年收斂於 20.0 萬（三年累計修正 -19.7%），理性回測長期價值支撐帶（16.2～17.7 萬/坪）。</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#37【領袖勳章】（219戶・屋齡32.0年）實登走勢與後續三年動態預估</a:t>
            </a:r>
          </a:p>
        </p:txBody>
      </p:sp>
      <p:pic>
        <p:nvPicPr>
          <p:cNvPr id="6" name="Picture 5" descr="37_領袖勳章_成交行情走勢圖.png"/>
          <p:cNvPicPr>
            <a:picLocks noChangeAspect="1"/>
          </p:cNvPicPr>
          <p:nvPr/>
        </p:nvPicPr>
        <p:blipFill>
          <a:blip r:embed="rId2"/>
          <a:stretch>
            <a:fillRect/>
          </a:stretch>
        </p:blipFill>
        <p:spPr>
          <a:xfrm>
            <a:off x="731520" y="1371600"/>
            <a:ext cx="6583680" cy="4557071"/>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#37 領袖勳章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28.2 萬/坪（114年4月）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22.4 萬/坪（115年5月，距高點跌 -20.6%）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25.0萬 ➜ 115年 25.0萬 (均價跌 -11.3%)</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22.7萬 (-9.3%)</a:t>
            </a:r>
            <a:br/>
            <a:r>
              <a:t>117年 20.7萬 (-8.9%)</a:t>
            </a:r>
            <a:br/>
            <a:r>
              <a:t>118年 19.9萬 (三年累計 -20.4%)</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14.6～16.2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219 戶），屋齡約 32.0 年。實登自 114年4月 歷史高點 28.2 萬震盪回修，115年5月 最新成交落至 22.4 萬/坪（回跌 -20.6%）。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22.7 萬，117 年跌至 20.7 萬，118 年收斂於 19.9 萬（三年累計修正 -20.4%），理性回測長期價值支撐帶（14.6～16.2 萬/坪）。</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#38【假日半島】（219戶・屋齡32.4年）實登走勢與後續三年動態預估</a:t>
            </a:r>
          </a:p>
        </p:txBody>
      </p:sp>
      <p:pic>
        <p:nvPicPr>
          <p:cNvPr id="6" name="Picture 5" descr="38_假日半島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#38 假日半島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33.2 萬/坪（113年10月）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24.8 萬/坪（115年7月，距高點跌 -25.3%）</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28.9萬 ➜ 115年 25.3萬 (均價跌 -23.8%)</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22.8萬 (-9.9%)</a:t>
            </a:r>
            <a:br/>
            <a:r>
              <a:t>117年 20.6萬 (-9.8%)</a:t>
            </a:r>
            <a:br/>
            <a:r>
              <a:t>118年 19.9萬 (三年累計 -21.3%)</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12.4～15.1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219 戶），屋齡約 32.4 年。實登自 113年10月 歷史高點 33.2 萬震盪回修，115年7月 最新成交落至 24.8 萬/坪（回跌 -25.3%）。</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22.8 萬，117 年跌至 20.6 萬，118 年收斂於 19.9 萬（三年累計修正 -21.3%），理性回測長期價值支撐帶（12.4～15.1 萬/坪）。</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#39【我家大樓】（214戶・屋齡26.4年）實登走勢與後續三年動態預估</a:t>
            </a:r>
          </a:p>
        </p:txBody>
      </p:sp>
      <p:pic>
        <p:nvPicPr>
          <p:cNvPr id="6" name="Picture 5" descr="39_我家大樓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#39 我家大樓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33.5 萬/坪（114年5月）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29.2 萬/坪（115年6月，距高點跌 -12.8%）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30.9萬 ➜ 115年 28.5萬 (均價跌 -14.9%)</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25.9萬 (-9.0%)</a:t>
            </a:r>
            <a:br/>
            <a:r>
              <a:t>117年 23.7萬 (-8.8%)</a:t>
            </a:r>
            <a:br/>
            <a:r>
              <a:t>118年 22.8萬 (三年累計 -20.0%)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16.0～19.1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214 戶），屋齡約 26.4 年。實登自 114年5月 歷史高點 33.5 萬震盪回修，115年6月 最新成交落至 29.2 萬/坪（回跌 -12.8%）。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25.9 萬，117 年跌至 23.7 萬，118 年收斂於 22.8 萬（三年累計修正 -20.0%），理性回測長期價值支撐帶（16.0～19.1 萬/坪）。</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#40【碧夏庭花園大廈】（209戶・屋齡31.6年）實登走勢與後續三年動態預估</a:t>
            </a:r>
          </a:p>
        </p:txBody>
      </p:sp>
      <p:pic>
        <p:nvPicPr>
          <p:cNvPr id="6" name="Picture 5" descr="40_碧夏庭花園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#40 碧夏庭花園大廈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36.0 萬/坪（111年4月）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28.8 萬/坪（115年1月，距高點跌 -20.0%）</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30.5萬 ➜ 115年 28.8萬 (均價跌 -20.0%)</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26.3萬 (-8.7%)</a:t>
            </a:r>
            <a:br/>
            <a:r>
              <a:t>117年 24.2萬 (-7.9%)</a:t>
            </a:r>
            <a:br/>
            <a:r>
              <a:t>118年 23.1萬 (三年累計 -19.8%)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14.8～16.9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209 戶），屋齡約 31.6 年。實登自 111年4月 歷史高點 36.0 萬震盪回修，115年1月 最新成交落至 28.8 萬/坪（回跌 -20.0%）。</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26.3 萬，117 年跌至 24.2 萬，118 年收斂於 23.1 萬（三年累計修正 -19.8%），理性回測長期價值支撐帶（14.8～16.9 萬/坪）。</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#41【文心大地】（207戶・屋齡27.4年）實登走勢與後續三年動態預估</a:t>
            </a:r>
          </a:p>
        </p:txBody>
      </p:sp>
      <p:pic>
        <p:nvPicPr>
          <p:cNvPr id="6" name="Picture 5" descr="41_文心大地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#41 文心大地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29.9 萬/坪（114年2月）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24.1 萬/坪（115年5月，距高點跌 -19.4%）</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26.4萬 ➜ 115年 22.4萬 (均價跌 -24.9%)</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20.5萬 (-9.1%)</a:t>
            </a:r>
            <a:br/>
            <a:r>
              <a:t>117年 18.7萬 (-8.6%)</a:t>
            </a:r>
            <a:br/>
            <a:r>
              <a:t>118年 18.0萬 (三年累計 -20.0%)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14.4～15.9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207 戶），屋齡約 27.4 年。實登自 114年2月 歷史高點 29.9 萬震盪回修，115年5月 最新成交落至 24.1 萬/坪（回跌 -19.4%）。</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20.5 萬，117 年跌至 18.7 萬，118 年收斂於 18.0 萬（三年累計修正 -20.0%），理性回測長期價值支撐帶（14.4～15.9 萬/坪）。</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#42【大東家南園】（203戶・屋齡31.8年）實登走勢與後續三年動態預估</a:t>
            </a:r>
          </a:p>
        </p:txBody>
      </p:sp>
      <p:pic>
        <p:nvPicPr>
          <p:cNvPr id="6" name="Picture 5" descr="42_大東家南園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#42 大東家南園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27.7 萬/坪（114年11月）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25.3 萬/坪（115年1月，距高點跌 -8.7%）</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25.1萬 ➜ 115年 25.3萬 (均價跌 -8.7%)</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23.1萬 (-8.8%)</a:t>
            </a:r>
            <a:br/>
            <a:r>
              <a:t>117年 21.2萬 (-8.3%)</a:t>
            </a:r>
            <a:br/>
            <a:r>
              <a:t>118年 20.3萬 (三年累計 -19.8%)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14.1～15.8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203 戶），屋齡約 31.8 年。實登自 114年11月 歷史高點 27.7 萬震盪回修，115年1月 最新成交落至 25.3 萬/坪（回跌 -8.7%）。</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23.1 萬，117 年跌至 21.2 萬，118 年收斂於 20.3 萬（三年累計修正 -19.8%），理性回測長期價值支撐帶（14.1～15.8 萬/坪）。</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#43【裕國大廈】（198戶・屋齡35.2年）實登走勢與後續三年動態預估</a:t>
            </a:r>
          </a:p>
        </p:txBody>
      </p:sp>
      <p:pic>
        <p:nvPicPr>
          <p:cNvPr id="6" name="Picture 5" descr="43_裕國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#43 裕國大廈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23.8 萬/坪（113年10月）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18.9 萬/坪（115年7月，距高點跌 -20.6%）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21.3萬 ➜ 115年 18.9萬 (均價跌 -20.6%)</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17.2萬 (-8.8%)</a:t>
            </a:r>
            <a:br/>
            <a:r>
              <a:t>117年 15.9萬 (-7.8%)</a:t>
            </a:r>
            <a:br/>
            <a:r>
              <a:t>118年 15.2萬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13.4～16.6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198 戶），屋齡約 35.2 年。實登在 113年10月 見頂 23.8 萬後反轉回落，115年7月 最新成交更直接摜破 2 字頭下探至 18.9 萬/坪（重跌 -20.6%），破底定錨確立。</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17.2 萬，117 年跌至 15.9 萬，118 年收斂於 15.2 萬（三年累計修正 -19.6%），理性回測長期價值支撐帶（13.4～16.6 萬/坪）。</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#44【家綠寶大廈】（196戶・屋齡30.7年）實登走勢與後續三年動態預估</a:t>
            </a:r>
          </a:p>
        </p:txBody>
      </p:sp>
      <p:pic>
        <p:nvPicPr>
          <p:cNvPr id="6" name="Picture 5" descr="44_家綠寶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#44 家綠寶大廈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33.8 萬/坪（113年5月）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26.0 萬/坪（115年2月，距高點跌 -23.1%）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29.3萬 ➜ 115年 26.0萬 (均價跌 -23.1%)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23.6萬 (-9.2%)</a:t>
            </a:r>
            <a:br/>
            <a:r>
              <a:t>117年 21.6萬 (-8.4%)</a:t>
            </a:r>
            <a:br/>
            <a:r>
              <a:t>118年 20.8萬 (三年累計 -20.0%)</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16.8～18.7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196 戶），屋齡約 30.7 年。實登自 113年5月 歷史高點 33.8 萬震盪回修，115年2月 最新成交落至 26.0 萬/坪（回跌 -23.1%）。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23.6 萬，117 年跌至 21.6 萬，118 年收斂於 20.8 萬（三年累計修正 -20.0%），理性回測長期價值支撐帶（16.8～18.7 萬/坪）。</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#45【永和國宅】（192戶・屋齡47.4年）實登走勢與後續三年動態預估</a:t>
            </a:r>
          </a:p>
        </p:txBody>
      </p:sp>
      <p:pic>
        <p:nvPicPr>
          <p:cNvPr id="6" name="Picture 5" descr="45_永和國宅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#45 永和國宅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37.8 萬/坪（114年3月）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28.7 萬/坪（114年4月，115暫無成交，距高點跌 -24.1%*）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18.6萬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30.2萬 (-9.2%)</a:t>
            </a:r>
            <a:br/>
            <a:r>
              <a:t>117年 27.6萬 (-8.4%)</a:t>
            </a:r>
            <a:br/>
            <a:r>
              <a:t>118年 26.4萬 (三年累計 -20.5%)</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12.8～17.8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192 戶），屋齡約 47.4 年。115 年受央行第七波信用管制與買氣急凍影響，全年度尚無純住宅實登揭露；最新成交為 114年4月 的 28.7 萬/坪（距歷史高點 37.8 萬回跌 -24.1%*）。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30.2 萬，117 年跌至 27.6 萬，118 年收斂於 26.4 萬（三年累計修正 -20.5%），理性回測長期價值支撐帶（12.8～17.8 萬/坪）。</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#46【龍族儷園】（188戶・屋齡31.4年）實登走勢與後續三年動態預估</a:t>
            </a:r>
          </a:p>
        </p:txBody>
      </p:sp>
      <p:pic>
        <p:nvPicPr>
          <p:cNvPr id="6" name="Picture 5" descr="46_龍族儷園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#46 龍族儷園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30.9 萬/坪（113年8月）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25.3 萬/坪（115年8月，距高點跌 -18.1%）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27.0萬 ➜ 115年 25.2萬 (均價跌 -18.4%)</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22.9萬 (-9.0%)</a:t>
            </a:r>
            <a:br/>
            <a:r>
              <a:t>117年 20.9萬 (-9.1%)</a:t>
            </a:r>
            <a:br/>
            <a:r>
              <a:t>118年 20.2萬 (三年累計 -19.8%)</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13.5～15.4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188 戶），屋齡約 31.4 年。實登自 113年8月 歷史高點 30.9 萬震盪回修，115年8月 最新成交落至 25.3 萬/坪（回跌 -18.1%）。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22.9 萬，117 年跌至 20.9 萬，118 年收斂於 20.2 萬（三年累計修正 -19.8%），理性回測長期價值支撐帶（13.5～15.4 萬/坪）。</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#47【南京大廈】（185戶・屋齡34.0年）實登走勢與後續三年動態預估</a:t>
            </a:r>
          </a:p>
        </p:txBody>
      </p:sp>
      <p:pic>
        <p:nvPicPr>
          <p:cNvPr id="6" name="Picture 5" descr="47_南京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#47 南京大廈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24.8 萬/坪（112年3月）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21.2 萬/坪（114年12月，115暫無成交，距高點跌 -14.5%*）</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18.1萬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18.9萬 (-9.1%)</a:t>
            </a:r>
            <a:br/>
            <a:r>
              <a:t>117年 17.4萬 (-8.2%)</a:t>
            </a:r>
            <a:br/>
            <a:r>
              <a:t>118年 16.6萬 (三年累計 -20.2%)</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12.7～14.3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185 戶），屋齡約 34.0 年。115 年受央行第七波信用管制與買氣急凍影響，全年度尚無純住宅實登揭露；最新成交為 114年12月 的 21.2 萬/坪（距歷史高點 24.8 萬回跌 -14.5%*）。</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18.9 萬，117 年跌至 17.4 萬，118 年收斂於 16.6 萬（三年累計修正 -20.2%），理性回測長期價值支撐帶（12.7～14.3 萬/坪）。</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#48【京華大鎮京馥特區】（171戶・屋齡30.0年）實登走勢與後續三年動態預估</a:t>
            </a:r>
          </a:p>
        </p:txBody>
      </p:sp>
      <p:pic>
        <p:nvPicPr>
          <p:cNvPr id="6" name="Picture 5" descr="48_京華大鎮京馥特區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#48 京華大鎮京馥特區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26.0 萬/坪（113年8月）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24.5 萬/坪（115年6月，距高點跌 -5.8%）</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22.9萬 ➜ 115年 24.5萬 (均價跌 -5.8%)</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22.4萬 (-8.5%)</a:t>
            </a:r>
            <a:br/>
            <a:r>
              <a:t>117年 20.7萬 (-7.8%)</a:t>
            </a:r>
            <a:br/>
            <a:r>
              <a:t>118年 19.7萬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12.9～15.6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171 戶），屋齡約 30.0 年。實登自 113年8月 歷史高點 26.0 萬震盪回修，115年6月 最新成交落至 24.5 萬/坪（回跌 -5.8%）。</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22.4 萬，117 年跌至 20.7 萬，118 年收斂於 19.7 萬（三年累計修正 -19.6%），理性回測長期價值支撐帶（12.9～15.6 萬/坪）。</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#49【陽光普照】（171戶・屋齡27.6年）實登走勢與後續三年動態預估</a:t>
            </a:r>
          </a:p>
        </p:txBody>
      </p:sp>
      <p:pic>
        <p:nvPicPr>
          <p:cNvPr id="6" name="Picture 5" descr="49_陽光普照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#49 陽光普照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33.8 萬/坪（113年9月）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30.1 萬/坪（115年7月，距高點跌 -10.9%）</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28.7萬 ➜ 115年 27.9萬 (均價跌 -17.5%)</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25.5萬 (-8.6%)</a:t>
            </a:r>
            <a:br/>
            <a:r>
              <a:t>117年 23.4萬 (-8.2%)</a:t>
            </a:r>
            <a:br/>
            <a:r>
              <a:t>118年 22.5萬 (三年累計 -19.4%)</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16.4～18.9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171 戶），屋齡約 27.6 年。實登自 113年9月 歷史高點 33.8 萬震盪回修，115年7月 最新成交落至 30.1 萬/坪（回跌 -10.9%）。</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25.5 萬，117 年跌至 23.4 萬，118 年收斂於 22.5 萬（三年累計修正 -19.4%），理性回測長期價值支撐帶（16.4～18.9 萬/坪）。</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#50【我家天廈】（168戶・屋齡34.9年）實登走勢與後續三年動態預估</a:t>
            </a:r>
          </a:p>
        </p:txBody>
      </p:sp>
      <p:pic>
        <p:nvPicPr>
          <p:cNvPr id="6" name="Picture 5" descr="50_我家天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#50 我家天廈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28.7 萬/坪（113年3月）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25.5 萬/坪（115年3月，距高點跌 -11.1%）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26.9萬 ➜ 115年 25.5萬 (均價跌 -11.1%)</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23.3萬 (-8.6%)</a:t>
            </a:r>
            <a:br/>
            <a:r>
              <a:t>117年 21.5萬 (-7.8%)</a:t>
            </a:r>
            <a:br/>
            <a:r>
              <a:t>118年 20.5萬 (三年累計 -19.6%)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15.1～17.8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168 戶），屋齡約 34.9 年。實登自 113年3月 歷史高點 28.7 萬震盪回修，115年3月 最新成交落至 25.5 萬/坪（回跌 -11.1%）。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23.3 萬，117 年跌至 21.5 萬，118 年收斂於 20.5 萬（三年累計修正 -19.6%），理性回測長期價值支撐帶（15.1～17.8 萬/坪）。</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#51【德昌中國大廈】（159戶・屋齡31.4年）實登走勢與後續三年動態預估</a:t>
            </a:r>
          </a:p>
        </p:txBody>
      </p:sp>
      <p:pic>
        <p:nvPicPr>
          <p:cNvPr id="6" name="Picture 5" descr="51_德昌中國大廈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#51 德昌中國大廈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22.5 萬/坪（113年5月）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20.9 萬/坪（115年4月，距高點跌 -7.1%）</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22.1萬 ➜ 115年 20.6萬 (均價跌 -8.4%)</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18.8萬 (-8.7%)</a:t>
            </a:r>
            <a:br/>
            <a:r>
              <a:t>117年 17.3萬 (-8.2%)</a:t>
            </a:r>
            <a:br/>
            <a:r>
              <a:t>118年 16.6萬 (三年累計 -19.4%)</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13.4～14.9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159 戶），屋齡約 31.4 年。實登自 113年5月 歷史高點 22.5 萬震盪回修，115年4月 最新成交落至 20.9 萬/坪（回跌 -7.1%）。</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18.8 萬，117 年跌至 17.3 萬，118 年收斂於 16.6 萬（三年累計修正 -19.4%），理性回測長期價值支撐帶（13.4～14.9 萬/坪）。</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#52【聖學府】（157戶・屋齡33.3年）實登走勢與後續三年動態預估</a:t>
            </a:r>
          </a:p>
        </p:txBody>
      </p:sp>
      <p:pic>
        <p:nvPicPr>
          <p:cNvPr id="6" name="Picture 5" descr="52_聖學府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#52 聖學府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27.2 萬/坪（113年2月）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21.6 萬/坪（115年1月，距高點跌 -20.6%）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26.3萬 ➜ 115年 23.4萬 (均價跌 -14.2%)</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21.3萬 (-8.8%)</a:t>
            </a:r>
            <a:br/>
            <a:r>
              <a:t>117年 19.6萬 (-8.1%)</a:t>
            </a:r>
            <a:br/>
            <a:r>
              <a:t>118年 18.8萬 (三年累計 -19.7%)</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13.7～15.4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157 戶），屋齡約 33.3 年。實登自 113年2月 歷史高點 27.2 萬震盪回修，115年1月 最新成交落至 21.6 萬/坪（回跌 -20.6%）。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21.3 萬，117 年跌至 19.6 萬，118 年收斂於 18.8 萬（三年累計修正 -19.7%），理性回測長期價值支撐帶（13.7～15.4 萬/坪）。</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#53【劃江山】（151戶・屋齡31.9年）實登走勢與後續三年動態預估</a:t>
            </a:r>
          </a:p>
        </p:txBody>
      </p:sp>
      <p:pic>
        <p:nvPicPr>
          <p:cNvPr id="6" name="Picture 5" descr="53_劃江山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#53 劃江山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29.5 萬/坪（113年8月）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24.0 萬/坪（115年6月，距高點跌 -18.6%）</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26.1萬 ➜ 115年 22.1萬 (均價跌 -25.2%)</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20.1萬 (-9.0%)</a:t>
            </a:r>
            <a:br/>
            <a:r>
              <a:t>117年 18.4萬 (-8.4%)</a:t>
            </a:r>
            <a:br/>
            <a:r>
              <a:t>118年 17.7萬 (三年累計 -19.9%)</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14.1～16.6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151 戶），屋齡約 31.9 年。實登自 113年8月 歷史高點 29.5 萬震盪回修，115年6月 最新成交落至 24.0 萬/坪（回跌 -18.6%）。</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20.1 萬，117 年跌至 18.4 萬，118 年收斂於 17.7 萬（三年累計修正 -19.9%），理性回測長期價值支撐帶（14.1～16.6 萬/坪）。</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社區行情實證 #54【大墩人文】（188戶・屋齡33.9年）實登走勢與後續三年動態預估</a:t>
            </a:r>
          </a:p>
        </p:txBody>
      </p:sp>
      <p:pic>
        <p:nvPicPr>
          <p:cNvPr id="6" name="Picture 5" descr="54_大墩人文_成交行情走勢圖.png"/>
          <p:cNvPicPr>
            <a:picLocks noChangeAspect="1"/>
          </p:cNvPicPr>
          <p:nvPr/>
        </p:nvPicPr>
        <p:blipFill>
          <a:blip r:embed="rId2"/>
          <a:stretch>
            <a:fillRect/>
          </a:stretch>
        </p:blipFill>
        <p:spPr>
          <a:xfrm>
            <a:off x="731520" y="1371600"/>
            <a:ext cx="6583680" cy="4580440"/>
          </a:xfrm>
          <a:prstGeom prst="rect">
            <a:avLst/>
          </a:prstGeom>
        </p:spPr>
      </p:pic>
      <p:sp>
        <p:nvSpPr>
          <p:cNvPr id="7" name="Rounded Rectangle 6"/>
          <p:cNvSpPr/>
          <p:nvPr/>
        </p:nvSpPr>
        <p:spPr>
          <a:xfrm>
            <a:off x="7498079" y="1371600"/>
            <a:ext cx="3931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508760"/>
            <a:ext cx="3566160" cy="4754880"/>
          </a:xfrm>
          <a:prstGeom prst="rect">
            <a:avLst/>
          </a:prstGeom>
          <a:noFill/>
        </p:spPr>
        <p:txBody>
          <a:bodyPr wrap="square">
            <a:spAutoFit/>
          </a:bodyPr>
          <a:lstStyle/>
          <a:p>
            <a:pPr>
              <a:defRPr sz="1400" b="1">
                <a:solidFill>
                  <a:srgbClr val="1B365D"/>
                </a:solidFill>
                <a:latin typeface="微軟正黑體"/>
              </a:defRPr>
            </a:pPr>
            <a:r>
              <a:t>🏢 #54 大墩人文 實登關鍵指標</a:t>
            </a:r>
          </a:p>
          <a:p>
            <a:pPr>
              <a:spcBef>
                <a:spcPts val="400"/>
              </a:spcBef>
              <a:defRPr sz="1000" b="1">
                <a:solidFill>
                  <a:srgbClr val="C0392B"/>
                </a:solidFill>
                <a:latin typeface="微軟正黑體"/>
              </a:defRPr>
            </a:pPr>
            <a:r>
              <a:t>• 歷史最高成交紀錄：</a:t>
            </a:r>
          </a:p>
          <a:p>
            <a:pPr>
              <a:lnSpc>
                <a:spcPct val="120000"/>
              </a:lnSpc>
              <a:defRPr sz="900">
                <a:solidFill>
                  <a:srgbClr val="1E293B"/>
                </a:solidFill>
                <a:latin typeface="微軟正黑體"/>
              </a:defRPr>
            </a:pPr>
            <a:r>
              <a:t>30.3 萬/坪（114年3月）</a:t>
            </a:r>
          </a:p>
          <a:p>
            <a:pPr>
              <a:spcBef>
                <a:spcPts val="400"/>
              </a:spcBef>
              <a:defRPr sz="1000" b="1">
                <a:solidFill>
                  <a:srgbClr val="D98C14"/>
                </a:solidFill>
                <a:latin typeface="微軟正黑體"/>
              </a:defRPr>
            </a:pPr>
            <a:r>
              <a:t>• 115 年最新實登成交：</a:t>
            </a:r>
          </a:p>
          <a:p>
            <a:pPr>
              <a:lnSpc>
                <a:spcPct val="120000"/>
              </a:lnSpc>
              <a:defRPr sz="900">
                <a:solidFill>
                  <a:srgbClr val="1E293B"/>
                </a:solidFill>
                <a:latin typeface="微軟正黑體"/>
              </a:defRPr>
            </a:pPr>
            <a:r>
              <a:t>29.9 萬/坪（114年12月，115暫無成交，距高點跌 -1.3%*）</a:t>
            </a:r>
          </a:p>
          <a:p>
            <a:pPr>
              <a:spcBef>
                <a:spcPts val="400"/>
              </a:spcBef>
              <a:defRPr sz="1000" b="1">
                <a:solidFill>
                  <a:srgbClr val="1B365D"/>
                </a:solidFill>
                <a:latin typeface="微軟正黑體"/>
              </a:defRPr>
            </a:pPr>
            <a:r>
              <a:t>• 純住宅年度均價走勢：</a:t>
            </a:r>
          </a:p>
          <a:p>
            <a:pPr>
              <a:lnSpc>
                <a:spcPct val="120000"/>
              </a:lnSpc>
              <a:defRPr sz="900">
                <a:solidFill>
                  <a:srgbClr val="1E293B"/>
                </a:solidFill>
                <a:latin typeface="微軟正黑體"/>
              </a:defRPr>
            </a:pPr>
            <a:r>
              <a:t>113年 30.1萬 ➜ 115年 — (115量縮急凍暫無成交)</a:t>
            </a:r>
          </a:p>
          <a:p>
            <a:pPr>
              <a:spcBef>
                <a:spcPts val="400"/>
              </a:spcBef>
              <a:defRPr sz="1000" b="1">
                <a:solidFill>
                  <a:srgbClr val="C0392B"/>
                </a:solidFill>
                <a:latin typeface="微軟正黑體"/>
              </a:defRPr>
            </a:pPr>
            <a:r>
              <a:t>• 計量經濟學動態預估：</a:t>
            </a:r>
          </a:p>
          <a:p>
            <a:pPr>
              <a:lnSpc>
                <a:spcPct val="120000"/>
              </a:lnSpc>
              <a:defRPr sz="900">
                <a:solidFill>
                  <a:srgbClr val="1E293B"/>
                </a:solidFill>
                <a:latin typeface="微軟正黑體"/>
              </a:defRPr>
            </a:pPr>
            <a:r>
              <a:t>116年 26.0萬 (-9.5%)</a:t>
            </a:r>
            <a:br/>
            <a:r>
              <a:t>117年 23.6萬 (-9.0%)</a:t>
            </a:r>
            <a:br/>
            <a:r>
              <a:t>118年 22.8萬 (三年累計 -20.6%)</a:t>
            </a:r>
          </a:p>
          <a:p>
            <a:pPr>
              <a:spcBef>
                <a:spcPts val="400"/>
              </a:spcBef>
              <a:defRPr sz="1000" b="1">
                <a:solidFill>
                  <a:srgbClr val="27AE60"/>
                </a:solidFill>
                <a:latin typeface="微軟正黑體"/>
              </a:defRPr>
            </a:pPr>
            <a:r>
              <a:t>• 長期合理價值支撐帶：</a:t>
            </a:r>
          </a:p>
          <a:p>
            <a:pPr>
              <a:lnSpc>
                <a:spcPct val="120000"/>
              </a:lnSpc>
              <a:defRPr sz="900">
                <a:solidFill>
                  <a:srgbClr val="1E293B"/>
                </a:solidFill>
                <a:latin typeface="微軟正黑體"/>
              </a:defRPr>
            </a:pPr>
            <a:r>
              <a:t>17.8～19.2 萬/坪</a:t>
            </a:r>
          </a:p>
          <a:p>
            <a:pPr>
              <a:spcBef>
                <a:spcPts val="400"/>
              </a:spcBef>
              <a:defRPr sz="1000" b="1">
                <a:solidFill>
                  <a:srgbClr val="1E293B"/>
                </a:solidFill>
                <a:latin typeface="微軟正黑體"/>
              </a:defRPr>
            </a:pPr>
            <a:r>
              <a:t>• 走勢深度分析與成因：</a:t>
            </a:r>
          </a:p>
          <a:p>
            <a:pPr>
              <a:lnSpc>
                <a:spcPct val="120000"/>
              </a:lnSpc>
              <a:defRPr sz="900">
                <a:solidFill>
                  <a:srgbClr val="1E293B"/>
                </a:solidFill>
                <a:latin typeface="微軟正黑體"/>
              </a:defRPr>
            </a:pPr>
            <a:r>
              <a:t>知名老牌集合住宅（總戶數 188 戶），屋齡約 33.9 年。115 年受央行第七波信用管制與買氣急凍影響，全年度尚無純住宅實登揭露；最新成交為 114年12月 的 29.9 萬/坪（距歷史高點 30.3 萬回跌 -1.3%*）。</a:t>
            </a:r>
            <a:br/>
            <a:r>
              <a:t>• 本案面臨結構機能衰退與公共維護負擔沉重，且 30 餘年老社區居住 10 至 20 年後將邁入 50 年屋齡老舊大樓，屆時將無人購買更缺乏實質買盤，金融機能亦全面關閉。</a:t>
            </a:r>
            <a:br/>
            <a:r>
              <a:t>• 計量經濟模型測算顯示，在流動性衝擊與阻尼平滑下，預估 116 年下修至 26.0 萬，117 年跌至 23.6 萬，118 年收斂於 22.8 萬（三年累計修正 -20.6%），理性回測長期價值支撐帶（17.8～19.2 萬/坪）。</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5486400" cy="292608"/>
          </a:xfrm>
          <a:prstGeom prst="roundRect">
            <a:avLst/>
          </a:prstGeom>
          <a:solidFill>
            <a:srgbClr val="EAF2FA"/>
          </a:solidFill>
          <a:ln w="1270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C5E8A"/>
                </a:solidFill>
                <a:latin typeface="微軟正黑體"/>
              </a:defRPr>
            </a:pPr>
            <a:r>
              <a:t>台中市南區 25 年以上老牌大社區・實價登錄趨勢與後續三年預估專題報告</a:t>
            </a:r>
          </a:p>
        </p:txBody>
      </p:sp>
      <p:sp>
        <p:nvSpPr>
          <p:cNvPr id="5" name="TextBox 4"/>
          <p:cNvSpPr txBox="1"/>
          <p:nvPr/>
        </p:nvSpPr>
        <p:spPr>
          <a:xfrm>
            <a:off x="731520" y="594360"/>
            <a:ext cx="10698480" cy="594360"/>
          </a:xfrm>
          <a:prstGeom prst="rect">
            <a:avLst/>
          </a:prstGeom>
          <a:noFill/>
        </p:spPr>
        <p:txBody>
          <a:bodyPr wrap="square">
            <a:spAutoFit/>
          </a:bodyPr>
          <a:lstStyle/>
          <a:p>
            <a:pPr>
              <a:defRPr sz="1900" b="1">
                <a:solidFill>
                  <a:srgbClr val="1B365D"/>
                </a:solidFill>
                <a:latin typeface="微軟正黑體"/>
              </a:defRPr>
            </a:pPr>
            <a:r>
              <a:t>戰略決策指引：老牌社區下行週期確立，買賣雙方的理性因應對策</a:t>
            </a:r>
          </a:p>
        </p:txBody>
      </p:sp>
      <p:sp>
        <p:nvSpPr>
          <p:cNvPr id="6" name="Rounded Rectangle 5"/>
          <p:cNvSpPr/>
          <p:nvPr/>
        </p:nvSpPr>
        <p:spPr>
          <a:xfrm>
            <a:off x="731520" y="1371600"/>
            <a:ext cx="5212080" cy="502920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a:spAutoFit/>
          </a:bodyPr>
          <a:lstStyle/>
          <a:p>
            <a:pPr>
              <a:defRPr sz="1500" b="1">
                <a:solidFill>
                  <a:srgbClr val="C0392B"/>
                </a:solidFill>
                <a:latin typeface="微軟正黑體"/>
              </a:defRPr>
            </a:pPr>
            <a:r>
              <a:t>🏷️ 給賣方（屋主）的實戰建言：及時讓利、現金落袋</a:t>
            </a:r>
          </a:p>
          <a:p>
            <a:pPr>
              <a:spcBef>
                <a:spcPts val="800"/>
              </a:spcBef>
              <a:defRPr sz="1100" b="1">
                <a:solidFill>
                  <a:srgbClr val="C0392B"/>
                </a:solidFill>
                <a:latin typeface="微軟正黑體"/>
              </a:defRPr>
            </a:pPr>
            <a:r>
              <a:t>• 不要成為替鄰居免費抬轎的犧牲品</a:t>
            </a:r>
          </a:p>
          <a:p>
            <a:pPr>
              <a:lnSpc>
                <a:spcPct val="125000"/>
              </a:lnSpc>
              <a:defRPr sz="950">
                <a:solidFill>
                  <a:srgbClr val="1E293B"/>
                </a:solidFill>
                <a:latin typeface="微軟正黑體"/>
              </a:defRPr>
            </a:pPr>
            <a:r>
              <a:t>同社區在售戶數普遍在 6～15 戶以上，市場只有極少數中年自住買方願意接手。誰先願意適度讓利，誰就能先把數百萬現金安全落袋！</a:t>
            </a:r>
          </a:p>
          <a:p>
            <a:pPr>
              <a:spcBef>
                <a:spcPts val="800"/>
              </a:spcBef>
              <a:defRPr sz="1100" b="1">
                <a:solidFill>
                  <a:srgbClr val="C0392B"/>
                </a:solidFill>
                <a:latin typeface="微軟正黑體"/>
              </a:defRPr>
            </a:pPr>
            <a:r>
              <a:t>• 避免計量模型測算之兩成以上跌幅侵蝕獲利</a:t>
            </a:r>
          </a:p>
          <a:p>
            <a:pPr>
              <a:lnSpc>
                <a:spcPct val="125000"/>
              </a:lnSpc>
              <a:defRPr sz="950">
                <a:solidFill>
                  <a:srgbClr val="1E293B"/>
                </a:solidFill>
                <a:latin typeface="微軟正黑體"/>
              </a:defRPr>
            </a:pPr>
            <a:r>
              <a:t>在量價衰減與老屋限貸影響下，越晚賣價格只會越低，若再拖兩年，以 40 坪物件計算相當於房屋總值憑空蒸發數十至上百萬元以上！</a:t>
            </a:r>
          </a:p>
          <a:p>
            <a:pPr>
              <a:spcBef>
                <a:spcPts val="800"/>
              </a:spcBef>
              <a:defRPr sz="1100" b="1">
                <a:solidFill>
                  <a:srgbClr val="C0392B"/>
                </a:solidFill>
                <a:latin typeface="微軟正黑體"/>
              </a:defRPr>
            </a:pPr>
            <a:r>
              <a:t>• 30餘年老屋居住10~20年邁入50年將無人購買</a:t>
            </a:r>
          </a:p>
          <a:p>
            <a:pPr>
              <a:lnSpc>
                <a:spcPct val="125000"/>
              </a:lnSpc>
              <a:defRPr sz="950">
                <a:solidFill>
                  <a:srgbClr val="1E293B"/>
                </a:solidFill>
                <a:latin typeface="微軟正黑體"/>
              </a:defRPr>
            </a:pPr>
            <a:r>
              <a:t>現在已經歷時三十幾年的老社區，在居住 10 至 20 年之後將成為 50 年屋齡的老舊建築，屆時將無人購買更沒有實質買盤，應及早讓利退場避險！</a:t>
            </a:r>
          </a:p>
          <a:p>
            <a:pPr>
              <a:spcBef>
                <a:spcPts val="800"/>
              </a:spcBef>
              <a:defRPr sz="1100" b="1">
                <a:solidFill>
                  <a:srgbClr val="C0392B"/>
                </a:solidFill>
                <a:latin typeface="微軟正黑體"/>
              </a:defRPr>
            </a:pPr>
            <a:r>
              <a:t>• 把握目前高檔反轉初期的高利潤窗口</a:t>
            </a:r>
          </a:p>
          <a:p>
            <a:pPr>
              <a:lnSpc>
                <a:spcPct val="125000"/>
              </a:lnSpc>
              <a:defRPr sz="950">
                <a:solidFill>
                  <a:srgbClr val="1E293B"/>
                </a:solidFill>
                <a:latin typeface="微軟正黑體"/>
              </a:defRPr>
            </a:pPr>
            <a:r>
              <a:t>若多年前以 13～17 萬買入，目前即便在 19～22 萬成交依然大賺數百萬，此時落袋為安才是最大贏家。</a:t>
            </a:r>
          </a:p>
        </p:txBody>
      </p:sp>
      <p:sp>
        <p:nvSpPr>
          <p:cNvPr id="8" name="Rounded Rectangle 7"/>
          <p:cNvSpPr/>
          <p:nvPr/>
        </p:nvSpPr>
        <p:spPr>
          <a:xfrm>
            <a:off x="6217920" y="1371600"/>
            <a:ext cx="5212080" cy="5029200"/>
          </a:xfrm>
          <a:prstGeom prst="roundRect">
            <a:avLst/>
          </a:prstGeom>
          <a:solidFill>
            <a:srgbClr val="FFFFF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a:spAutoFit/>
          </a:bodyPr>
          <a:lstStyle/>
          <a:p>
            <a:pPr>
              <a:defRPr sz="1500" b="1">
                <a:solidFill>
                  <a:srgbClr val="27AE60"/>
                </a:solidFill>
                <a:latin typeface="微軟正黑體"/>
              </a:defRPr>
            </a:pPr>
            <a:r>
              <a:t>🎯 給買方（買家）的出價指引：理性定錨、嚴守防線</a:t>
            </a:r>
          </a:p>
          <a:p>
            <a:pPr>
              <a:spcBef>
                <a:spcPts val="800"/>
              </a:spcBef>
              <a:defRPr sz="1100" b="1">
                <a:solidFill>
                  <a:srgbClr val="27AE60"/>
                </a:solidFill>
                <a:latin typeface="微軟正黑體"/>
              </a:defRPr>
            </a:pPr>
            <a:r>
              <a:t>• 堅決以實登破底價與長期合理支撐帶起手出價</a:t>
            </a:r>
          </a:p>
          <a:p>
            <a:pPr>
              <a:lnSpc>
                <a:spcPct val="125000"/>
              </a:lnSpc>
              <a:defRPr sz="950">
                <a:solidFill>
                  <a:srgbClr val="1E293B"/>
                </a:solidFill>
                <a:latin typeface="微軟正黑體"/>
              </a:defRPr>
            </a:pPr>
            <a:r>
              <a:t>實登行情已全線見頂反轉，出價應直接參照最新成交低點（約 17～19 萬/坪）或長期支撐區間起手，絕不替屋主過去兩年的狂熱買單。</a:t>
            </a:r>
          </a:p>
          <a:p>
            <a:pPr>
              <a:spcBef>
                <a:spcPts val="800"/>
              </a:spcBef>
              <a:defRPr sz="1100" b="1">
                <a:solidFill>
                  <a:srgbClr val="27AE60"/>
                </a:solidFill>
                <a:latin typeface="微軟正黑體"/>
              </a:defRPr>
            </a:pPr>
            <a:r>
              <a:t>• 將數十至上百萬維修翻新費用預先自總價扣除</a:t>
            </a:r>
          </a:p>
          <a:p>
            <a:pPr>
              <a:lnSpc>
                <a:spcPct val="125000"/>
              </a:lnSpc>
              <a:defRPr sz="950">
                <a:solidFill>
                  <a:srgbClr val="1E293B"/>
                </a:solidFill>
                <a:latin typeface="微軟正黑體"/>
              </a:defRPr>
            </a:pPr>
            <a:r>
              <a:t>30 年以上老屋結構機能衰退與公共維護負擔沉重，這筆不可融資的現金支出必須直接在出價總價中全額折減。</a:t>
            </a:r>
          </a:p>
          <a:p>
            <a:pPr>
              <a:spcBef>
                <a:spcPts val="800"/>
              </a:spcBef>
              <a:defRPr sz="1100" b="1">
                <a:solidFill>
                  <a:srgbClr val="27AE60"/>
                </a:solidFill>
                <a:latin typeface="微軟正黑體"/>
              </a:defRPr>
            </a:pPr>
            <a:r>
              <a:t>• 審慎檢視銀行貸款年限與自備款承受力</a:t>
            </a:r>
          </a:p>
          <a:p>
            <a:pPr>
              <a:lnSpc>
                <a:spcPct val="125000"/>
              </a:lnSpc>
              <a:defRPr sz="950">
                <a:solidFill>
                  <a:srgbClr val="1E293B"/>
                </a:solidFill>
                <a:latin typeface="微軟正黑體"/>
              </a:defRPr>
            </a:pPr>
            <a:r>
              <a:t>確認銀行是否能核貸 7 成以上以及年限是否受限（20年 vs 30年），斡旋單務必加註『房貸未滿七成無條件解約退斡』保護條款。</a:t>
            </a:r>
          </a:p>
          <a:p>
            <a:pPr>
              <a:spcBef>
                <a:spcPts val="800"/>
              </a:spcBef>
              <a:defRPr sz="1100" b="1">
                <a:solidFill>
                  <a:srgbClr val="27AE60"/>
                </a:solidFill>
                <a:latin typeface="微軟正黑體"/>
              </a:defRPr>
            </a:pPr>
            <a:r>
              <a:t>• 善用跨社區與跨生活圈競品替代談判</a:t>
            </a:r>
          </a:p>
          <a:p>
            <a:pPr>
              <a:lnSpc>
                <a:spcPct val="125000"/>
              </a:lnSpc>
              <a:defRPr sz="950">
                <a:solidFill>
                  <a:srgbClr val="1E293B"/>
                </a:solidFill>
                <a:latin typeface="微軟正黑體"/>
              </a:defRPr>
            </a:pPr>
            <a:r>
              <a:t>同時評估南屯（如大墩人文）或新重劃區新小宅，以隨時可轉向的客觀心態談判，牢牢掌握議價主導權！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