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72" r:id="rId9"/>
    <p:sldId id="273" r:id="rId10"/>
    <p:sldId id="274" r:id="rId11"/>
    <p:sldId id="265" r:id="rId12"/>
    <p:sldId id="262" r:id="rId13"/>
    <p:sldId id="275" r:id="rId14"/>
    <p:sldId id="276" r:id="rId15"/>
    <p:sldId id="277" r:id="rId16"/>
    <p:sldId id="278" r:id="rId17"/>
    <p:sldId id="279" r:id="rId18"/>
    <p:sldId id="280" r:id="rId19"/>
    <p:sldId id="353" r:id="rId20"/>
    <p:sldId id="354" r:id="rId21"/>
    <p:sldId id="268" r:id="rId22"/>
    <p:sldId id="355" r:id="rId23"/>
    <p:sldId id="281" r:id="rId24"/>
    <p:sldId id="266" r:id="rId25"/>
    <p:sldId id="267" r:id="rId26"/>
    <p:sldId id="282" r:id="rId27"/>
    <p:sldId id="269" r:id="rId28"/>
    <p:sldId id="270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2" d="100"/>
          <a:sy n="122" d="100"/>
        </p:scale>
        <p:origin x="108" y="28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mYElyyW_RM" TargetMode="Externa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HmYElyyW_RM?feature=oembed" TargetMode="External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EFiyXprPR58?feature=oembed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5868wBL-pIc?start=13&amp;feature=oembed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Opm5w0Wf7Q?feature=oembed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292608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332720" cy="1441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D98C14"/>
                </a:solidFill>
                <a:latin typeface="微軟正黑體"/>
              </a:defRPr>
            </a:pPr>
            <a:r>
              <a:rPr dirty="0" err="1"/>
              <a:t>大墩人文</a:t>
            </a:r>
            <a:r>
              <a:rPr dirty="0"/>
              <a:t> 11 </a:t>
            </a:r>
            <a:r>
              <a:rPr dirty="0" err="1"/>
              <a:t>樓之</a:t>
            </a:r>
            <a:r>
              <a:rPr dirty="0"/>
              <a:t> 2（</a:t>
            </a:r>
            <a:r>
              <a:rPr lang="zh-TW" altLang="en-US" dirty="0"/>
              <a:t>信義</a:t>
            </a:r>
            <a:r>
              <a:rPr dirty="0" err="1"/>
              <a:t>專任捷運大三房</a:t>
            </a:r>
            <a:r>
              <a:rPr dirty="0"/>
              <a:t>）</a:t>
            </a:r>
          </a:p>
          <a:p>
            <a:pPr>
              <a:spcBef>
                <a:spcPts val="800"/>
              </a:spcBef>
              <a:defRPr sz="3600" b="1">
                <a:solidFill>
                  <a:srgbClr val="FFFFFF"/>
                </a:solidFill>
                <a:latin typeface="微軟正黑體"/>
              </a:defRPr>
            </a:pPr>
            <a:r>
              <a:rPr dirty="0" err="1"/>
              <a:t>屋主見面議價與善意溝通簡報</a:t>
            </a:r>
            <a:endParaRPr dirty="0"/>
          </a:p>
          <a:p>
            <a:pPr>
              <a:spcBef>
                <a:spcPts val="1200"/>
              </a:spcBef>
              <a:defRPr sz="1300">
                <a:solidFill>
                  <a:srgbClr val="BED2F0"/>
                </a:solidFill>
                <a:latin typeface="微軟正黑體"/>
              </a:defRPr>
            </a:pPr>
            <a:r>
              <a:rPr dirty="0"/>
              <a:t>【</a:t>
            </a:r>
            <a:r>
              <a:rPr dirty="0" err="1"/>
              <a:t>物件現況優缺評估</a:t>
            </a:r>
            <a:r>
              <a:rPr dirty="0"/>
              <a:t> ｜ </a:t>
            </a:r>
            <a:r>
              <a:rPr dirty="0" err="1"/>
              <a:t>產調瑕疵與翻修扣抵</a:t>
            </a:r>
            <a:r>
              <a:rPr dirty="0"/>
              <a:t> ｜ 南屯75大社區實登走勢 ｜ </a:t>
            </a:r>
            <a:r>
              <a:rPr dirty="0" err="1"/>
              <a:t>買方客觀預算與雙贏讓利提案</a:t>
            </a:r>
            <a:r>
              <a:rPr dirty="0"/>
              <a:t>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51560"/>
          </a:xfrm>
          <a:prstGeom prst="roundRect">
            <a:avLst/>
          </a:prstGeom>
          <a:solidFill>
            <a:srgbClr val="162D55"/>
          </a:solidFill>
          <a:ln w="12700">
            <a:solidFill>
              <a:srgbClr val="284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FFFFFF"/>
                </a:solidFill>
                <a:latin typeface="微軟正黑體"/>
              </a:defRPr>
            </a:pPr>
            <a:r>
              <a:rPr dirty="0" err="1"/>
              <a:t>報告對象：大墩人文全體共有人</a:t>
            </a:r>
            <a:r>
              <a:rPr dirty="0"/>
              <a:t> ｜ </a:t>
            </a:r>
            <a:r>
              <a:rPr dirty="0" err="1"/>
              <a:t>報告人：誠意自住家庭買方</a:t>
            </a:r>
            <a:r>
              <a:rPr dirty="0"/>
              <a:t> ｜ 標的：台中市南屯區南屯路二段207之6號11樓之2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dirty="0" err="1"/>
              <a:t>執行摘要：買方理性出價的</a:t>
            </a:r>
            <a:r>
              <a:rPr dirty="0"/>
              <a:t> 4 </a:t>
            </a:r>
            <a:r>
              <a:rPr dirty="0" err="1"/>
              <a:t>大協商維度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7AE60"/>
                </a:solidFill>
                <a:latin typeface="微軟正黑體"/>
              </a:defRPr>
            </a:pPr>
            <a:r>
              <a:t>❤️ 肯定起家厝與真誠自住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我們曾在此生活圈租屋，對大墩人文社區有深刻感情。我們是紮實的純自住家庭，非投資炒作客，承諾購入後投入上百萬細心翻修水電與廚衛，好好延續長輩起家厝的溫暖生命力！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514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2148840" cy="2320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🛠️ 120 </a:t>
            </a:r>
            <a:r>
              <a:rPr dirty="0" err="1"/>
              <a:t>萬老屋翻新剛性支出</a:t>
            </a:r>
            <a:endParaRPr dirty="0"/>
          </a:p>
          <a:p>
            <a:pPr>
              <a:lnSpc>
                <a:spcPct val="130000"/>
              </a:lnSpc>
              <a:spcBef>
                <a:spcPts val="1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rPr lang="zh-TW" altLang="en-US" dirty="0"/>
              <a:t>舊有櫥櫃，書桌，衣櫃等裝潢須拆除清運。</a:t>
            </a:r>
            <a:r>
              <a:rPr dirty="0"/>
              <a:t>34 </a:t>
            </a:r>
            <a:r>
              <a:rPr dirty="0" err="1"/>
              <a:t>年老屋水電管線暗管未換、電箱</a:t>
            </a:r>
            <a:r>
              <a:rPr lang="zh-TW" altLang="en-US" dirty="0"/>
              <a:t>電線老舊需更換</a:t>
            </a:r>
            <a:r>
              <a:rPr dirty="0"/>
              <a:t>、</a:t>
            </a:r>
            <a:r>
              <a:rPr dirty="0" err="1"/>
              <a:t>雙衛浴外牆漏水壁癌（信義產調載明</a:t>
            </a:r>
            <a:r>
              <a:rPr dirty="0"/>
              <a:t>）</a:t>
            </a:r>
            <a:r>
              <a:rPr lang="zh-TW" altLang="en-US" dirty="0"/>
              <a:t>亦須拆除重作</a:t>
            </a:r>
            <a:r>
              <a:rPr dirty="0"/>
              <a:t>。</a:t>
            </a:r>
            <a:r>
              <a:rPr dirty="0" err="1"/>
              <a:t>盛祥統包報價</a:t>
            </a:r>
            <a:r>
              <a:rPr dirty="0"/>
              <a:t> 8 </a:t>
            </a:r>
            <a:r>
              <a:rPr dirty="0" err="1"/>
              <a:t>大純基礎安全工項高達</a:t>
            </a:r>
            <a:r>
              <a:rPr dirty="0"/>
              <a:t> 10 </a:t>
            </a:r>
            <a:r>
              <a:rPr dirty="0" err="1"/>
              <a:t>萬，這筆</a:t>
            </a:r>
            <a:r>
              <a:rPr lang="zh-TW" altLang="en-US" dirty="0"/>
              <a:t>必要</a:t>
            </a:r>
            <a:r>
              <a:rPr dirty="0" err="1"/>
              <a:t>支出</a:t>
            </a:r>
            <a:r>
              <a:rPr lang="zh-TW" altLang="en-US" dirty="0"/>
              <a:t>需包含</a:t>
            </a:r>
            <a:r>
              <a:rPr dirty="0" err="1"/>
              <a:t>在購屋</a:t>
            </a:r>
            <a:r>
              <a:rPr lang="zh-TW" altLang="en-US" dirty="0"/>
              <a:t>預算內</a:t>
            </a:r>
            <a:r>
              <a:rPr dirty="0"/>
              <a:t>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514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98C14"/>
                </a:solidFill>
                <a:latin typeface="微軟正黑體"/>
              </a:defRPr>
            </a:pPr>
            <a:r>
              <a:t>📉 南屯實登大盤量縮 79.7%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南屯 75 棟老牌社區年成交量由 694 件雪崩至 141 件！嶺東率先破 2 字頭，五期指標案接連回檔。大墩人文長年行情僅 19~20 萬，近期 2 樓跌至 25.5 萬，950 萬開價已在歷史頂峰。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371600"/>
            <a:ext cx="2514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0" y="1554480"/>
            <a:ext cx="2148840" cy="1690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🎯 850 </a:t>
            </a:r>
            <a:r>
              <a:rPr dirty="0" err="1"/>
              <a:t>萬家庭預算上限封頂</a:t>
            </a:r>
            <a:endParaRPr dirty="0"/>
          </a:p>
          <a:p>
            <a:pPr>
              <a:lnSpc>
                <a:spcPct val="130000"/>
              </a:lnSpc>
              <a:spcBef>
                <a:spcPts val="12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自備款與家庭資金上限</a:t>
            </a:r>
            <a:r>
              <a:rPr dirty="0"/>
              <a:t> 850 </a:t>
            </a:r>
            <a:r>
              <a:rPr dirty="0" err="1"/>
              <a:t>萬，扣除</a:t>
            </a:r>
            <a:r>
              <a:rPr dirty="0"/>
              <a:t> 1</a:t>
            </a:r>
            <a:r>
              <a:rPr lang="en-US" dirty="0"/>
              <a:t>0</a:t>
            </a:r>
            <a:r>
              <a:rPr dirty="0"/>
              <a:t>0 </a:t>
            </a:r>
            <a:r>
              <a:rPr dirty="0" err="1"/>
              <a:t>萬基礎工程款，購屋極限天花板鎖定</a:t>
            </a:r>
            <a:r>
              <a:rPr dirty="0"/>
              <a:t> 7</a:t>
            </a:r>
            <a:r>
              <a:rPr lang="en-US" dirty="0"/>
              <a:t>5</a:t>
            </a:r>
            <a:r>
              <a:rPr dirty="0"/>
              <a:t>0 </a:t>
            </a:r>
            <a:r>
              <a:rPr dirty="0" err="1"/>
              <a:t>萬。價格合意當場簽約，協助</a:t>
            </a:r>
            <a:r>
              <a:rPr lang="zh-TW" altLang="en-US" dirty="0"/>
              <a:t>屋主</a:t>
            </a:r>
            <a:r>
              <a:rPr dirty="0" err="1"/>
              <a:t>全額純現金落袋為安</a:t>
            </a:r>
            <a:r>
              <a:rPr dirty="0"/>
              <a:t>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t>大墩人文 11 樓現況剖析：優點充分肯定，老舊瑕疵客觀面對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754880" cy="2576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💎 </a:t>
            </a:r>
            <a:r>
              <a:rPr dirty="0" err="1"/>
              <a:t>買方高度認同之物件優點（誠意購買基石</a:t>
            </a:r>
            <a:r>
              <a:rPr dirty="0"/>
              <a:t>）</a:t>
            </a:r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室內專有實坪扎實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登記</a:t>
            </a:r>
            <a:r>
              <a:rPr dirty="0"/>
              <a:t> 31.54 </a:t>
            </a:r>
            <a:r>
              <a:rPr dirty="0" err="1"/>
              <a:t>坪全部為主建物</a:t>
            </a:r>
            <a:r>
              <a:rPr dirty="0"/>
              <a:t>(30.07坪)</a:t>
            </a:r>
            <a:r>
              <a:rPr dirty="0" err="1"/>
              <a:t>加陽台</a:t>
            </a:r>
            <a:r>
              <a:rPr dirty="0"/>
              <a:t>(1.47坪)，室內大三房開闊好住，無現代新大樓35%灌水虛坪。</a:t>
            </a:r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南屯成熟生活圈地段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近</a:t>
            </a:r>
            <a:r>
              <a:rPr lang="zh-TW" altLang="en-US" dirty="0"/>
              <a:t>南屯好事多</a:t>
            </a:r>
            <a:r>
              <a:rPr dirty="0"/>
              <a:t>、</a:t>
            </a:r>
            <a:r>
              <a:rPr dirty="0" err="1"/>
              <a:t>永春國小、南屯捷運站，生活採買、就學便利，是買方</a:t>
            </a:r>
            <a:r>
              <a:rPr lang="zh-TW" altLang="en-US" dirty="0"/>
              <a:t>曾經租屋居住過且</a:t>
            </a:r>
            <a:r>
              <a:rPr dirty="0" err="1"/>
              <a:t>具感情的生活環境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11 </a:t>
            </a:r>
            <a:r>
              <a:rPr dirty="0" err="1"/>
              <a:t>樓高樓層採光通風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次頂樓高視野，邊間雙面採光，白日自然光充足，空氣對流佳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自住起家厝人文底蘊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lang="zh-TW" altLang="en-US" dirty="0"/>
              <a:t>屋主</a:t>
            </a:r>
            <a:r>
              <a:rPr dirty="0" err="1"/>
              <a:t>惜售傳承，室內格局方正、格局無穿堂等重大風水瑕疵，是自住家庭安居樂業的</a:t>
            </a:r>
            <a:r>
              <a:rPr lang="zh-TW" altLang="en-US" dirty="0"/>
              <a:t>環境</a:t>
            </a:r>
            <a:r>
              <a:rPr dirty="0"/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4754880" cy="3102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⚠️ </a:t>
            </a:r>
            <a:r>
              <a:rPr dirty="0" err="1"/>
              <a:t>不可忽視之屋況與公設抗性（議價折讓基礎</a:t>
            </a:r>
            <a:r>
              <a:rPr dirty="0"/>
              <a:t>）</a:t>
            </a:r>
          </a:p>
          <a:p>
            <a:pPr>
              <a:spcBef>
                <a:spcPts val="8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• 34 </a:t>
            </a:r>
            <a:r>
              <a:rPr dirty="0" err="1"/>
              <a:t>年高屋齡物理老化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民國</a:t>
            </a:r>
            <a:r>
              <a:rPr dirty="0"/>
              <a:t> 81 年 11 </a:t>
            </a:r>
            <a:r>
              <a:rPr dirty="0" err="1"/>
              <a:t>月完工，屋齡已近</a:t>
            </a:r>
            <a:r>
              <a:rPr dirty="0"/>
              <a:t> 34 </a:t>
            </a:r>
            <a:r>
              <a:rPr dirty="0" err="1"/>
              <a:t>年，室內水電管線、泥作防水皆達物理壽命終點，必須大幅翻新</a:t>
            </a:r>
            <a:r>
              <a:rPr lang="zh-TW" altLang="en-US" dirty="0"/>
              <a:t>，否則恐有安全疑慮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無獨立產權車位硬傷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地下1層使照登記為全棟防空避難兼停車，每年需碰運氣抽籤；南屯三房無車位轉手抗性極大。</a:t>
            </a:r>
          </a:p>
          <a:p>
            <a:pPr>
              <a:spcBef>
                <a:spcPts val="8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• </a:t>
            </a:r>
            <a:r>
              <a:rPr lang="zh-TW" altLang="en-US" dirty="0"/>
              <a:t>社區電梯老舊未更新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lang="zh-TW" altLang="en-US" dirty="0"/>
              <a:t>社區電梯使用</a:t>
            </a:r>
            <a:r>
              <a:rPr lang="en-US" altLang="zh-TW" dirty="0"/>
              <a:t>34</a:t>
            </a:r>
            <a:r>
              <a:rPr lang="zh-TW" altLang="en-US" dirty="0"/>
              <a:t>年仍未更新，其餘</a:t>
            </a:r>
            <a:r>
              <a:rPr lang="en-US" altLang="zh-TW" dirty="0"/>
              <a:t>30</a:t>
            </a:r>
            <a:r>
              <a:rPr lang="zh-TW" altLang="en-US" dirty="0"/>
              <a:t>年以上社區，大多數已更新電梯，未來數年內必定面臨電梯更換之費用，每戶估計約</a:t>
            </a:r>
            <a:r>
              <a:rPr lang="en-US" altLang="zh-TW" dirty="0"/>
              <a:t>10-20</a:t>
            </a:r>
            <a:r>
              <a:rPr lang="zh-TW" altLang="en-US" dirty="0"/>
              <a:t>萬元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05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• </a:t>
            </a:r>
            <a:r>
              <a:rPr lang="zh-TW" altLang="en-US" dirty="0"/>
              <a:t>既有櫥櫃，衣櫃等裝潢，兩間衛浴，廚具，門窗，泥做，油漆等基礎工程</a:t>
            </a:r>
            <a:r>
              <a:rPr dirty="0"/>
              <a:t>：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lang="zh-TW" altLang="en-US" dirty="0"/>
              <a:t>物件本身於客廳，三個房間都有既有櫥櫃，衣櫃等固定裝潢，須拆除並清運完成。之後還須重新施作兩間衛浴之更新，更換廚具，全戶門窗等基礎工程，初估即需</a:t>
            </a:r>
            <a:r>
              <a:rPr lang="en-US" altLang="zh-TW" dirty="0"/>
              <a:t>100-120</a:t>
            </a:r>
            <a:r>
              <a:rPr lang="zh-TW" altLang="en-US" dirty="0"/>
              <a:t>萬。</a:t>
            </a:r>
          </a:p>
          <a:p>
            <a:pPr>
              <a:lnSpc>
                <a:spcPct val="120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dirty="0" err="1"/>
              <a:t>信義產調報告深度查核：不動產說明書白紙黑字登載的</a:t>
            </a:r>
            <a:r>
              <a:rPr dirty="0"/>
              <a:t> 5 大</a:t>
            </a:r>
            <a:r>
              <a:rPr lang="zh-TW" altLang="en-US" dirty="0"/>
              <a:t>注意事項</a:t>
            </a:r>
            <a:endParaRPr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020050"/>
              </p:ext>
            </p:extLst>
          </p:nvPr>
        </p:nvGraphicFramePr>
        <p:xfrm>
          <a:off x="731520" y="1371600"/>
          <a:ext cx="10728655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7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說明書查核項目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產調頁碼與官方登載內容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法律與現況解讀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對屋主議價之實質訴求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滲漏水與壁癌瑕疵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說明書第4頁第一類、第17頁第29項：白紙黑字載明「廁所外牆、窗框有滲漏水、壁癌」，近半年未修。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雙衛浴防水層已老化破裂失效，窗框填縫硬化，非表面刷漆可解決，需打除見底重做。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兩間衛浴泥作防水22萬＋氣密窗13萬，共35萬剛性支出必須全額自房價折抵。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34年水電管線未換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/>
                        <a:t>說明書第16頁第19項：明確勾選「水管、電管線於產權持有期間未曾更新」。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 err="1"/>
                        <a:t>老舊電線氧化走火風險高，生鏽鐵管隨時爆管，完全無法負擔現代多台冷氣與廚房高功率家電</a:t>
                      </a:r>
                      <a:r>
                        <a:rPr dirty="0"/>
                        <a:t>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全室太平洋電線抽換、配電箱加大至100A與不銹鋼雙壓接水管需21.9萬，安全必做款。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陽台加窗屬既存違建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說明書第4頁第三類、第17頁第33項：明載「陽台加窗屬未經合法程序之違章建築」。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若遭檢舉或市府公安查報面臨即報即拆且無補償，信義合約要求買方自行承擔被拆除風險。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買方承擔違法被拆風險與拆除還原費用，開價應給予合理產權瑕疵折讓。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 err="1"/>
                        <a:t>地下室共有無獨立車位</a:t>
                      </a: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/>
                        <a:t>說明書第27~28頁使照存根：地下1層登記為防空避難兼停車，無獨立車位產權。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/>
                        <a:t>每年需碰運氣抽籤，南屯路大墩路車位極難租，在外租車位20年額外支出70~80萬。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rPr lang="zh-TW" altLang="en-US" dirty="0"/>
                        <a:t>無車位的物件在二手屋市場的需求低，會買三房兩廳的家庭通常有停車位的需求</a:t>
                      </a:r>
                      <a:r>
                        <a:rPr dirty="0"/>
                        <a:t>。</a:t>
                      </a:r>
                      <a:r>
                        <a:rPr lang="zh-TW" altLang="en-US" dirty="0"/>
                        <a:t>年輕買家不喜歡無固定車位，需要抽籤的不確定感。</a:t>
                      </a: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t>賣方底牌與利益解碼：零房貸純拿現金、低土增稅，變現落袋為安最明智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3017520" cy="1574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1. 6人公同共有繼承，大家最希望變現分產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本戶於</a:t>
            </a:r>
            <a:r>
              <a:rPr dirty="0"/>
              <a:t> 113 年 7 </a:t>
            </a:r>
            <a:r>
              <a:rPr dirty="0" err="1"/>
              <a:t>月發生繼承，登記為</a:t>
            </a:r>
            <a:r>
              <a:rPr dirty="0"/>
              <a:t> 6 </a:t>
            </a:r>
            <a:r>
              <a:rPr dirty="0" err="1"/>
              <a:t>人公同共有</a:t>
            </a:r>
            <a:r>
              <a:rPr dirty="0"/>
              <a:t>。</a:t>
            </a:r>
            <a:br>
              <a:rPr dirty="0"/>
            </a:br>
            <a:r>
              <a:rPr dirty="0"/>
              <a:t>• 房子空置未住，6 </a:t>
            </a:r>
            <a:r>
              <a:rPr dirty="0" err="1"/>
              <a:t>位共有人大家最期盼的就是順利賣掉、公平變現分配遺產現金，落袋為安最圓滿</a:t>
            </a:r>
            <a:r>
              <a:rPr dirty="0"/>
              <a:t>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017520" cy="18773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2. </a:t>
            </a:r>
            <a:r>
              <a:rPr dirty="0" err="1"/>
              <a:t>謄本完全無抵押權，賣多少全額純拿現金</a:t>
            </a:r>
            <a:r>
              <a:rPr dirty="0"/>
              <a:t>！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地政謄本他項權利部白紙黑字「無他項權利登記</a:t>
            </a:r>
            <a:r>
              <a:rPr dirty="0"/>
              <a:t>」，</a:t>
            </a:r>
            <a:r>
              <a:rPr dirty="0" err="1"/>
              <a:t>賣方完全零房貸壓力</a:t>
            </a:r>
            <a:r>
              <a:rPr dirty="0"/>
              <a:t>！</a:t>
            </a:r>
            <a:br>
              <a:rPr dirty="0"/>
            </a:br>
            <a:r>
              <a:rPr dirty="0"/>
              <a:t>• </a:t>
            </a:r>
            <a:r>
              <a:rPr dirty="0" err="1"/>
              <a:t>成交價無論</a:t>
            </a:r>
            <a:r>
              <a:rPr lang="zh-TW" altLang="en-US" dirty="0"/>
              <a:t>是多少金額</a:t>
            </a:r>
            <a:r>
              <a:rPr dirty="0"/>
              <a:t>，</a:t>
            </a:r>
            <a:r>
              <a:rPr dirty="0" err="1"/>
              <a:t>全額都是實質純現金入袋</a:t>
            </a:r>
            <a:r>
              <a:rPr dirty="0"/>
              <a:t>！</a:t>
            </a:r>
            <a:endParaRPr lang="en-US" dirty="0"/>
          </a:p>
          <a:p>
            <a:pPr>
              <a:lnSpc>
                <a:spcPct val="130000"/>
              </a:lnSpc>
              <a:spcBef>
                <a:spcPts val="8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屋主沒有任何高額貸款本利和或賠售套牢問題，爽快讓利成就一段買賣善緣</a:t>
            </a:r>
            <a:r>
              <a:rPr dirty="0"/>
              <a:t>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8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508760"/>
            <a:ext cx="3017520" cy="1574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8C14"/>
                </a:solidFill>
                <a:latin typeface="微軟正黑體"/>
              </a:defRPr>
            </a:pPr>
            <a:r>
              <a:rPr dirty="0"/>
              <a:t>3. </a:t>
            </a:r>
            <a:r>
              <a:rPr dirty="0" err="1"/>
              <a:t>土地增值稅僅</a:t>
            </a:r>
            <a:r>
              <a:rPr dirty="0"/>
              <a:t> 3,293 </a:t>
            </a:r>
            <a:r>
              <a:rPr dirty="0" err="1"/>
              <a:t>元，微乎其微零負擔</a:t>
            </a:r>
            <a:r>
              <a:rPr dirty="0"/>
              <a:t>！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信義說明書第</a:t>
            </a:r>
            <a:r>
              <a:rPr dirty="0"/>
              <a:t> 9 頁土地增值稅概算表：前次移轉為113年7月，一般稅率合計僅需繳納 3,293 </a:t>
            </a:r>
            <a:r>
              <a:rPr dirty="0" err="1"/>
              <a:t>元（自用更僅</a:t>
            </a:r>
            <a:r>
              <a:rPr dirty="0"/>
              <a:t> 1,646 元）！</a:t>
            </a:r>
            <a:br>
              <a:rPr dirty="0"/>
            </a:br>
            <a:r>
              <a:rPr dirty="0"/>
              <a:t>• </a:t>
            </a:r>
            <a:r>
              <a:rPr dirty="0" err="1"/>
              <a:t>繼承取得完全沒有龐大土增稅成本，賣方</a:t>
            </a:r>
            <a:r>
              <a:rPr lang="zh-TW" altLang="en-US" dirty="0"/>
              <a:t>無高額土地增值稅等成本。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728655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10362895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💡 </a:t>
            </a:r>
            <a:r>
              <a:rPr dirty="0" err="1"/>
              <a:t>屋主繼續空置持有的「隱形失血與跌價風險」試算</a:t>
            </a:r>
            <a:r>
              <a:rPr dirty="0"/>
              <a:t>：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固定支出乾耗：空屋每月管理費</a:t>
            </a:r>
            <a:r>
              <a:rPr dirty="0"/>
              <a:t> 1,615 </a:t>
            </a:r>
            <a:r>
              <a:rPr dirty="0" err="1"/>
              <a:t>元＋公設電費水費</a:t>
            </a:r>
            <a:r>
              <a:rPr lang="zh-TW" altLang="en-US" dirty="0"/>
              <a:t>，每個月共需約</a:t>
            </a:r>
            <a:r>
              <a:rPr lang="en-US" altLang="zh-TW" dirty="0"/>
              <a:t>2</a:t>
            </a:r>
            <a:r>
              <a:rPr lang="zh-TW" altLang="en-US" dirty="0"/>
              <a:t>千多</a:t>
            </a:r>
            <a:r>
              <a:rPr dirty="0" err="1"/>
              <a:t>元，多拖半年就平白燒掉</a:t>
            </a:r>
            <a:r>
              <a:rPr dirty="0"/>
              <a:t> 1.5~2 </a:t>
            </a:r>
            <a:r>
              <a:rPr dirty="0" err="1"/>
              <a:t>萬元現金，每年還要繳納房屋稅與地價稅</a:t>
            </a:r>
            <a:r>
              <a:rPr dirty="0"/>
              <a:t>。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大環境量縮修正：央行第七波信用管制下，南屯老屋成交量暴跌</a:t>
            </a:r>
            <a:r>
              <a:rPr dirty="0"/>
              <a:t> 8 </a:t>
            </a:r>
            <a:r>
              <a:rPr dirty="0" err="1"/>
              <a:t>成，價格緩跌確立。房子繼續掛售只會變滯銷物件</a:t>
            </a:r>
            <a:r>
              <a:rPr dirty="0"/>
              <a:t>，</a:t>
            </a:r>
            <a:r>
              <a:rPr lang="zh-TW" altLang="en-US" dirty="0"/>
              <a:t>一</a:t>
            </a:r>
            <a:r>
              <a:rPr dirty="0" err="1"/>
              <a:t>年後買方出價</a:t>
            </a:r>
            <a:r>
              <a:rPr lang="zh-TW" altLang="en-US" dirty="0"/>
              <a:t>必定更低</a:t>
            </a:r>
            <a:r>
              <a:rPr dirty="0"/>
              <a:t>。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• 家庭變現落袋為安：今天只要點頭成交，6 </a:t>
            </a:r>
            <a:r>
              <a:rPr dirty="0" err="1"/>
              <a:t>位共有人每人可立即</a:t>
            </a:r>
            <a:r>
              <a:rPr lang="zh-TW" altLang="en-US" dirty="0"/>
              <a:t>獲得</a:t>
            </a:r>
            <a:r>
              <a:rPr dirty="0" err="1"/>
              <a:t>現金，把不動產轉化為實體</a:t>
            </a:r>
            <a:r>
              <a:rPr lang="zh-TW" altLang="en-US" dirty="0"/>
              <a:t>現金</a:t>
            </a:r>
            <a:r>
              <a:rPr dirty="0" err="1"/>
              <a:t>資產</a:t>
            </a:r>
            <a:r>
              <a:rPr dirty="0"/>
              <a:t>，</a:t>
            </a:r>
            <a:r>
              <a:rPr lang="zh-TW" altLang="en-US" dirty="0"/>
              <a:t>亦可</a:t>
            </a:r>
            <a:r>
              <a:rPr dirty="0" err="1"/>
              <a:t>免去日後管理煩惱</a:t>
            </a:r>
            <a:r>
              <a:rPr dirty="0"/>
              <a:t>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dirty="0" err="1"/>
              <a:t>老屋安全必做工程</a:t>
            </a:r>
            <a:r>
              <a:rPr dirty="0"/>
              <a:t>：</a:t>
            </a:r>
            <a:r>
              <a:rPr lang="zh-TW" altLang="en-US" dirty="0"/>
              <a:t>謙觀公司</a:t>
            </a:r>
            <a:r>
              <a:rPr dirty="0"/>
              <a:t>120 </a:t>
            </a:r>
            <a:r>
              <a:rPr dirty="0" err="1"/>
              <a:t>萬報價單逐項解剖（非奢華裝潢</a:t>
            </a:r>
            <a:r>
              <a:rPr dirty="0"/>
              <a:t>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214594"/>
              </p:ext>
            </p:extLst>
          </p:nvPr>
        </p:nvGraphicFramePr>
        <p:xfrm>
          <a:off x="731520" y="128016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項次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工程類別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主要施作內容與規格摘要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預估金額 (NTD)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佔比與剛性說明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保護與拆除清運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公共梯廳防撞、拆除舊發霉木作櫃體天花板、雙衛廚具打到底、4車合法清運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$162,000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13.4% (前屋主裝潢負資產)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水電管線與電力系統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全室抽換太平洋一級銅線、總電箱加大匯流排(75~100A)、SUS304不銹鋼雙壓接水管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$219,000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18.2% (居家用電用水保命款)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泥作修補、壁癌防水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 err="1"/>
                        <a:t>剔除粉化壁癌抗鹼打底、雙衛浴彈性水泥防水三道</a:t>
                      </a:r>
                      <a:r>
                        <a:rPr dirty="0"/>
                        <a:t>(樑下試水48hr)、全</a:t>
                      </a:r>
                      <a:r>
                        <a:rPr lang="zh-TW" altLang="en-US" dirty="0"/>
                        <a:t>浴</a:t>
                      </a:r>
                      <a:r>
                        <a:rPr dirty="0" err="1"/>
                        <a:t>室地壁磚</a:t>
                      </a: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$220,000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18.3% (信義產調瑕疵根治)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鋁門窗與氣密隔音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/>
                        <a:t>11樓高樓客廳大落地氣密窗、三房5+5膠合強化隔音窗、三合一通風門、窗框塞水路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$130,000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10.8% (高樓防颱抗漏風漏水)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雙衛浴設備與五金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TOTO/Derek省水馬桶×2、防潮發泡板浴櫃面盆×2、主衛乾濕分離拉門、多功能暖風機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$106,000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8.8% (基本衛生與長輩防滑)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廚房系統廚具三機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240cm一字型防潮廚具、耐磨石英石檯面、櫻花/林內防乾燒瓦斯爐與強力油煙機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$137,000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11.4% (34年老瓦斯管防洩漏)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全室油漆粉刷工程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rPr dirty="0" err="1"/>
                        <a:t>全室裂縫AB膠抗裂填縫、全批土兩道研磨細平、得利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虹牌無毒低甲醛乳膠漆</a:t>
                      </a: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$93,000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7.7% (921細紋整平粉刷)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門扇地坪局部包管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臥房實木門×3、衛浴防潮門×2、管線走頂局部平釘包管、全室直鋪SPC石塑地板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$138,000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11.5% (老地磚膨拱整平隔音)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全室純基礎工程總額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rPr dirty="0"/>
                        <a:t>8 </a:t>
                      </a:r>
                      <a:r>
                        <a:rPr dirty="0" err="1"/>
                        <a:t>大工種老屋保命純基礎翻新總工程款（估價單</a:t>
                      </a:r>
                      <a:r>
                        <a:rPr dirty="0"/>
                        <a:t>）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$1,205,000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rPr dirty="0"/>
                        <a:t>100.0% (約 120 </a:t>
                      </a:r>
                      <a:r>
                        <a:rPr dirty="0" err="1"/>
                        <a:t>萬元整</a:t>
                      </a:r>
                      <a:r>
                        <a:rPr dirty="0"/>
                        <a:t>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532120"/>
            <a:ext cx="10728655" cy="10058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🎯 買方出價公式精算：家庭總預算 850 萬 － 老屋純基礎工程 120 萬 ＝ 購屋總價極限天花板 730 萬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  <a:latin typeface="微軟正黑體"/>
              </a:defRPr>
            </a:pPr>
            <a:r>
              <a:t>這份估價單完全沒有水晶吊燈、豪奢木作壁板或頂級家電，全是為了能安心住進去的水電防水安全工程。每一分錢都省不掉，買方必須拿現金或修繕貸款支付，因此必須從屋主售價中完全折減！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87A90-2E9C-36FF-9405-64A0A867D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A92476-7A62-15F7-3BB5-2DA4D617E22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hlinkClick r:id="rId3"/>
              </a:rPr>
              <a:t>2027</a:t>
            </a:r>
            <a:r>
              <a:rPr lang="zh-TW" altLang="en-US" dirty="0">
                <a:hlinkClick r:id="rId3"/>
              </a:rPr>
              <a:t>台中房價還會跌？</a:t>
            </a:r>
            <a:r>
              <a:rPr lang="en-US" altLang="zh-TW" dirty="0">
                <a:hlinkClick r:id="rId3"/>
              </a:rPr>
              <a:t>20</a:t>
            </a:r>
            <a:r>
              <a:rPr lang="zh-TW" altLang="en-US" dirty="0">
                <a:hlinkClick r:id="rId3"/>
              </a:rPr>
              <a:t>年房仲揭真相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397E27-89C5-5E93-7A57-9DAAB8868261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04A9851-9B87-F97A-2217-70CA391443E7}"/>
              </a:ext>
            </a:extLst>
          </p:cNvPr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69E232-54DA-6AAF-87C6-292DA8CC0911}"/>
              </a:ext>
            </a:extLst>
          </p:cNvPr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lang="en-US" altLang="zh-TW" dirty="0"/>
              <a:t>2026-2027</a:t>
            </a:r>
            <a:r>
              <a:rPr lang="zh-TW" altLang="en-US" dirty="0"/>
              <a:t>台中房市展望</a:t>
            </a:r>
            <a:endParaRPr dirty="0"/>
          </a:p>
        </p:txBody>
      </p:sp>
      <p:pic>
        <p:nvPicPr>
          <p:cNvPr id="9" name="線上媒體 8" title="2027台中房價還會跌？20年房仲揭真相">
            <a:hlinkClick r:id="" action="ppaction://media"/>
            <a:extLst>
              <a:ext uri="{FF2B5EF4-FFF2-40B4-BE49-F238E27FC236}">
                <a16:creationId xmlns:a16="http://schemas.microsoft.com/office/drawing/2014/main" id="{6920C19F-F629-EF94-0BFE-568FF594991F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019459" y="913897"/>
            <a:ext cx="10448201" cy="5903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07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87A90-2E9C-36FF-9405-64A0A867D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A92476-7A62-15F7-3BB5-2DA4D617E22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397E27-89C5-5E93-7A57-9DAAB8868261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04A9851-9B87-F97A-2217-70CA391443E7}"/>
              </a:ext>
            </a:extLst>
          </p:cNvPr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69E232-54DA-6AAF-87C6-292DA8CC0911}"/>
              </a:ext>
            </a:extLst>
          </p:cNvPr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lang="en-US" altLang="zh-TW" b="1" dirty="0"/>
              <a:t>2026</a:t>
            </a:r>
            <a:r>
              <a:rPr lang="zh-TW" altLang="en-US" b="1" dirty="0"/>
              <a:t>買房會賠錢嗎？</a:t>
            </a:r>
            <a:endParaRPr dirty="0"/>
          </a:p>
        </p:txBody>
      </p:sp>
      <p:pic>
        <p:nvPicPr>
          <p:cNvPr id="6" name="線上媒體 5" title="誰說房價沒跌！最新房價指數：永慶房跌6.98%、信義跌3.66%｜2026買房會賠錢嗎？">
            <a:hlinkClick r:id="" action="ppaction://media"/>
            <a:extLst>
              <a:ext uri="{FF2B5EF4-FFF2-40B4-BE49-F238E27FC236}">
                <a16:creationId xmlns:a16="http://schemas.microsoft.com/office/drawing/2014/main" id="{F53E4508-C319-D65F-B956-65C07C3999A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902577" y="972836"/>
            <a:ext cx="10320447" cy="583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625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292608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98C14"/>
                </a:solidFill>
                <a:latin typeface="微軟正黑體"/>
              </a:defRPr>
            </a:pPr>
            <a:r>
              <a:t>台中市南屯區 30 年以上・100 戶以上老牌大型社區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  <a:latin typeface="微軟正黑體"/>
              </a:defRPr>
            </a:pPr>
            <a:r>
              <a:t>實價登錄趨勢與後續三年預估分析報告</a:t>
            </a:r>
          </a:p>
          <a:p>
            <a:pPr>
              <a:spcBef>
                <a:spcPts val="1200"/>
              </a:spcBef>
              <a:defRPr sz="1250">
                <a:solidFill>
                  <a:srgbClr val="BED2F0"/>
                </a:solidFill>
                <a:latin typeface="微軟正黑體"/>
              </a:defRPr>
            </a:pPr>
            <a:r>
              <a:t>【大盤量縮 79.7% 轉折確立 ｜ 六模組動態計量預估模型 ｜ 全數 75 社區全圖鑑 ｜ 五期・黎明・七期南・八期・嶺東全景解析】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05840"/>
          </a:xfrm>
          <a:prstGeom prst="roundRect">
            <a:avLst/>
          </a:prstGeom>
          <a:solidFill>
            <a:srgbClr val="162D55"/>
          </a:solidFill>
          <a:ln w="12700">
            <a:solidFill>
              <a:srgbClr val="284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FFFFFF"/>
                </a:solidFill>
                <a:latin typeface="微軟正黑體"/>
              </a:defRPr>
            </a:pPr>
            <a:r>
              <a:t>數據範疇：全南屯區 75 棟 30 年以上百戶大型社區（總計 14,671 戶、平均屋齡 32.4 年） ｜ 實登總計：6,473 筆（純住宅 5,437 筆） ｜ 跨平台檢核：591・樂居Leju・僑馥CTOPMap ｜ 分析基準：2026 年 10 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執行摘要：南屯區老牌大社區房市大盤 4 大核心研判結論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📉 大盤見頂反轉・量縮高達 79.7%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t>全南屯區 75 棟老牌大案於 113 年衝上 29.1 萬/坪中位數歷史天花板後見頂。央行實施第七波選擇性信用管制後，115 年總成交量自高峰期 694 件（113年 429 件）雪崩至 141 件（暴跌 79.7%），『量先價行』鐵律確立市場反轉修正。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98C14"/>
                </a:solidFill>
                <a:latin typeface="微軟正黑體"/>
              </a:defRPr>
            </a:pPr>
            <a:r>
              <a:t>📐 六模組計量經濟學動態下修模型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846320" cy="94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導入六模組動態計量模型（量價衰減動能、屋齡規模</a:t>
            </a:r>
            <a:r>
              <a:rPr lang="zh-TW" altLang="en-US" dirty="0"/>
              <a:t>效應</a:t>
            </a:r>
            <a:r>
              <a:rPr dirty="0"/>
              <a:t>、</a:t>
            </a:r>
            <a:r>
              <a:rPr dirty="0" err="1"/>
              <a:t>經驗貝式平滑、Holt</a:t>
            </a:r>
            <a:r>
              <a:rPr dirty="0"/>
              <a:t> </a:t>
            </a:r>
            <a:r>
              <a:rPr dirty="0" err="1"/>
              <a:t>阻尼趨勢與</a:t>
            </a:r>
            <a:r>
              <a:rPr dirty="0"/>
              <a:t> IQR </a:t>
            </a:r>
            <a:r>
              <a:rPr dirty="0" err="1"/>
              <a:t>價值支撐模型</a:t>
            </a:r>
            <a:r>
              <a:rPr dirty="0"/>
              <a:t>）：</a:t>
            </a:r>
            <a:r>
              <a:rPr dirty="0" err="1"/>
              <a:t>測算大盤中位數</a:t>
            </a:r>
            <a:r>
              <a:rPr dirty="0"/>
              <a:t> 116 年 24.4 萬 ➜ 117 年 21.3 萬 ➜ 118 年 20.6 </a:t>
            </a:r>
            <a:r>
              <a:rPr dirty="0" err="1"/>
              <a:t>萬，三年累計修正</a:t>
            </a:r>
            <a:r>
              <a:rPr dirty="0"/>
              <a:t> -25.9%，</a:t>
            </a:r>
            <a:r>
              <a:rPr dirty="0" err="1"/>
              <a:t>理性收斂向長期合理支撐帶</a:t>
            </a:r>
            <a:r>
              <a:rPr dirty="0"/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C5E8A"/>
                </a:solidFill>
                <a:latin typeface="微軟正黑體"/>
              </a:defRPr>
            </a:pPr>
            <a:r>
              <a:t>🏢 嶺東率先破 2 字頭・五期黎明高檔重挫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846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t>南屯六大生活圈呈現顯著雙速補跌：嶺東精科指標大案黎明大地(18.7萬，跌41.6%)、凱撒風景園邸(19.6萬，跌34.2%)、台中天母(19.9萬)率先摜破 2 字頭！五期與黎明指標案中友綠園邸(-30.4%)、陽光綠意参(-31.6%)、皇后大道(-27.7%)、龍觀天下(23.4萬)同步深幅回調。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7AE60"/>
                </a:solidFill>
                <a:latin typeface="微軟正黑體"/>
              </a:defRPr>
            </a:pPr>
            <a:r>
              <a:t>🎯 四大結構驅動力共振拉動下行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846320" cy="94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defRPr sz="108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【供需面】14,671戶老屋存量競售與十三期/</a:t>
            </a:r>
            <a:r>
              <a:rPr dirty="0" err="1"/>
              <a:t>單元二三四</a:t>
            </a:r>
            <a:r>
              <a:rPr dirty="0"/>
              <a:t>/</a:t>
            </a:r>
            <a:r>
              <a:rPr dirty="0" err="1"/>
              <a:t>嶺東新屋交屋潮分流</a:t>
            </a:r>
            <a:r>
              <a:rPr dirty="0"/>
              <a:t>；【</a:t>
            </a:r>
            <a:r>
              <a:rPr dirty="0" err="1"/>
              <a:t>結構維護面】全室翻修需</a:t>
            </a:r>
            <a:r>
              <a:rPr lang="zh-TW" altLang="en-US" dirty="0"/>
              <a:t>上百</a:t>
            </a:r>
            <a:r>
              <a:rPr dirty="0"/>
              <a:t>萬純現金反噬殘值，再住15年邁入50年老宅買盤歸零；【</a:t>
            </a:r>
            <a:r>
              <a:rPr dirty="0" err="1"/>
              <a:t>市場面】追價破滅與破底定錨</a:t>
            </a:r>
            <a:r>
              <a:rPr dirty="0"/>
              <a:t>；【金融面】第二戶限貸＋逾30年老屋房貸年限</a:t>
            </a:r>
            <a:r>
              <a:rPr lang="zh-TW" altLang="en-US" dirty="0"/>
              <a:t>受限</a:t>
            </a:r>
            <a:r>
              <a:rPr dirty="0"/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指標對照總表：南屯區 10 大指標老牌社區實登行情與後續三年動態計量預估總覽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173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指標社區建案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總戶數/屋齡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歷史最高單價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最新純住成交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歷史最高點到最新成交跌幅(%)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115年均價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歷史最高點到115均價跌幅(%)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116動態預估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117動態預估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118動態預估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三年累積跌幅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理想貴族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732戶 / 34.8年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35.5萬 (113/06)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27.5萬 (115/09)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24.8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-30.3%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21.9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18.7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宏全世界廣場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436戶 / 31.0年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37.6萬 (113/07)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28.4萬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26.9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21.8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中友綠園邸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431戶 / 30.3年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39.8萬 (113/06)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27.7萬 (115/04)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-30.4%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-29.5%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23.0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凱撒風景園邸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423戶 / 32.0年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29.8萬 (112/07)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19.6萬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21.2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19.2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龍觀天下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420戶 / 32.1年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32.0萬 (113/12)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23.4萬 (115/07)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-26.9%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-15.3%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24.4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22.0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21.3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皇后大道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388戶 / 32.9年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37.6萬 (114/06)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27.2萬 (115/08)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26.1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21.0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黎明大地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376戶 / 34.7年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32.0萬 (112/10)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18.7萬 (115/07)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-41.6%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-33.6%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19.0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17.1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16.5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陽光綠意参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366戶 / 32.9年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35.8萬 (113/08)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24.5萬 (115/05)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24.5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22.0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黎明春秋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361戶 / 31.7年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39.2萬 (113/08)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30.8萬 (115/02)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30.8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27.7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25.1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24.2 萬/坪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239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由鉅八大家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331戶 / 32.0年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32.5萬 (114/05)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30.2萬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31.3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28.4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25.8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24.9 萬/坪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-20.4%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715000"/>
            <a:ext cx="10728655" cy="822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 b="1">
                <a:solidFill>
                  <a:srgbClr val="C0392B"/>
                </a:solidFill>
                <a:latin typeface="微軟正黑體"/>
              </a:defRPr>
            </a:pPr>
            <a:r>
              <a:t>💡 數據洞察：南屯十大指標案受大盤量縮 79.7% 與 30 年以上老屋限貸影響，最新實登較歷史高點已普遍回修 21%～41%！其中嶺東黎明大地(18.7萬)、凱撒風景園邸(19.6萬)率先摜破 2 字頭，五期理想貴族(27.5萬)、龍觀天下(23.4萬)與黎明中友綠園邸(27.7萬)同步確立下行通道。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t>南屯大盤實價登錄走勢：75 棟社區量縮 79.7%，價格全面反轉回修</a:t>
            </a:r>
          </a:p>
        </p:txBody>
      </p:sp>
      <p:pic>
        <p:nvPicPr>
          <p:cNvPr id="6" name="Picture 5" descr="00_台中市南屯區30年以上大型社區_大盤匯總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71599"/>
            <a:ext cx="4327855" cy="539652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3962095" cy="5084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📊 </a:t>
            </a:r>
            <a:r>
              <a:rPr dirty="0" err="1"/>
              <a:t>南屯老牌社區大盤</a:t>
            </a:r>
            <a:r>
              <a:rPr dirty="0"/>
              <a:t> 4 </a:t>
            </a:r>
            <a:r>
              <a:rPr dirty="0" err="1"/>
              <a:t>大權威結論</a:t>
            </a:r>
            <a:endParaRPr dirty="0"/>
          </a:p>
          <a:p>
            <a:pPr>
              <a:spcBef>
                <a:spcPts val="800"/>
              </a:spcBef>
              <a:defRPr sz="1100" b="1">
                <a:solidFill>
                  <a:srgbClr val="2C5E8A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樣本涵蓋全區最完整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普查南屯全區</a:t>
            </a:r>
            <a:r>
              <a:rPr dirty="0"/>
              <a:t> 75 棟 30 年以上大型社區（14,671 </a:t>
            </a:r>
            <a:r>
              <a:rPr dirty="0" err="1"/>
              <a:t>戶、平均屋齡</a:t>
            </a:r>
            <a:r>
              <a:rPr dirty="0"/>
              <a:t> 32.4 年），</a:t>
            </a:r>
            <a:r>
              <a:rPr dirty="0" err="1"/>
              <a:t>純住宅實登有效交易</a:t>
            </a:r>
            <a:r>
              <a:rPr dirty="0"/>
              <a:t> 5,437 </a:t>
            </a:r>
            <a:r>
              <a:rPr dirty="0" err="1"/>
              <a:t>筆，經</a:t>
            </a:r>
            <a:r>
              <a:rPr dirty="0"/>
              <a:t> 591/</a:t>
            </a:r>
            <a:r>
              <a:rPr dirty="0" err="1"/>
              <a:t>樂居</a:t>
            </a:r>
            <a:r>
              <a:rPr dirty="0"/>
              <a:t>/</a:t>
            </a:r>
            <a:r>
              <a:rPr dirty="0" err="1"/>
              <a:t>CTOPMap</a:t>
            </a:r>
            <a:r>
              <a:rPr dirty="0"/>
              <a:t> </a:t>
            </a:r>
            <a:r>
              <a:rPr dirty="0" err="1"/>
              <a:t>交叉驗證</a:t>
            </a:r>
            <a:endParaRPr dirty="0"/>
          </a:p>
          <a:p>
            <a:pPr>
              <a:spcBef>
                <a:spcPts val="800"/>
              </a:spcBef>
              <a:defRPr sz="1080" b="1">
                <a:solidFill>
                  <a:srgbClr val="2C5E8A"/>
                </a:solidFill>
                <a:latin typeface="微軟正黑體"/>
              </a:defRPr>
            </a:pPr>
            <a:r>
              <a:rPr lang="en-US" altLang="zh-TW" dirty="0"/>
              <a:t>• 101</a:t>
            </a:r>
            <a:r>
              <a:rPr lang="zh-TW" altLang="en-US" dirty="0"/>
              <a:t>～</a:t>
            </a:r>
            <a:r>
              <a:rPr lang="en-US" altLang="zh-TW" dirty="0"/>
              <a:t>106</a:t>
            </a:r>
            <a:r>
              <a:rPr lang="zh-TW" altLang="en-US" dirty="0"/>
              <a:t>年</a:t>
            </a:r>
            <a:r>
              <a:rPr lang="en-US" altLang="zh-TW" dirty="0"/>
              <a:t>【</a:t>
            </a:r>
            <a:r>
              <a:rPr lang="zh-TW" altLang="en-US" dirty="0"/>
              <a:t>早期溫和換手盤整期</a:t>
            </a:r>
            <a:r>
              <a:rPr lang="en-US" altLang="zh-TW" dirty="0"/>
              <a:t>】</a:t>
            </a:r>
          </a:p>
          <a:p>
            <a:pPr>
              <a:lnSpc>
                <a:spcPct val="125000"/>
              </a:lnSpc>
              <a:defRPr sz="930">
                <a:solidFill>
                  <a:srgbClr val="1E293B"/>
                </a:solidFill>
                <a:latin typeface="微軟正黑體"/>
              </a:defRPr>
            </a:pPr>
            <a:r>
              <a:rPr lang="zh-TW" altLang="en-US" dirty="0"/>
              <a:t>全區純住宅中位數落在 </a:t>
            </a:r>
            <a:r>
              <a:rPr lang="en-US" altLang="zh-TW" dirty="0"/>
              <a:t>13.0</a:t>
            </a:r>
            <a:r>
              <a:rPr lang="zh-TW" altLang="en-US" dirty="0"/>
              <a:t>～</a:t>
            </a:r>
            <a:r>
              <a:rPr lang="en-US" altLang="zh-TW" dirty="0"/>
              <a:t>17.4 </a:t>
            </a:r>
            <a:r>
              <a:rPr lang="zh-TW" altLang="en-US" dirty="0"/>
              <a:t>萬</a:t>
            </a:r>
            <a:r>
              <a:rPr lang="en-US" altLang="zh-TW" dirty="0"/>
              <a:t>/</a:t>
            </a:r>
            <a:r>
              <a:rPr lang="zh-TW" altLang="en-US" dirty="0"/>
              <a:t>坪，</a:t>
            </a:r>
            <a:r>
              <a:rPr lang="en-US" altLang="zh-TW" dirty="0"/>
              <a:t>102</a:t>
            </a:r>
            <a:r>
              <a:rPr lang="zh-TW" altLang="en-US" dirty="0"/>
              <a:t>年創 </a:t>
            </a:r>
            <a:r>
              <a:rPr lang="en-US" altLang="zh-TW" dirty="0"/>
              <a:t>694 </a:t>
            </a:r>
            <a:r>
              <a:rPr lang="zh-TW" altLang="en-US" dirty="0"/>
              <a:t>件歷史最高成交量，房地合一稅 </a:t>
            </a:r>
            <a:r>
              <a:rPr lang="en-US" altLang="zh-TW" dirty="0"/>
              <a:t>1.0 </a:t>
            </a:r>
            <a:r>
              <a:rPr lang="zh-TW" altLang="en-US" dirty="0"/>
              <a:t>後維持穩健自住築底。</a:t>
            </a:r>
          </a:p>
          <a:p>
            <a:pPr>
              <a:spcBef>
                <a:spcPts val="800"/>
              </a:spcBef>
              <a:defRPr sz="1080" b="1">
                <a:solidFill>
                  <a:srgbClr val="1B365D"/>
                </a:solidFill>
                <a:latin typeface="微軟正黑體"/>
              </a:defRPr>
            </a:pPr>
            <a:r>
              <a:rPr lang="en-US" altLang="zh-TW" dirty="0"/>
              <a:t>• 107</a:t>
            </a:r>
            <a:r>
              <a:rPr lang="zh-TW" altLang="en-US" dirty="0"/>
              <a:t>～</a:t>
            </a:r>
            <a:r>
              <a:rPr lang="en-US" altLang="zh-TW" dirty="0"/>
              <a:t>112</a:t>
            </a:r>
            <a:r>
              <a:rPr lang="zh-TW" altLang="en-US" dirty="0"/>
              <a:t>年</a:t>
            </a:r>
            <a:r>
              <a:rPr lang="en-US" altLang="zh-TW" dirty="0"/>
              <a:t>【</a:t>
            </a:r>
            <a:r>
              <a:rPr lang="zh-TW" altLang="en-US" dirty="0"/>
              <a:t>捷運通車與新青安政策狂漲期</a:t>
            </a:r>
            <a:r>
              <a:rPr lang="en-US" altLang="zh-TW" dirty="0"/>
              <a:t>】</a:t>
            </a:r>
          </a:p>
          <a:p>
            <a:pPr>
              <a:lnSpc>
                <a:spcPct val="125000"/>
              </a:lnSpc>
              <a:defRPr sz="930">
                <a:solidFill>
                  <a:srgbClr val="1E293B"/>
                </a:solidFill>
                <a:latin typeface="微軟正黑體"/>
              </a:defRPr>
            </a:pPr>
            <a:r>
              <a:rPr lang="zh-TW" altLang="en-US" dirty="0"/>
              <a:t>受台商回流精科中科、捷運綠線通車與政府新青安政策失效導致房價狂漲，中位單價由 </a:t>
            </a:r>
            <a:r>
              <a:rPr lang="en-US" altLang="zh-TW" dirty="0"/>
              <a:t>16.9 </a:t>
            </a:r>
            <a:r>
              <a:rPr lang="zh-TW" altLang="en-US" dirty="0"/>
              <a:t>萬一路攀升至 </a:t>
            </a:r>
            <a:r>
              <a:rPr lang="en-US" altLang="zh-TW" dirty="0"/>
              <a:t>26.1 </a:t>
            </a:r>
            <a:r>
              <a:rPr lang="zh-TW" altLang="en-US" dirty="0"/>
              <a:t>萬</a:t>
            </a:r>
            <a:r>
              <a:rPr lang="en-US" altLang="zh-TW" dirty="0"/>
              <a:t>/</a:t>
            </a:r>
            <a:r>
              <a:rPr lang="zh-TW" altLang="en-US" dirty="0"/>
              <a:t>坪。</a:t>
            </a:r>
          </a:p>
          <a:p>
            <a:pPr>
              <a:spcBef>
                <a:spcPts val="800"/>
              </a:spcBef>
              <a:defRPr sz="1080" b="1">
                <a:solidFill>
                  <a:srgbClr val="C0392B"/>
                </a:solidFill>
                <a:latin typeface="微軟正黑體"/>
              </a:defRPr>
            </a:pPr>
            <a:r>
              <a:rPr lang="en-US" altLang="zh-TW" dirty="0"/>
              <a:t>• 113</a:t>
            </a:r>
            <a:r>
              <a:rPr lang="zh-TW" altLang="en-US" dirty="0"/>
              <a:t>～</a:t>
            </a:r>
            <a:r>
              <a:rPr lang="en-US" altLang="zh-TW" dirty="0"/>
              <a:t>115</a:t>
            </a:r>
            <a:r>
              <a:rPr lang="zh-TW" altLang="en-US" dirty="0"/>
              <a:t>年</a:t>
            </a:r>
            <a:r>
              <a:rPr lang="en-US" altLang="zh-TW" dirty="0"/>
              <a:t>【</a:t>
            </a:r>
            <a:r>
              <a:rPr lang="zh-TW" altLang="en-US" dirty="0"/>
              <a:t>見頂反轉量縮急凍期</a:t>
            </a:r>
            <a:r>
              <a:rPr lang="en-US" altLang="zh-TW" dirty="0"/>
              <a:t>】</a:t>
            </a:r>
          </a:p>
          <a:p>
            <a:pPr>
              <a:lnSpc>
                <a:spcPct val="125000"/>
              </a:lnSpc>
              <a:defRPr sz="930">
                <a:solidFill>
                  <a:srgbClr val="1E293B"/>
                </a:solidFill>
                <a:latin typeface="微軟正黑體"/>
              </a:defRPr>
            </a:pPr>
            <a:r>
              <a:rPr lang="en-US" altLang="zh-TW" dirty="0"/>
              <a:t>113 </a:t>
            </a:r>
            <a:r>
              <a:rPr lang="zh-TW" altLang="en-US" dirty="0"/>
              <a:t>年見 </a:t>
            </a:r>
            <a:r>
              <a:rPr lang="en-US" altLang="zh-TW" dirty="0"/>
              <a:t>29.1 </a:t>
            </a:r>
            <a:r>
              <a:rPr lang="zh-TW" altLang="en-US" dirty="0"/>
              <a:t>萬歷史高點；央行第七波管制後 </a:t>
            </a:r>
            <a:r>
              <a:rPr lang="en-US" altLang="zh-TW" dirty="0"/>
              <a:t>115 </a:t>
            </a:r>
            <a:r>
              <a:rPr lang="zh-TW" altLang="en-US" dirty="0"/>
              <a:t>年量縮高達 </a:t>
            </a:r>
            <a:r>
              <a:rPr lang="en-US" altLang="zh-TW" dirty="0"/>
              <a:t>79.7%</a:t>
            </a:r>
            <a:r>
              <a:rPr lang="zh-TW" altLang="en-US" dirty="0"/>
              <a:t>（僅剩 </a:t>
            </a:r>
            <a:r>
              <a:rPr lang="en-US" altLang="zh-TW" dirty="0"/>
              <a:t>141 </a:t>
            </a:r>
            <a:r>
              <a:rPr lang="zh-TW" altLang="en-US" dirty="0"/>
              <a:t>件），中位數回修至 </a:t>
            </a:r>
            <a:r>
              <a:rPr lang="en-US" altLang="zh-TW" dirty="0"/>
              <a:t>27.8 </a:t>
            </a:r>
            <a:r>
              <a:rPr lang="zh-TW" altLang="en-US" dirty="0"/>
              <a:t>萬，嶺東率先跌破 </a:t>
            </a:r>
            <a:r>
              <a:rPr lang="en-US" altLang="zh-TW" dirty="0"/>
              <a:t>2 </a:t>
            </a:r>
            <a:r>
              <a:rPr lang="zh-TW" altLang="en-US" dirty="0"/>
              <a:t>字頭。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成交量雪崩</a:t>
            </a:r>
            <a:r>
              <a:rPr dirty="0"/>
              <a:t> 79.7%：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年成交量自高峰</a:t>
            </a:r>
            <a:r>
              <a:rPr dirty="0"/>
              <a:t> 694 </a:t>
            </a:r>
            <a:r>
              <a:rPr dirty="0" err="1"/>
              <a:t>件一路崩跌至</a:t>
            </a:r>
            <a:r>
              <a:rPr dirty="0"/>
              <a:t> 115 </a:t>
            </a:r>
            <a:r>
              <a:rPr dirty="0" err="1"/>
              <a:t>年僅</a:t>
            </a:r>
            <a:r>
              <a:rPr dirty="0"/>
              <a:t> 141 </a:t>
            </a:r>
            <a:r>
              <a:rPr dirty="0" err="1"/>
              <a:t>件（量縮近</a:t>
            </a:r>
            <a:r>
              <a:rPr dirty="0"/>
              <a:t> 8 成）！</a:t>
            </a:r>
            <a:r>
              <a:rPr dirty="0" err="1"/>
              <a:t>央行第七波信用管制後，買氣瞬間急凍</a:t>
            </a:r>
            <a:r>
              <a:rPr dirty="0"/>
              <a:t>，『</a:t>
            </a:r>
            <a:r>
              <a:rPr dirty="0" err="1"/>
              <a:t>量先價行』確立價格走跌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歷史頂峰見頂下修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/>
              <a:t>113 </a:t>
            </a:r>
            <a:r>
              <a:rPr dirty="0" err="1"/>
              <a:t>年大盤中位數衝上</a:t>
            </a:r>
            <a:r>
              <a:rPr dirty="0"/>
              <a:t> 29.1 萬/坪歷史極值，114~115 </a:t>
            </a:r>
            <a:r>
              <a:rPr dirty="0" err="1"/>
              <a:t>年已反轉回落至</a:t>
            </a:r>
            <a:r>
              <a:rPr dirty="0"/>
              <a:t> 27.8 萬/</a:t>
            </a:r>
            <a:r>
              <a:rPr dirty="0" err="1"/>
              <a:t>坪，嶺東精科生活圈更是率先摜破</a:t>
            </a:r>
            <a:r>
              <a:rPr dirty="0"/>
              <a:t> 2 </a:t>
            </a:r>
            <a:r>
              <a:rPr dirty="0" err="1"/>
              <a:t>字頭</a:t>
            </a:r>
            <a:r>
              <a:rPr dirty="0"/>
              <a:t>！</a:t>
            </a:r>
          </a:p>
          <a:p>
            <a:pPr>
              <a:spcBef>
                <a:spcPts val="800"/>
              </a:spcBef>
              <a:defRPr sz="1100" b="1">
                <a:solidFill>
                  <a:srgbClr val="2C5E8A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計量模型三年預估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計量經濟六模組預估：大盤</a:t>
            </a:r>
            <a:r>
              <a:rPr dirty="0"/>
              <a:t> 116 </a:t>
            </a:r>
            <a:r>
              <a:rPr dirty="0" err="1"/>
              <a:t>年探至</a:t>
            </a:r>
            <a:r>
              <a:rPr dirty="0"/>
              <a:t> 24.4 萬 ➜ 117 年 21.3 萬 ➜ 118 年 20.6 </a:t>
            </a:r>
            <a:r>
              <a:rPr dirty="0" err="1"/>
              <a:t>萬（累計修正</a:t>
            </a:r>
            <a:r>
              <a:rPr dirty="0"/>
              <a:t> -25.9%），</a:t>
            </a:r>
            <a:r>
              <a:rPr lang="zh-TW" altLang="en-US" dirty="0"/>
              <a:t>市場將會</a:t>
            </a:r>
            <a:r>
              <a:rPr dirty="0" err="1"/>
              <a:t>逐步回歸</a:t>
            </a:r>
            <a:r>
              <a:rPr dirty="0"/>
              <a:t> 106~109 </a:t>
            </a:r>
            <a:r>
              <a:rPr dirty="0" err="1"/>
              <a:t>年合理價值帶</a:t>
            </a:r>
            <a:r>
              <a:rPr dirty="0"/>
              <a:t>(15.4~19.8萬)！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成因全景架構：促使南屯老牌大型社區價格持續下修的四大驅動力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2542032" cy="914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1B365D"/>
                </a:solidFill>
                <a:latin typeface="微軟正黑體"/>
              </a:defRPr>
            </a:pPr>
            <a:r>
              <a:t>🏗️ 整體供需面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1.46萬戶老屋存量與重劃交屋夾殺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75 棟百戶大案存量達 14,671 戶，市場轉冷後同社區多戶掛售踩踏</a:t>
            </a:r>
            <a:br/>
            <a:r>
              <a:t>• 十三期、單元二三四五、嶺東建功重劃區新成屋交屋潮強力抽走換屋買盤</a:t>
            </a:r>
            <a:br/>
            <a:r>
              <a:t>• 年輕首購排斥機械車位與老舊管線，接盤客群面臨世代斷層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542032" cy="91440"/>
          </a:xfrm>
          <a:prstGeom prst="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844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C5E8A"/>
                </a:solidFill>
                <a:latin typeface="微軟正黑體"/>
              </a:defRPr>
            </a:pPr>
            <a:r>
              <a:t>🏚️ 結構機能與維護面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鉅額現金翻修費與50年終局危機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全室水電防水見底翻修成本飆漲至 200～300 萬純現金，直接扣抵買方出價</a:t>
            </a:r>
            <a:br/>
            <a:r>
              <a:t>• 超高層與大型老社區電梯機電更新、外牆磁磚修繕基金缺口浮現</a:t>
            </a:r>
            <a:br/>
            <a:r>
              <a:t>• 32 年老社區再住 15～18 年即淪為 50 年老宅，喪失房貸機能與接手買盤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8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542032" cy="9144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276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D98C14"/>
                </a:solidFill>
                <a:latin typeface="微軟正黑體"/>
              </a:defRPr>
            </a:pPr>
            <a:r>
              <a:t>📉 市場與交易心理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量縮 79.7% 與嶺東破 2 字頭定錨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全區年成交量由 694 件崩跌至 141 件，流動性冰封逼使急售屋主讓利</a:t>
            </a:r>
            <a:br/>
            <a:r>
              <a:t>• 買方心理從『恐慌追高』徹底逆轉為『買跌不買漲、先砍兩成』</a:t>
            </a:r>
            <a:br/>
            <a:r>
              <a:t>• 黎明大地(18.7萬)、凱撒風景園邸(19.6萬)破 2 字頭引爆跨區比價下修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371600"/>
            <a:ext cx="2542032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542032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32257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0392B"/>
                </a:solidFill>
                <a:latin typeface="微軟正黑體"/>
              </a:defRPr>
            </a:pPr>
            <a:r>
              <a:t>🏦 金融與信用管制</a:t>
            </a:r>
          </a:p>
          <a:p>
            <a:pPr>
              <a:spcBef>
                <a:spcPts val="200"/>
              </a:spcBef>
              <a:defRPr sz="980">
                <a:solidFill>
                  <a:srgbClr val="64748B"/>
                </a:solidFill>
                <a:latin typeface="微軟正黑體"/>
              </a:defRPr>
            </a:pPr>
            <a:r>
              <a:t>央行重拳與35年老屋貸款年限腰斬</a:t>
            </a:r>
          </a:p>
          <a:p>
            <a:pPr>
              <a:lnSpc>
                <a:spcPct val="130000"/>
              </a:lnSpc>
              <a:spcBef>
                <a:spcPts val="12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• 央行第七波管制第二戶限貸 5 成無寬限期，斬斷五期八期換屋族資金鏈</a:t>
            </a:r>
            <a:br/>
            <a:r>
              <a:t>• 銀行法 72-2 滿水位排撥嚴格，老屋鑑價保守且實質利率站上 2.7%~3.3%</a:t>
            </a:r>
            <a:br/>
            <a:r>
              <a:t>• 30~35 年老屋貸款年限縮至 15~20 年，月付金暴增 4~6 成壓垮收支比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1【整體供需面】：14,671 戶老屋存量賣壓、重劃新屋交屋潮與世代斷層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1B365D"/>
                </a:solidFill>
                <a:latin typeface="微軟正黑體"/>
              </a:defRPr>
            </a:pPr>
            <a:r>
              <a:t>1. 75 棟共 14,671 戶存量，同社區競售踩踏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供給母體龐大：南屯區 75 棟 30 年以上百戶大案合計達 14,671 戶，如理想貴族(732戶)、宏全世界廣場(436戶)、中友綠園邸(431戶)、凱撒風景園邸(423戶)、龍觀天下(420戶)。</a:t>
            </a:r>
            <a:br/>
            <a:r>
              <a:t>• 同質掛售互相殺價：買氣急凍後單一社區待售量攀升至 8~20 戶，急售屋主降價一成成交即拉低全社區實登定錨。</a:t>
            </a:r>
            <a:br/>
            <a:r>
              <a:t>• 銷售週期倍增：平均去化天數由多頭期 40 天拉長至 180~240 天以上。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1B365D"/>
                </a:solidFill>
                <a:latin typeface="微軟正黑體"/>
              </a:defRPr>
            </a:pPr>
            <a:r>
              <a:t>2. 十三期・單元二三四・嶺東新屋交屋潮分流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全台最密集重劃包圍網：南屯周邊十三期、單元二三四五與嶺東建功重劃區於 2026~2029 年迎來巨量預售完工交屋潮。</a:t>
            </a:r>
            <a:br/>
            <a:r>
              <a:t>• 居住規格代差懸殊：新大樓具備 921 後耐震結構、全平面坡道車位、汽機車分道、冷藏環保室與電動車充電管線。</a:t>
            </a:r>
            <a:br/>
            <a:r>
              <a:t>• 實質總成本排擠：五期 33 年老屋若加計 250 萬現金翻修費，實質單價逼近次新屋，促使優質自住客源大量外流。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1B365D"/>
                </a:solidFill>
                <a:latin typeface="微軟正黑體"/>
              </a:defRPr>
            </a:pPr>
            <a:r>
              <a:t>3. 機械車位硬傷與年輕首購族世代斷層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停車與管線痛點：民國 80~85 年完工社區普遍面臨平面車位一位難求、機械車位故障率高、衛浴無當層排氣與隔音劣化。</a:t>
            </a:r>
            <a:br/>
            <a:r>
              <a:t>• 科技白領偏好新宅：精密機械園區與中科年輕工程師買盤高度偏好屋齡 10 年內電梯大樓，對逾 30 年老屋承接意願極低。</a:t>
            </a:r>
            <a:br/>
            <a:r>
              <a:t>• 接盤基底萎縮：僅剩少數仰賴五期/黎明明星學區且預算受限之在地客群支撐。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2【結構機能與維護面】：鉅額現金翻修反噬殘值，邁向 50 年面臨買盤歸零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2C5E8A"/>
                </a:solidFill>
                <a:latin typeface="微軟正黑體"/>
              </a:defRPr>
            </a:pPr>
            <a:r>
              <a:t>1. 全室翻修飆至 200~300 萬純現金，反噬房價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管線壽命已屆極限：屋齡 30~36 年老屋冷熱水管鏽蝕、配電容量不足與浴廁防水失效，購入後必須全室見底重做。</a:t>
            </a:r>
            <a:br/>
            <a:r>
              <a:t>• 裝修工料暴漲 35%~50%：台中泥作、水電、鋁窗翻新每坪達 7~10 萬元，30 餘坪三房需自備 200~300 萬純現金。</a:t>
            </a:r>
            <a:br/>
            <a:r>
              <a:t>• 不可融資直接扣價：翻修費無法併入一般房貸，買方出價時必然將這筆現金支出全額自總價扣除！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2C5E8A"/>
                </a:solidFill>
                <a:latin typeface="微軟正黑體"/>
              </a:defRPr>
            </a:pPr>
            <a:r>
              <a:t>2. 大型老社區電梯機電與外牆修繕基金吃緊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低管理費歷史包袱：早年管理費每坪僅 35~55 元，面對多部 30 年老電梯主機鋼索更新、消防安檢新制改善捉襟見肘。</a:t>
            </a:r>
            <a:br/>
            <a:r>
              <a:t>• 超高層與大基地維養昂貴：如 20~34 層高樓社區之揚水泵浦、發電機與外牆磁磚巡檢修繕費用驚人。</a:t>
            </a:r>
            <a:br/>
            <a:r>
              <a:t>• 專案分攤款風險：公共基金不足將迫使住戶額外分攤數萬至十餘萬元修繕款，進一步壓低買方評價。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2C5E8A"/>
                </a:solidFill>
                <a:latin typeface="微軟正黑體"/>
              </a:defRPr>
            </a:pPr>
            <a:r>
              <a:t>3. 再住 15 年淪為 50 年老宅，終局流動性歸零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50 年屋齡倒數計時：本批 75 棟社區平均屋齡已達 32.4 年，買方自住 15~18 年後即成為近 50 年高齡老建築。</a:t>
            </a:r>
            <a:br/>
            <a:r>
              <a:t>• 銀行授信大門關閉：依銀行『屋齡＋貸款年限 ≤ 50』鐵律，屆時幾乎無法申辦房貸，欠缺槓桿將導致無人接盤。</a:t>
            </a:r>
            <a:br/>
            <a:r>
              <a:t>• 百戶產權都更無望：百戶至七百戶大樓土地持分小、產權極度分散，危老都更整合難如登天，面臨終身套牢風險。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3【市場面與交易心理】：量縮 79.7% 確立、追價破滅與破 2 字頭比價定錨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D98C14"/>
                </a:solidFill>
                <a:latin typeface="微軟正黑體"/>
              </a:defRPr>
            </a:pPr>
            <a:r>
              <a:t>1. 『量先價行』鐵律：量縮 79.7% 擊穿賣方防線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成交動能雪崩：南屯 75 棟老牌大案年成交量自高峰 694 件（113年 429 件）驟降至 115 年僅 141 件，量縮達 79.7%！</a:t>
            </a:r>
            <a:br/>
            <a:r>
              <a:t>• 零成交恐慌蔓延：多數中小型百戶社區連續半年零成交，委售屋主從惜售硬撐轉為焦慮詢價。</a:t>
            </a:r>
            <a:br/>
            <a:r>
              <a:t>• 資金需求戶帶頭破價：面臨換屋交屋款或資產變現壓力之屋主率先降價 15%~25%，打破社區價格僵固性。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D98C14"/>
                </a:solidFill>
                <a:latin typeface="微軟正黑體"/>
              </a:defRPr>
            </a:pPr>
            <a:r>
              <a:t>2. 買方預期徹底逆轉：從追高搶買轉為等更跌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FOMO 泡沫粉碎：新青安末升段追高買方現已面臨帳面套牢，市場共識轉為『晚買一年省兩百萬』。</a:t>
            </a:r>
            <a:br/>
            <a:r>
              <a:t>• 雙軌實登透明比價：買方同時查核 591、樂居與 CTOPMap 歷年低點，拒絕為短期投資客輕裝潢美容屋買單。</a:t>
            </a:r>
            <a:br/>
            <a:r>
              <a:t>• 議價起手式下移：買方普遍以最新破底實登再折讓 10%~15% 下斡，未達甜蜜點絕不追價。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D98C14"/>
                </a:solidFill>
                <a:latin typeface="微軟正黑體"/>
              </a:defRPr>
            </a:pPr>
            <a:r>
              <a:t>3. 嶺東破 2 字頭・五期破 25 萬骨牌比價效應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嶺東全面失守 2 字頭：黎明大地殺至 18.7 萬(-41.6%)、凱撒風景園邸跌至 19.6 萬(-34.2%)、台中天母 19.9 萬、山河風情 16.0 萬！</a:t>
            </a:r>
            <a:br/>
            <a:r>
              <a:t>• 五期與黎明同步回挫：龍觀天下跌至 23.4 萬(-26.9%)、陽光綠意参 24.5 萬(-31.6%)、中友綠園邸 27.7 萬(-30.4%)。</a:t>
            </a:r>
            <a:br/>
            <a:r>
              <a:t>• 實登定錨不可逆：新低實登一旦揭露即成為銀行估價與買方出價的硬上限。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深度成因剖析 4【金融面與信用管制】：央行第七波重拳、72-2 滿水位與老屋房貸年限腰斬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C0392B"/>
                </a:solidFill>
                <a:latin typeface="微軟正黑體"/>
              </a:defRPr>
            </a:pPr>
            <a:r>
              <a:t>1. 央行第七波信用管制斬斷換屋與置產槓桿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嚴控多戶與寬限期：名下有房第一戶取消寬限期；第二戶最高貸款成數砍至 5 成且無寬限期。</a:t>
            </a:r>
            <a:br/>
            <a:r>
              <a:t>• 五期八期換屋客卡死：南屯 35~55 坪老牌名宅主力買盤為『名下已有舊屋之換屋家庭』，自備款暴增一倍直接凍結買氣。</a:t>
            </a:r>
            <a:br/>
            <a:r>
              <a:t>• 置產收租客退場：高利率加計限貸令使老屋租金投報率遠低於資金成本，投資買盤全面撤出。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C0392B"/>
                </a:solidFill>
                <a:latin typeface="微軟正黑體"/>
              </a:defRPr>
            </a:pPr>
            <a:r>
              <a:t>2. 銀行法 72-2 滿水位與銀行保守鑑價夾擊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行庫額度優先給新案：銀行不動產放款逼近 30% 上限，有限額度優先撥付建商整批新成屋分戶貸款。</a:t>
            </a:r>
            <a:br/>
            <a:r>
              <a:t>• 個別老屋排撥難、利率高：30 年以上中古屋個別申貸利率實質站上 2.65%~3.30%，審核條件極度嚴苛。</a:t>
            </a:r>
            <a:br/>
            <a:r>
              <a:t>• 銀行鑑價落後市價：行庫對老屋鑑價普遍較開價折減 10%~15%，買方極易因成數不足被迫補現或解約。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2" y="1554480"/>
            <a:ext cx="305409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80" b="1">
                <a:solidFill>
                  <a:srgbClr val="C0392B"/>
                </a:solidFill>
                <a:latin typeface="微軟正黑體"/>
              </a:defRPr>
            </a:pPr>
            <a:r>
              <a:t>3. 逾 30~35 年老屋年限腰斬至 15~20 年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019">
                <a:solidFill>
                  <a:srgbClr val="1E293B"/>
                </a:solidFill>
                <a:latin typeface="微軟正黑體"/>
              </a:defRPr>
            </a:pPr>
            <a:r>
              <a:t>• 全面跨入 35 年紅線：75 棟社區平均屋齡 32.4 年，未來三年大舉跨過 35 年門檻，完全無緣 30/40 年長天期房貸。</a:t>
            </a:r>
            <a:br/>
            <a:r>
              <a:t>• 月付金暴增實算：貸款 735 萬(利率 2.75%)，30 年期月繳 3.0 萬元；縮至 20 年期月繳增至 3.98 萬；縮至 15 年期更飆達 4.99 萬(+66%)！</a:t>
            </a:r>
            <a:br/>
            <a:r>
              <a:t>• 收支比審核封頂：超高月付金直接卡死受薪家庭負債比，迫使房價下修以匹配買方現金流。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價格預測模型解析：六模組計量經濟學動態預估原理、流動性衝擊與價值引力機制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3383280" cy="914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54480"/>
            <a:ext cx="305409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20" b="1">
                <a:solidFill>
                  <a:srgbClr val="1B365D"/>
                </a:solidFill>
                <a:latin typeface="微軟正黑體"/>
              </a:defRPr>
            </a:pPr>
            <a:r>
              <a:t>📐 流動性衝擊與貝式先驗平滑</a:t>
            </a:r>
          </a:p>
          <a:p>
            <a:pPr>
              <a:spcBef>
                <a:spcPts val="200"/>
              </a:spcBef>
              <a:defRPr sz="930">
                <a:solidFill>
                  <a:srgbClr val="64748B"/>
                </a:solidFill>
                <a:latin typeface="微軟正黑體"/>
              </a:defRPr>
            </a:pPr>
            <a:r>
              <a:t>耦合大盤量縮衝擊與各社區微觀時間序列</a:t>
            </a:r>
          </a:p>
          <a:p>
            <a:pPr>
              <a:spcBef>
                <a:spcPts val="800"/>
              </a:spcBef>
              <a:defRPr sz="980" b="1">
                <a:solidFill>
                  <a:srgbClr val="1B365D"/>
                </a:solidFill>
                <a:latin typeface="微軟正黑體"/>
              </a:defRPr>
            </a:pPr>
            <a:r>
              <a:t>• 量價衰減衝擊動能方程：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g_shock = -(λ0 + λv|ΔVi| + λp·PeakDrop)。以全區量縮 79.7% 為宏觀基底，將個別社區量縮幅度與高點乖離率轉化為首年下修動能。</a:t>
            </a:r>
          </a:p>
          <a:p>
            <a:pPr>
              <a:spcBef>
                <a:spcPts val="800"/>
              </a:spcBef>
              <a:defRPr sz="980" b="1">
                <a:solidFill>
                  <a:srgbClr val="1B365D"/>
                </a:solidFill>
                <a:latin typeface="微軟正黑體"/>
              </a:defRPr>
            </a:pPr>
            <a:r>
              <a:t>• 五重純住宅清洗序列：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自 6,473 筆原始交易嚴格剔除 1F 店面、地下室商辦與親友折價交易，保留 5,437 筆純住宅並挽回 462 筆 11F/21F 高樓層樣本。</a:t>
            </a:r>
          </a:p>
          <a:p>
            <a:pPr>
              <a:spcBef>
                <a:spcPts val="800"/>
              </a:spcBef>
              <a:defRPr sz="980" b="1">
                <a:solidFill>
                  <a:srgbClr val="1B365D"/>
                </a:solidFill>
                <a:latin typeface="微軟正黑體"/>
              </a:defRPr>
            </a:pPr>
            <a:r>
              <a:t>• 經驗貝式大盤先驗收縮：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wi = N_recent / (N_recent + 4.0)。針對 114~115 年量縮少成交社區，導入南屯 75 社區大盤先驗趨勢平滑，消除極端單筆雜訊。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383280" cy="91440"/>
          </a:xfrm>
          <a:prstGeom prst="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554480"/>
            <a:ext cx="305409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20" b="1">
                <a:solidFill>
                  <a:srgbClr val="2C5E8A"/>
                </a:solidFill>
                <a:latin typeface="微軟正黑體"/>
              </a:defRPr>
            </a:pPr>
            <a:r>
              <a:t>⚙️ 結構折價懲罰與價值支撐重力</a:t>
            </a:r>
          </a:p>
          <a:p>
            <a:pPr>
              <a:spcBef>
                <a:spcPts val="200"/>
              </a:spcBef>
              <a:defRPr sz="930">
                <a:solidFill>
                  <a:srgbClr val="64748B"/>
                </a:solidFill>
                <a:latin typeface="微軟正黑體"/>
              </a:defRPr>
            </a:pPr>
            <a:r>
              <a:t>量化老屋貸款縮限、大社區競售與長期支撐帶</a:t>
            </a:r>
          </a:p>
          <a:p>
            <a:pPr>
              <a:spcBef>
                <a:spcPts val="800"/>
              </a:spcBef>
              <a:defRPr sz="980" b="1">
                <a:solidFill>
                  <a:srgbClr val="2C5E8A"/>
                </a:solidFill>
                <a:latin typeface="微軟正黑體"/>
              </a:defRPr>
            </a:pPr>
            <a:r>
              <a:t>• 屋齡與規模雙重結構懲罰：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f_age = 1 + min(0.18, (Age-25)*0.015)；f_scale = 1 + min(0.12, (戶數-150)/4000)。精確反映 30~35 年老屋限貸與數百戶同質拋售壓力。</a:t>
            </a:r>
          </a:p>
          <a:p>
            <a:pPr>
              <a:spcBef>
                <a:spcPts val="800"/>
              </a:spcBef>
              <a:defRPr sz="980" b="1">
                <a:solidFill>
                  <a:srgbClr val="2C5E8A"/>
                </a:solidFill>
                <a:latin typeface="微軟正黑體"/>
              </a:defRPr>
            </a:pPr>
            <a:r>
              <a:t>• 106～109 年長期價值重力錨：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取泡沫起漲前 106～109 年純住實登四分位距 IQR（全區 15.4～19.8 萬/坪）為長期價值重力區，溢價愈高回歸引力愈強。</a:t>
            </a:r>
          </a:p>
          <a:p>
            <a:pPr>
              <a:spcBef>
                <a:spcPts val="800"/>
              </a:spcBef>
              <a:defRPr sz="980" b="1">
                <a:solidFill>
                  <a:srgbClr val="2C5E8A"/>
                </a:solidFill>
                <a:latin typeface="微軟正黑體"/>
              </a:defRPr>
            </a:pPr>
            <a:r>
              <a:t>• Holt 阻尼平滑與漸近安全底限：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導入阻尼係數 φ = 0.68，隨 118 年價格靠攏支撐帶上緣，跌幅自然收斂軟著陸，並受 P ≥ ceil(0.95·S_low) 物理底限保護。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371600"/>
            <a:ext cx="3383280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554480"/>
            <a:ext cx="305409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20" b="1">
                <a:solidFill>
                  <a:srgbClr val="C0392B"/>
                </a:solidFill>
                <a:latin typeface="微軟正黑體"/>
              </a:defRPr>
            </a:pPr>
            <a:r>
              <a:t>📊 動態擴展信賴錐與大盤預估軌跡</a:t>
            </a:r>
          </a:p>
          <a:p>
            <a:pPr>
              <a:spcBef>
                <a:spcPts val="200"/>
              </a:spcBef>
              <a:defRPr sz="930">
                <a:solidFill>
                  <a:srgbClr val="64748B"/>
                </a:solidFill>
                <a:latin typeface="微軟正黑體"/>
              </a:defRPr>
            </a:pPr>
            <a:r>
              <a:t>嚴格遞增信賴包絡線，完整量化三年風險邊界</a:t>
            </a:r>
          </a:p>
          <a:p>
            <a:pPr>
              <a:spcBef>
                <a:spcPts val="800"/>
              </a:spcBef>
              <a:defRPr sz="980" b="1">
                <a:solidFill>
                  <a:srgbClr val="C0392B"/>
                </a:solidFill>
                <a:latin typeface="微軟正黑體"/>
              </a:defRPr>
            </a:pPr>
            <a:r>
              <a:t>• 動態擴展信賴包絡錐 (SE_h)：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SE_h = σ_eps * sqrt(1 + θ(h-1))。隨預測步長 h=1,2,3 嚴格擴張（W118 &gt; W117 &gt; W116 &gt; 0），包絡利率與政策不確定性。</a:t>
            </a:r>
          </a:p>
          <a:p>
            <a:pPr>
              <a:spcBef>
                <a:spcPts val="800"/>
              </a:spcBef>
              <a:defRPr sz="980" b="1">
                <a:solidFill>
                  <a:srgbClr val="C0392B"/>
                </a:solidFill>
                <a:latin typeface="微軟正黑體"/>
              </a:defRPr>
            </a:pPr>
            <a:r>
              <a:t>• 南屯大盤後續三年預估軌跡：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115 現況：中位數 27.8 萬（較113高點 29.1萬回落，量縮 79.7%）</a:t>
            </a:r>
            <a:br/>
            <a:r>
              <a:t>116 預估：24.4 萬 (-12.3%) ｜ 區間 [20.6～28.1萬]</a:t>
            </a:r>
            <a:br/>
            <a:r>
              <a:t>117 預估：21.3 萬 (-12.7%) ｜ 區間 [16.7～25.9萬]</a:t>
            </a:r>
            <a:br/>
            <a:r>
              <a:t>118 預估：20.6 萬 (-3.5%) ｜ 累計修正 -25.9%</a:t>
            </a:r>
          </a:p>
          <a:p>
            <a:pPr>
              <a:spcBef>
                <a:spcPts val="800"/>
              </a:spcBef>
              <a:defRPr sz="980" b="1">
                <a:solidFill>
                  <a:srgbClr val="C0392B"/>
                </a:solidFill>
                <a:latin typeface="微軟正黑體"/>
              </a:defRPr>
            </a:pPr>
            <a:r>
              <a:t>• 跨平台實證高度吻合：</a:t>
            </a:r>
          </a:p>
          <a:p>
            <a:pPr>
              <a:lnSpc>
                <a:spcPct val="120000"/>
              </a:lnSpc>
              <a:defRPr sz="890">
                <a:solidFill>
                  <a:srgbClr val="1E293B"/>
                </a:solidFill>
                <a:latin typeface="微軟正黑體"/>
              </a:defRPr>
            </a:pPr>
            <a:r>
              <a:t>黎明大地(18.7萬)、凱撒風景園邸(19.6萬)、龍觀天下(23.4萬)最新破底實登，精準印證模型領先預判之下修斜率！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87A90-2E9C-36FF-9405-64A0A867D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A92476-7A62-15F7-3BB5-2DA4D617E22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397E27-89C5-5E93-7A57-9DAAB8868261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04A9851-9B87-F97A-2217-70CA391443E7}"/>
              </a:ext>
            </a:extLst>
          </p:cNvPr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69E232-54DA-6AAF-87C6-292DA8CC0911}"/>
              </a:ext>
            </a:extLst>
          </p:cNvPr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lang="en-US" altLang="zh-TW" b="1" dirty="0"/>
              <a:t>2026</a:t>
            </a:r>
            <a:r>
              <a:rPr lang="zh-TW" altLang="en-US" b="1" dirty="0"/>
              <a:t>買房會賠錢嗎？</a:t>
            </a:r>
            <a:endParaRPr dirty="0"/>
          </a:p>
        </p:txBody>
      </p:sp>
      <p:pic>
        <p:nvPicPr>
          <p:cNvPr id="7" name="線上媒體 6" title="房價沒跌，為什麼賣不掉？">
            <a:hlinkClick r:id="" action="ppaction://media"/>
            <a:extLst>
              <a:ext uri="{FF2B5EF4-FFF2-40B4-BE49-F238E27FC236}">
                <a16:creationId xmlns:a16="http://schemas.microsoft.com/office/drawing/2014/main" id="{758B0991-49CF-7625-8C5D-B0DBC9B1BB2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896479" y="963692"/>
            <a:ext cx="10398736" cy="587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75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87A90-2E9C-36FF-9405-64A0A867D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A92476-7A62-15F7-3BB5-2DA4D617E22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397E27-89C5-5E93-7A57-9DAAB8868261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04A9851-9B87-F97A-2217-70CA391443E7}"/>
              </a:ext>
            </a:extLst>
          </p:cNvPr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69E232-54DA-6AAF-87C6-292DA8CC0911}"/>
              </a:ext>
            </a:extLst>
          </p:cNvPr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lang="en-US" altLang="zh-TW" b="1" dirty="0"/>
              <a:t>2026</a:t>
            </a:r>
            <a:r>
              <a:rPr lang="zh-TW" altLang="en-US" b="1" dirty="0"/>
              <a:t>買房會賠錢嗎？</a:t>
            </a:r>
            <a:endParaRPr dirty="0"/>
          </a:p>
        </p:txBody>
      </p:sp>
      <p:pic>
        <p:nvPicPr>
          <p:cNvPr id="6" name="線上媒體 5" title="房子放越久，真的會賣更便宜｜三個台中屋主的真實結局">
            <a:hlinkClick r:id="" action="ppaction://media"/>
            <a:extLst>
              <a:ext uri="{FF2B5EF4-FFF2-40B4-BE49-F238E27FC236}">
                <a16:creationId xmlns:a16="http://schemas.microsoft.com/office/drawing/2014/main" id="{1DCF957E-431C-0EBD-D05F-8298EAC2108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062892" y="952103"/>
            <a:ext cx="10469075" cy="591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658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4043" y="963692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lang="zh-TW" altLang="en-US" dirty="0"/>
              <a:t>相同預算內，</a:t>
            </a:r>
            <a:r>
              <a:rPr lang="en-US" altLang="zh-TW" dirty="0"/>
              <a:t>A</a:t>
            </a:r>
            <a:r>
              <a:rPr lang="zh-TW" altLang="en-US" dirty="0"/>
              <a:t>級物件實際看屋影片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6C8A8-0928-4AA6-B861-307DAC66B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1DEB1A-6E43-2513-38AC-31441940DFC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574E47-F629-5156-898F-8720400B7C57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0093D9-734E-C354-8E63-293959707707}"/>
              </a:ext>
            </a:extLst>
          </p:cNvPr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DE865A-2180-0AF0-3017-5CC0138C28F7}"/>
              </a:ext>
            </a:extLst>
          </p:cNvPr>
          <p:cNvSpPr txBox="1"/>
          <p:nvPr/>
        </p:nvSpPr>
        <p:spPr>
          <a:xfrm>
            <a:off x="731520" y="594360"/>
            <a:ext cx="10728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rPr dirty="0" err="1"/>
              <a:t>訴求</a:t>
            </a:r>
            <a:r>
              <a:rPr lang="zh-TW" altLang="en-US" dirty="0"/>
              <a:t>成交</a:t>
            </a:r>
            <a:r>
              <a:rPr dirty="0" err="1"/>
              <a:t>推導：基於客觀行情與修繕成本的理性出價方案</a:t>
            </a:r>
            <a:endParaRPr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86B48B2-9464-DA4B-9B04-B2668954521D}"/>
              </a:ext>
            </a:extLst>
          </p:cNvPr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61BA1-FF3E-D3B4-85B5-849A9E65D9BF}"/>
              </a:ext>
            </a:extLst>
          </p:cNvPr>
          <p:cNvSpPr txBox="1"/>
          <p:nvPr/>
        </p:nvSpPr>
        <p:spPr>
          <a:xfrm>
            <a:off x="960120" y="1554480"/>
            <a:ext cx="4754880" cy="1623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📊 </a:t>
            </a:r>
            <a:r>
              <a:rPr dirty="0" err="1"/>
              <a:t>買方財務極限與出價推導數學模型</a:t>
            </a:r>
            <a:endParaRPr dirty="0"/>
          </a:p>
          <a:p>
            <a:pPr>
              <a:spcBef>
                <a:spcPts val="8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家庭全部購屋總資金極限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新台幣</a:t>
            </a:r>
            <a:r>
              <a:rPr dirty="0"/>
              <a:t> 850 </a:t>
            </a:r>
            <a:r>
              <a:rPr dirty="0" err="1"/>
              <a:t>萬元（含自有自備款與銀行房貸上限，無多餘資金</a:t>
            </a:r>
            <a:r>
              <a:rPr dirty="0"/>
              <a:t>）</a:t>
            </a:r>
          </a:p>
          <a:p>
            <a:pPr>
              <a:spcBef>
                <a:spcPts val="8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老屋必做純基礎翻新支出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扣除新台幣</a:t>
            </a:r>
            <a:r>
              <a:rPr dirty="0"/>
              <a:t> 120 </a:t>
            </a:r>
            <a:r>
              <a:rPr dirty="0" err="1"/>
              <a:t>萬元</a:t>
            </a:r>
            <a:r>
              <a:rPr dirty="0"/>
              <a:t>（</a:t>
            </a:r>
            <a:r>
              <a:rPr lang="zh-TW" altLang="en-US" dirty="0"/>
              <a:t>謙觀公司</a:t>
            </a:r>
            <a:r>
              <a:rPr dirty="0" err="1"/>
              <a:t>報價單：水電、泥作、氣密窗、廚衛</a:t>
            </a:r>
            <a:r>
              <a:rPr dirty="0"/>
              <a:t>）</a:t>
            </a:r>
          </a:p>
          <a:p>
            <a:pPr>
              <a:spcBef>
                <a:spcPts val="800"/>
              </a:spcBef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今晚斡旋起手誠意出價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新台幣</a:t>
            </a:r>
            <a:r>
              <a:rPr dirty="0"/>
              <a:t> 7</a:t>
            </a:r>
            <a:r>
              <a:rPr lang="en-US" altLang="zh-TW" dirty="0"/>
              <a:t>5</a:t>
            </a:r>
            <a:r>
              <a:rPr dirty="0"/>
              <a:t>0 </a:t>
            </a:r>
            <a:r>
              <a:rPr dirty="0" err="1"/>
              <a:t>萬元</a:t>
            </a:r>
            <a:endParaRPr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934405-FFE2-8DA6-FAE5-C84740E565EE}"/>
              </a:ext>
            </a:extLst>
          </p:cNvPr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74F1A-D8DC-EB16-6121-C1B503AAA66C}"/>
              </a:ext>
            </a:extLst>
          </p:cNvPr>
          <p:cNvSpPr txBox="1"/>
          <p:nvPr/>
        </p:nvSpPr>
        <p:spPr>
          <a:xfrm>
            <a:off x="6446520" y="1554480"/>
            <a:ext cx="4754880" cy="2070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🤝 </a:t>
            </a:r>
            <a:r>
              <a:rPr dirty="0" err="1"/>
              <a:t>屋主降價讓利能獲得的</a:t>
            </a:r>
            <a:r>
              <a:rPr dirty="0"/>
              <a:t> 4 </a:t>
            </a:r>
            <a:r>
              <a:rPr dirty="0" err="1"/>
              <a:t>大實質好處</a:t>
            </a:r>
            <a:endParaRPr dirty="0"/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純現金落袋為安，零違約風險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買方財務審核穩健、自備款充裕，保證順利撥貸履約，絕非投機客亂出價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6 </a:t>
            </a:r>
            <a:r>
              <a:rPr dirty="0" err="1"/>
              <a:t>人共有人每人現拿</a:t>
            </a:r>
            <a:r>
              <a:rPr lang="zh-TW" altLang="en-US" dirty="0"/>
              <a:t>現金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順利處分空置遺產，立即解除</a:t>
            </a:r>
            <a:r>
              <a:rPr dirty="0"/>
              <a:t> 6 </a:t>
            </a:r>
            <a:r>
              <a:rPr dirty="0" err="1"/>
              <a:t>人多年分產懸念，人人拿百萬現金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立刻止血空屋折舊與每月水電費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立即免除每月管理費與水電乾耗，更避開未來南屯老屋續跌</a:t>
            </a:r>
            <a:r>
              <a:rPr dirty="0"/>
              <a:t> 15%~25% </a:t>
            </a:r>
            <a:r>
              <a:rPr dirty="0" err="1"/>
              <a:t>風險</a:t>
            </a:r>
            <a:r>
              <a:rPr dirty="0"/>
              <a:t>。</a:t>
            </a:r>
          </a:p>
          <a:p>
            <a:pPr>
              <a:spcBef>
                <a:spcPts val="800"/>
              </a:spcBef>
              <a:defRPr sz="1050" b="1">
                <a:solidFill>
                  <a:srgbClr val="27AE60"/>
                </a:solidFill>
                <a:latin typeface="微軟正黑體"/>
              </a:defRPr>
            </a:pPr>
            <a:r>
              <a:rPr dirty="0"/>
              <a:t>• </a:t>
            </a:r>
            <a:r>
              <a:rPr dirty="0" err="1"/>
              <a:t>善緣傳承，起家厝交給珍惜它的家庭</a:t>
            </a:r>
            <a:r>
              <a:rPr dirty="0"/>
              <a:t>：</a:t>
            </a:r>
          </a:p>
          <a:p>
            <a:pPr>
              <a:lnSpc>
                <a:spcPct val="125000"/>
              </a:lnSpc>
              <a:defRPr sz="950">
                <a:solidFill>
                  <a:srgbClr val="1E293B"/>
                </a:solidFill>
                <a:latin typeface="微軟正黑體"/>
              </a:defRPr>
            </a:pPr>
            <a:r>
              <a:rPr dirty="0" err="1"/>
              <a:t>買方承諾投入重金修復水電泥作、長久安居，延續長輩起家厝的生命力</a:t>
            </a:r>
            <a:r>
              <a:rPr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38483192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D1830-AD8B-5CF7-D1FE-9DEEF8BD3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741A7E-0591-B36E-8F87-732DCA8E0FE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C14234-D318-C947-749A-EF314938D081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05E9C7-7331-DE87-39A8-5D1EF4A4CA18}"/>
              </a:ext>
            </a:extLst>
          </p:cNvPr>
          <p:cNvSpPr/>
          <p:nvPr/>
        </p:nvSpPr>
        <p:spPr>
          <a:xfrm>
            <a:off x="731520" y="292608"/>
            <a:ext cx="59436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大墩人文 11 樓・屋主見面議價專用溝通簡報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A4A170-8730-10CE-E30B-31544BA92B4D}"/>
              </a:ext>
            </a:extLst>
          </p:cNvPr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65D"/>
                </a:solidFill>
                <a:latin typeface="微軟正黑體"/>
              </a:defRPr>
            </a:pPr>
            <a:r>
              <a:t>降價訴求推導：基於客觀行情與修繕成本的理性出價方案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DFD38A-5BFD-B410-EF4E-AFEC7FFCF3F0}"/>
              </a:ext>
            </a:extLst>
          </p:cNvPr>
          <p:cNvSpPr txBox="1"/>
          <p:nvPr/>
        </p:nvSpPr>
        <p:spPr>
          <a:xfrm>
            <a:off x="1547446" y="2904160"/>
            <a:ext cx="9144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rPr lang="zh-TW" altLang="en-US" sz="2800" dirty="0"/>
              <a:t>附錄 </a:t>
            </a:r>
            <a:r>
              <a:rPr lang="en-US" altLang="zh-TW" sz="2800" dirty="0"/>
              <a:t>:</a:t>
            </a:r>
            <a:r>
              <a:rPr sz="2800" dirty="0"/>
              <a:t> </a:t>
            </a:r>
            <a:r>
              <a:rPr lang="zh-TW" altLang="en-US" sz="2800" dirty="0"/>
              <a:t>南屯區</a:t>
            </a:r>
            <a:r>
              <a:rPr lang="en-US" altLang="zh-TW" sz="2800" dirty="0"/>
              <a:t>30</a:t>
            </a:r>
            <a:r>
              <a:rPr lang="zh-TW" altLang="en-US" sz="2800" dirty="0"/>
              <a:t>年以上，</a:t>
            </a:r>
            <a:r>
              <a:rPr lang="en-US" altLang="zh-TW" sz="2800" dirty="0"/>
              <a:t>100</a:t>
            </a:r>
            <a:r>
              <a:rPr lang="zh-TW" altLang="en-US" sz="2800" dirty="0"/>
              <a:t>戶以上，老牌中大型社區</a:t>
            </a:r>
            <a:endParaRPr lang="en-US" altLang="zh-TW" sz="2800" dirty="0"/>
          </a:p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rPr lang="en-US" altLang="zh-TW" sz="2800" dirty="0"/>
              <a:t>75</a:t>
            </a:r>
            <a:r>
              <a:rPr lang="zh-TW" altLang="en-US" sz="2800" dirty="0"/>
              <a:t>個社區，完整</a:t>
            </a:r>
            <a:r>
              <a:rPr lang="en-US" altLang="zh-TW" sz="2800" dirty="0"/>
              <a:t>5437</a:t>
            </a:r>
            <a:r>
              <a:rPr lang="zh-TW" altLang="en-US" sz="2800" dirty="0"/>
              <a:t>筆實價登錄分析與趨勢</a:t>
            </a: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5516296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#01【理想貴族】（732戶・屋齡34.8年）實登走勢與後續三年動態預估</a:t>
            </a:r>
          </a:p>
        </p:txBody>
      </p:sp>
      <p:pic>
        <p:nvPicPr>
          <p:cNvPr id="6" name="Picture 5" descr="01_理想貴族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#01 理想貴族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公益大墩商圈｜大墩二街95號（純住 501/583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35.5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27.5 萬/坪（115年9月，距高點 -22.5%）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25.6萬 ➜ 115年 24.8萬 (距高點 -30.3%)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21.9萬 (-11.6%) ｜ 117年 19.3萬 (-11.8%)</a:t>
            </a:r>
            <a:br/>
            <a:r>
              <a:t>118年 18.7萬 (-3.4%，三年累計 -24.6%)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13.2～15.7 萬/坪。隸屬【五期重劃區】之超大型指標社區（732戶・屋齡34.8年）。實登自 113年6月 高點 35.5 萬震盪回修，115年9月 最新成交為 27.5 萬/坪（變動 -22.5%）。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21.9 萬 ➜ 117 年 19.3 萬 ➜ 118 年收斂至 18.7 萬/坪（三年累計 -24.6%），理性回測長期支撐帶（13.2～15.7 萬/坪）。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#02【宏全世界廣場】（436戶・屋齡31.0年）實登走勢與後續三年動態預估</a:t>
            </a:r>
          </a:p>
        </p:txBody>
      </p:sp>
      <p:pic>
        <p:nvPicPr>
          <p:cNvPr id="6" name="Picture 5" descr="02_宏全世界廣場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#02 宏全世界廣場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文心森林公園特區｜文心路一段214號（純住 146/180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37.6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萬/坪（115年7月，距高點 -24.5%）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30.5萬 ➜ 115年 26.9萬 (距高點 -28.5%)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24.1萬 (-10.3%) ｜ 117年 21.8萬 (-9.5%)</a:t>
            </a:r>
            <a:br/>
            <a:r>
              <a:t>118年 21.1萬 (-3.5%，三年累計 -21.6%)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18.3～20.6 萬/坪。隸屬【七期南側】之超大型指標社區（436戶・屋齡31.0年）。實登自 113年7月 高點 37.6 萬震盪回修，115年7月 最新成交為 28.4 萬/坪（變動 -24.5%）。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24.1 萬 ➜ 117 年 21.8 萬 ➜ 118 年收斂至 21.1 萬/坪（三年累計 -21.6%），理性回測長期支撐帶（18.3～20.6 萬/坪）。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#03【中友綠園邸】（431戶・屋齡30.3年）實登走勢與後續三年動態預估</a:t>
            </a:r>
          </a:p>
        </p:txBody>
      </p:sp>
      <p:pic>
        <p:nvPicPr>
          <p:cNvPr id="6" name="Picture 5" descr="03_中友綠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#03 中友綠園邸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黎明新村生活圈｜黎明路二段420號（純住 116/135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39.8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27.7 萬/坪（115年4月，距高點 -30.4%）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32.5萬 ➜ 115年 28.1萬 (距高點 -29.5%)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25.3萬 (-9.9%) ｜ 117年 23.0萬 (-9.1%)</a:t>
            </a:r>
            <a:br/>
            <a:r>
              <a:t>118年 22.2萬 (-3.6%，三年累計 -21.0%)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18.9～21.2 萬/坪。隸屬【黎明商圈】之超大型指標社區（431戶・屋齡30.3年）。實登自 113年6月 高點 39.8 萬震盪回修，115年4月 最新成交為 27.7 萬/坪（變動 -30.4%）。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25.3 萬 ➜ 117 年 23.0 萬 ➜ 118 年收斂至 22.2 萬/坪（三年累計 -21.0%），理性回測長期支撐帶（18.9～21.2 萬/坪）。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#04【凱撒風景園邸】（423戶・屋齡32.0年）實登走勢與後續三年動態預估</a:t>
            </a:r>
          </a:p>
        </p:txBody>
      </p:sp>
      <p:pic>
        <p:nvPicPr>
          <p:cNvPr id="6" name="Picture 5" descr="04_凱撒風景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#04 凱撒風景園邸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精密機械園區｜忠勇路107號（純住 176/191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29.8 萬/坪（112年7月）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19.6 萬/坪（115年7月，距高點 -34.2%）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27.1萬 ➜ 115年 23.5萬 (距高點 -21.1%)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21.2萬 (-9.9%) ｜ 117年 19.2萬 (-9.5%)</a:t>
            </a:r>
            <a:br/>
            <a:r>
              <a:t>118年 18.5萬 (-3.3%，三年累計 -21.3%)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15.9～17.8 萬/坪。隸屬【嶺東科大】之超大型指標社區（423戶・屋齡32.0年）。自 112年7月 見頂 29.8 萬後反轉，115年7月 最新純住成交直接摜破 2 字頭至 19.6 萬/坪（重挫 -34.2%），破底比價定錨確立。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21.2 萬 ➜ 117 年 19.2 萬 ➜ 118 年收斂至 18.5 萬/坪（三年累計 -21.3%），理性回測長期支撐帶（15.9～17.8 萬/坪）。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#05【龍觀天下】（420戶・屋齡32.1年）實登走勢與後續三年動態預估</a:t>
            </a:r>
          </a:p>
        </p:txBody>
      </p:sp>
      <p:pic>
        <p:nvPicPr>
          <p:cNvPr id="6" name="Picture 5" descr="05_龍觀天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#05 龍觀天下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公益大墩商圈｜大墩十一街302號（純住 95/145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32.0 萬/坪（113年12月）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23.4 萬/坪（115年7月，距高點 -26.9%）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29.5萬 ➜ 115年 27.1萬 (距高點 -15.3%)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24.4萬 (-10.0%) ｜ 117年 22.0萬 (-9.7%)</a:t>
            </a:r>
            <a:br/>
            <a:r>
              <a:t>118年 21.3萬 (-3.2%，三年累計 -21.4%)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19.2～20.7 萬/坪。隸屬【五期重劃區】之超大型指標社區（420戶・屋齡32.1年）。實登自 113年12月 高點 32.0 萬震盪回修，115年7月 最新成交為 23.4 萬/坪（變動 -26.9%）。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24.4 萬 ➜ 117 年 22.0 萬 ➜ 118 年收斂至 21.3 萬/坪（三年累計 -21.4%），理性回測長期支撐帶（19.2～20.7 萬/坪）。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#06【皇后大道】（388戶・屋齡32.9年）實登走勢與後續三年動態預估</a:t>
            </a:r>
          </a:p>
        </p:txBody>
      </p:sp>
      <p:pic>
        <p:nvPicPr>
          <p:cNvPr id="6" name="Picture 5" descr="06_皇后大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#06 皇后大道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黎明新村生活圈｜黎明路二段65號（純住 217/262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37.6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27.2 萬/坪（115年8月，距高點 -27.7%）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30.1萬 ➜ 115年 26.1萬 (距高點 -30.7%)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23.3萬 (-10.6%) ｜ 117年 21.0萬 (-9.9%)</a:t>
            </a:r>
            <a:br/>
            <a:r>
              <a:t>118年 20.3萬 (-3.4%，三年累計 -22.2%)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17.2～20.3 萬/坪。隸屬【黎明商圈】之大型成熟指標社區（388戶・屋齡32.9年）。實登自 114年6月 高點 37.6 萬震盪回修，115年8月 最新成交為 27.2 萬/坪（變動 -27.7%）。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23.3 萬 ➜ 117 年 21.0 萬 ➜ 118 年收斂至 20.3 萬/坪（三年累計 -22.2%），理性回測長期支撐帶（17.2～20.3 萬/坪）。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#07【黎明大地】（376戶・屋齡34.7年）實登走勢與後續三年動態預估</a:t>
            </a:r>
          </a:p>
        </p:txBody>
      </p:sp>
      <p:pic>
        <p:nvPicPr>
          <p:cNvPr id="6" name="Picture 5" descr="07_黎明大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#07 黎明大地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精密機械園區｜嶺東路912號（純住 205/227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32.0 萬/坪（112年10月）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18.7 萬/坪（115年7月，距高點 -41.6%）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27.9萬 ➜ 115年 21.2萬 (距高點 -33.6%)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19.0萬 (-10.5%) ｜ 117年 17.1萬 (-10.2%)</a:t>
            </a:r>
            <a:br/>
            <a:r>
              <a:t>118年 16.5萬 (-3.2%，三年累計 -22.2%)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13.2～16.0 萬/坪。隸屬【嶺東科大】之大型成熟指標社區（376戶・屋齡34.7年）。自 112年10月 見頂 32.0 萬後反轉，115年7月 最新純住成交直接摜破 2 字頭至 18.7 萬/坪（重挫 -41.6%），破底比價定錨確立。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19.0 萬 ➜ 117 年 17.1 萬 ➜ 118 年收斂至 16.5 萬/坪（三年累計 -22.2%），理性回測長期支撐帶（13.2～16.0 萬/坪）。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#08【陽光綠意参】（366戶・屋齡32.9年）實登走勢與後續三年動態預估</a:t>
            </a:r>
          </a:p>
        </p:txBody>
      </p:sp>
      <p:pic>
        <p:nvPicPr>
          <p:cNvPr id="6" name="Picture 5" descr="08_陽光綠意参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#08 陽光綠意参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文心森林公園特區｜文心路一段182號（純住 121/150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35.8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24.5 萬/坪（115年5月，距高點 -31.6%）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29.4萬 ➜ 115年 27.4萬 (距高點 -23.5%)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24.5萬 (-10.5%) ｜ 117年 22.0萬 (-10.3%)</a:t>
            </a:r>
            <a:br/>
            <a:r>
              <a:t>118年 21.3萬 (-3.2%，三年累計 -22.3%)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17.3～19.5 萬/坪。隸屬【七期南側】之大型成熟指標社區（366戶・屋齡32.9年）。實登自 113年8月 高點 35.8 萬震盪回修，115年5月 最新成交為 24.5 萬/坪（變動 -31.6%）。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24.5 萬 ➜ 117 年 22.0 萬 ➜ 118 年收斂至 21.3 萬/坪（三年累計 -22.3%），理性回測長期支撐帶（17.3～19.5 萬/坪）。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#09【黎明春秋】（361戶・屋齡31.7年）實登走勢與後續三年動態預估</a:t>
            </a:r>
          </a:p>
        </p:txBody>
      </p:sp>
      <p:pic>
        <p:nvPicPr>
          <p:cNvPr id="6" name="Picture 5" descr="09_黎明春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#09 黎明春秋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黎明新村生活圈｜向上路三段61號（純住 214/237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39.2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30.8 萬/坪（115年2月，距高點 -21.4%）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30.7萬 ➜ 115年 30.8萬 (距高點 -21.4%)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27.7萬 (-10.0%) ｜ 117年 25.1萬 (-9.4%)</a:t>
            </a:r>
            <a:br/>
            <a:r>
              <a:t>118年 24.2萬 (-3.6%，三年累計 -21.4%)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16.7～18.9 萬/坪。隸屬【黎明商圈】之大型成熟指標社區（361戶・屋齡31.7年）。實登自 113年8月 高點 39.2 萬震盪回修，115年2月 最新成交為 30.8 萬/坪（變動 -21.4%）。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27.7 萬 ➜ 117 年 25.1 萬 ➜ 118 年收斂至 24.2 萬/坪（三年累計 -21.4%），理性回測長期支撐帶（16.7～18.9 萬/坪）。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#10【博愛國宅】（350戶・屋齡32.0年）實登走勢與後續三年動態預估</a:t>
            </a:r>
          </a:p>
        </p:txBody>
      </p:sp>
      <p:pic>
        <p:nvPicPr>
          <p:cNvPr id="6" name="Picture 5" descr="10_博愛國宅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#10 博愛國宅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黎明新村生活圈｜干城街267號（純住 53/77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26.3 萬/坪（114年12月）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23.9 萬/坪（115年4月，距高點 -9.1%）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23.3萬 ➜ 115年 23.2萬 (距高點 -11.8%)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21.1萬 (-9.0%) ｜ 117年 19.3萬 (-8.4%)</a:t>
            </a:r>
            <a:br/>
            <a:r>
              <a:t>118年 18.6萬 (-3.7%，三年累計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15.4～16.6 萬/坪。隸屬【黎明商圈】之大型成熟指標社區（350戶・屋齡32.0年）。實登自 114年12月 高點 26.3 萬震盪回修，115年4月 最新成交為 23.9 萬/坪（變動 -9.1%）。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21.1 萬 ➜ 117 年 19.3 萬 ➜ 118 年收斂至 18.6 萬/坪（三年累計 -19.8%），理性回測長期支撐帶（15.4～16.6 萬/坪）。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#11【中友生活家】（335戶・屋齡31.0年）實登走勢與後續三年動態預估</a:t>
            </a:r>
          </a:p>
        </p:txBody>
      </p:sp>
      <p:pic>
        <p:nvPicPr>
          <p:cNvPr id="6" name="Picture 5" descr="11_中友生活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57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#11 中友生活家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黎明新村生活圈｜黎明路二段423號（純住 150/165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33.1 萬/坪（113年11月）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30.5 萬/坪（115年7月，距高點 -7.9%）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29.0萬 ➜ 115年 28.4萬 (距高點 -14.3%)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25.8萬 (-9.2%) ｜ 117年 23.4萬 (-9.1%)</a:t>
            </a:r>
            <a:br/>
            <a:r>
              <a:t>118年 22.7萬 (-3.2%，三年累計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18.0～19.4 萬/坪。隸屬【黎明商圈】之大型成熟指標社區（335戶・屋齡31.0年）。實登自 113年11月 高點 33.1 萬震盪回修，115年7月 最新成交為 30.5 萬/坪（變動 -7.9%）。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25.8 萬 ➜ 117 年 23.4 萬 ➜ 118 年收斂至 22.7 萬/坪（三年累計 -20.1%），理性回測長期支撐帶（18.0～19.4 萬/坪）。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#12【由鉅八大家】（331戶・屋齡32.0年）實登走勢與後續三年動態預估</a:t>
            </a:r>
          </a:p>
        </p:txBody>
      </p:sp>
      <p:pic>
        <p:nvPicPr>
          <p:cNvPr id="6" name="Picture 5" descr="12_由鉅八大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#12 由鉅八大家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豐樂公園・南苑商圈｜永春東路1010號（純住 94/109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32.5 萬/坪（114年5月）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30.2 萬/坪（115年7月，距高點 -7.1%）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30.1萬 ➜ 115年 31.3萬 (距高點 -3.7%)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28.4萬 (-9.4%) ｜ 117年 25.8萬 (-9.0%)</a:t>
            </a:r>
            <a:br/>
            <a:r>
              <a:t>118年 24.9萬 (-3.5%，三年累計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17.3～20.5 萬/坪。隸屬【八期重劃區】之大型成熟指標社區（331戶・屋齡32.0年）。實登自 114年5月 高點 32.5 萬震盪回修，115年7月 最新成交為 30.2 萬/坪（變動 -7.1%）。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28.4 萬 ➜ 117 年 25.8 萬 ➜ 118 年收斂至 24.9 萬/坪（三年累計 -20.4%），理性回測長期支撐帶（17.3～20.5 萬/坪）。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#13【寶輝大官邸】（298戶・屋齡32.3年）實登走勢與後續三年動態預估</a:t>
            </a:r>
          </a:p>
        </p:txBody>
      </p:sp>
      <p:pic>
        <p:nvPicPr>
          <p:cNvPr id="6" name="Picture 5" descr="13_寶輝大官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#13 寶輝大官邸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公益大墩商圈｜大進街526號（純住 84/109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35.3 萬/坪（112年8月）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33.3 萬/坪（115年8月，距高點 -5.7%）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31.9萬 ➜ 115年 32.6萬 (距高點 -7.6%)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29.7萬 (-9.0%) ｜ 117年 27.1萬 (-8.7%)</a:t>
            </a:r>
            <a:br/>
            <a:r>
              <a:t>118年 26.1萬 (-3.5%，三年累計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19.3～22.1 萬/坪。隸屬【五期重劃區】之大型成熟指標社區（298戶・屋齡32.3年）。實登自 112年8月 高點 35.3 萬震盪回修，115年8月 最新成交為 33.3 萬/坪（變動 -5.7%）。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29.7 萬 ➜ 117 年 27.1 萬 ➜ 118 年收斂至 26.1 萬/坪（三年累計 -19.9%），理性回測長期支撐帶（19.3～22.1 萬/坪）。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#14【同隆上第一期】（237戶・屋齡32.2年）實登走勢與後續三年動態預估</a:t>
            </a:r>
          </a:p>
        </p:txBody>
      </p:sp>
      <p:pic>
        <p:nvPicPr>
          <p:cNvPr id="6" name="Picture 5" descr="14_同隆上第一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#14 同隆上第一期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文心森林公園特區｜文心路一段316號（純住 65/72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36.6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29.5 萬/坪（115年4月，距高點 -19.4%）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33.8萬 ➜ 115年 31.1萬 (距高點 -15.2%)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(-9.1%) ｜ 117年 25.9萬 (-8.5%)</a:t>
            </a:r>
            <a:br/>
            <a:r>
              <a:t>118年 24.9萬 (-3.6%，三年累計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20.9～23.3 萬/坪。隸屬【七期南側】之大型成熟指標社區（237戶・屋齡32.2年）。實登自 113年6月 高點 36.6 萬震盪回修，115年4月 最新成交為 29.5 萬/坪（變動 -19.4%）。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25.9 萬 ➜ 118 年收斂至 24.9 萬/坪（三年累計 -19.9%），理性回測長期支撐帶（20.9～23.3 萬/坪）。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#15【利亞倫敦】（231戶・屋齡32.4年）實登走勢與後續三年動態預估</a:t>
            </a:r>
          </a:p>
        </p:txBody>
      </p:sp>
      <p:pic>
        <p:nvPicPr>
          <p:cNvPr id="6" name="Picture 5" descr="15_利亞倫敦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#15 利亞倫敦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公益大墩商圈｜大墩一街42號（純住 100/120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33.0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28.7 萬/坪（115年5月，距高點 -13.0%）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30.4萬 ➜ 115年 28.7萬 (距高點 -13.0%)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26.1萬 (-9.1%) ｜ 117年 23.9萬 (-8.3%)</a:t>
            </a:r>
            <a:br/>
            <a:r>
              <a:t>118年 23.0萬 (-3.9%，三年累計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18.9～21.4 萬/坪。隸屬【五期重劃區】之大型成熟指標社區（231戶・屋齡32.4年）。實登自 113年7月 高點 33.0 萬震盪回修，115年5月 最新成交為 28.7 萬/坪（變動 -13.0%）。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26.1 萬 ➜ 117 年 23.9 萬 ➜ 118 年收斂至 23.0 萬/坪（三年累計 -19.9%），理性回測長期支撐帶（18.9～21.4 萬/坪）。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#16【台中商務中心】（230戶・屋齡36.2年）實登走勢與後續三年動態預估</a:t>
            </a:r>
          </a:p>
        </p:txBody>
      </p:sp>
      <p:pic>
        <p:nvPicPr>
          <p:cNvPr id="6" name="Picture 5" descr="16_台中商務中心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#16 台中商務中心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公益大墩商圈｜向上南路一段163號（純住 142/160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32.5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31.2 萬/坪（115年8月，距高點 -4.0%）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27.8萬 ➜ 115年 28.2萬 (距高點 -13.2%)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25.6萬 (-9.4%) ｜ 117年 23.1萬 (-9.5%)</a:t>
            </a:r>
            <a:br/>
            <a:r>
              <a:t>118年 22.4萬 (-3.2%，三年累計 -20.6%)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14.5～17.0 萬/坪。隸屬【五期重劃區】之大型成熟指標社區（230戶・屋齡36.2年）。實登自 113年9月 高點 32.5 萬震盪回修，115年8月 最新成交為 31.2 萬/坪（變動 -4.0%）。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25.6 萬 ➜ 117 年 23.1 萬 ➜ 118 年收斂至 22.4 萬/坪（三年累計 -20.6%），理性回測長期支撐帶（14.5～17.0 萬/坪）。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#17【現代經典】（222戶・屋齡33.6年）實登走勢與後續三年動態預估</a:t>
            </a:r>
          </a:p>
        </p:txBody>
      </p:sp>
      <p:pic>
        <p:nvPicPr>
          <p:cNvPr id="6" name="Picture 5" descr="17_現代經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#17 現代經典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萬和宮生活圈｜南屯路二段18號（純住 83/94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33.0 萬/坪（112年11月）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30.2 萬/坪（115年4月，距高點 -8.5%）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27.5萬 ➜ 115年 30.2萬 (距高點 -8.5%)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27.4萬 (-9.4%) ｜ 117年 24.9萬 (-8.8%)</a:t>
            </a:r>
            <a:br/>
            <a:r>
              <a:t>118年 24.0萬 (-3.6%，三年累計 -20.5%)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17.2～20.3 萬/坪。隸屬【南屯舊市區】之大型成熟指標社區（222戶・屋齡33.6年）。實登自 112年11月 高點 33.0 萬震盪回修，115年4月 最新成交為 30.2 萬/坪（變動 -8.5%）。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27.4 萬 ➜ 117 年 24.9 萬 ➜ 118 年收斂至 24.0 萬/坪（三年累計 -20.5%），理性回測長期支撐帶（17.2～20.3 萬/坪）。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#18【大台中新市】（222戶・屋齡29.8年）實登走勢與後續三年動態預估</a:t>
            </a:r>
          </a:p>
        </p:txBody>
      </p:sp>
      <p:pic>
        <p:nvPicPr>
          <p:cNvPr id="6" name="Picture 5" descr="18_大台中新市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#18 大台中新市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文心森林公園特區｜大墩十一街537號（純住 78/89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35.8 萬/坪（115年6月）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33.1 萬/坪（115年8月，距高點 -7.5%）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32.4萬 ➜ 115年 33.5萬 (距高點 -6.4%)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30.6萬 (-8.5%) ｜ 117年 28.0萬 (-8.5%)</a:t>
            </a:r>
            <a:br/>
            <a:r>
              <a:t>118年 27.1萬 (-3.4%，三年累計 -19.1%)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19.6～20.9 萬/坪。隸屬【七期南側】之大型成熟指標社區（222戶・屋齡29.8年）。實登自 115年6月 高點 35.8 萬震盪回修，115年8月 最新成交為 33.1 萬/坪（變動 -7.5%）。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30.6 萬 ➜ 117 年 28.0 萬 ➜ 118 年收斂至 27.1 萬/坪（三年累計 -19.1%），理性回測長期支撐帶（19.6～20.9 萬/坪）。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#19【海德堡藝術廣場】（217戶・屋齡32.1年）實登走勢與後續三年動態預估</a:t>
            </a:r>
          </a:p>
        </p:txBody>
      </p:sp>
      <p:pic>
        <p:nvPicPr>
          <p:cNvPr id="6" name="Picture 5" descr="19_海德堡藝術廣場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#19 海德堡藝術廣場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豐樂公園・南苑商圈｜文心南二路390號（純住 62/78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34.6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34.4 萬/坪（115年6月，距高點 -0.6%）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30.0萬 ➜ 115年 34.4萬 (距高點 -0.6%)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31.5萬 (-8.4%) ｜ 117年 29.0萬 (-8.1%)</a:t>
            </a:r>
            <a:br/>
            <a:r>
              <a:t>118年 27.8萬 (-3.9%，三年累計 -19.2%)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18.9～20.8 萬/坪。隸屬【八期重劃區】之大型成熟指標社區（217戶・屋齡32.1年）。實登自 114年6月 高點 34.6 萬震盪回修，115年6月 最新成交為 34.4 萬/坪（變動 -0.6%）。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31.5 萬 ➜ 117 年 29.0 萬 ➜ 118 年收斂至 27.8 萬/坪（三年累計 -19.2%），理性回測長期支撐帶（18.9～20.8 萬/坪）。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#20【波音市銀翼】（201戶・屋齡31.1年）實登走勢與後續三年動態預估</a:t>
            </a:r>
          </a:p>
        </p:txBody>
      </p:sp>
      <p:pic>
        <p:nvPicPr>
          <p:cNvPr id="6" name="Picture 5" descr="20_波音市銀翼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#20 波音市銀翼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文心森林公園特區｜大墩十二街647號（純住 54/68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萬/坪（114年7月，115暫無成交，距高點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(-8.5%) ｜ 117年 26.1萬 (-7.8%)</a:t>
            </a:r>
            <a:br/>
            <a:r>
              <a:t>118年 24.9萬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19.4～21.4 萬/坪。隸屬【七期南側】之大型成熟指標社區（201戶・屋齡31.1年）。115年受信用管制買氣急凍影響暫無純住揭露；最新純住成交為 114年7月 的 30.9 萬/坪（距高點 30.9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26.1 萬 ➜ 118 年收斂至 24.9 萬/坪（三年累計 -19.4%），理性回測長期支撐帶（19.4～21.4 萬/坪）。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#21【大墩天廈】（199戶・屋齡31.5年）實登走勢與後續三年動態預估</a:t>
            </a:r>
          </a:p>
        </p:txBody>
      </p:sp>
      <p:pic>
        <p:nvPicPr>
          <p:cNvPr id="6" name="Picture 5" descr="21_大墩天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#21 大墩天廈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萬和宮生活圈｜南屯路二段161號（純住 50/62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26.1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22.6 萬/坪（114年9月，115暫無成交，距高點 -13.4%*）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23.9萬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22.6萬 (-9.0%) ｜ 117年 20.7萬 (-8.4%)</a:t>
            </a:r>
            <a:br/>
            <a:r>
              <a:t>118年 19.9萬 (-3.9%，三年累計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14.4～15.9 萬/坪。隸屬【南屯舊市區】之百戶老牌集合住宅（199戶・屋齡31.5年）。115年受信用管制買氣急凍影響暫無純住揭露；最新純住成交為 114年9月 的 22.6 萬/坪（距高點 26.1 萬回檔 -13.4%*）。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22.6 萬 ➜ 117 年 20.7 萬 ➜ 118 年收斂至 19.9 萬/坪（三年累計 -19.8%），理性回測長期支撐帶（14.4～15.9 萬/坪）。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#22【大墩人文】（188戶・屋齡33.9年）實登走勢與後續三年動態預估</a:t>
            </a:r>
          </a:p>
        </p:txBody>
      </p:sp>
      <p:pic>
        <p:nvPicPr>
          <p:cNvPr id="6" name="Picture 5" descr="22_大墩人文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#22 大墩人文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萬和宮生活圈｜南屯路二段201號（純住 39/48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30.3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29.9 萬/坪（114年12月，115暫無成交，距高點 -1.3%*）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30.1萬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26.0萬 (-9.5%) ｜ 117年 23.6萬 (-9.0%)</a:t>
            </a:r>
            <a:br/>
            <a:r>
              <a:t>118年 22.8萬 (-3.5%，三年累計 -20.6%)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17.8～19.2 萬/坪。隸屬【南屯舊市區】之百戶老牌集合住宅（188戶・屋齡33.9年）。115年受信用管制買氣急凍影響暫無純住揭露；最新純住成交為 114年12月 的 29.9 萬/坪（距高點 30.3 萬回檔 -1.3%*）。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26.0 萬 ➜ 117 年 23.6 萬 ➜ 118 年收斂至 22.8 萬/坪（三年累計 -20.6%），理性回測長期支撐帶（17.8～19.2 萬/坪）。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#23【東龍尊邸】（187戶・屋齡31.8年）實登走勢與後續三年動態預估</a:t>
            </a:r>
          </a:p>
        </p:txBody>
      </p:sp>
      <p:pic>
        <p:nvPicPr>
          <p:cNvPr id="6" name="Picture 5" descr="23_東龍尊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#23 東龍尊邸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公益大墩商圈｜大業路224號（純住 57/74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32.4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31.0 萬/坪（114年5月，115暫無成交，距高點 -4.3%*）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(-8.6%) ｜ 117年 26.1萬 (-7.8%)</a:t>
            </a:r>
            <a:br/>
            <a:r>
              <a:t>118年 24.9萬 (-4.6%，三年累計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19.1～21.4 萬/坪。隸屬【五期重劃區】之百戶老牌集合住宅（187戶・屋齡31.8年）。115年受信用管制買氣急凍影響暫無純住揭露；最新純住成交為 114年5月 的 31.0 萬/坪（距高點 32.4 萬回檔 -4.3%*）。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26.1 萬 ➜ 118 年收斂至 24.9 萬/坪（三年累計 -19.7%），理性回測長期支撐帶（19.1～21.4 萬/坪）。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#24【三采大業天地】（185戶・屋齡31.7年）實登走勢與後續三年動態預估</a:t>
            </a:r>
          </a:p>
        </p:txBody>
      </p:sp>
      <p:pic>
        <p:nvPicPr>
          <p:cNvPr id="6" name="Picture 5" descr="24_三采大業天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#24 三采大業天地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公益大墩商圈｜大業路563號（純住 54/62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34.0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29.7 萬/坪（115年7月，距高點 -12.6%）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31.0萬 ➜ 115年 29.7萬 (距高點 -12.6%)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27.1萬 (-8.9%) ｜ 117年 24.9萬 (-8.1%)</a:t>
            </a:r>
            <a:br/>
            <a:r>
              <a:t>118年 23.8萬 (-4.2%，三年累計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20.4～21.9 萬/坪。隸屬【五期重劃區】之百戶老牌集合住宅（185戶・屋齡31.7年）。實登自 113年3月 高點 34.0 萬震盪回修，115年7月 最新成交為 29.7 萬/坪（變動 -12.6%）。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27.1 萬 ➜ 117 年 24.9 萬 ➜ 118 年收斂至 23.8 萬/坪（三年累計 -19.9%），理性回測長期支撐帶（20.4～21.9 萬/坪）。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#25【熊貓帝國】（181戶・屋齡31.3年）實登走勢與後續三年動態預估</a:t>
            </a:r>
          </a:p>
        </p:txBody>
      </p:sp>
      <p:pic>
        <p:nvPicPr>
          <p:cNvPr id="6" name="Picture 5" descr="25_熊貓帝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#25 熊貓帝國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文心森林公園特區｜文心路一段272號（純住 35/47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33.1 萬/坪（114年12月）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30.6 萬/坪（115年2月，距高點 -7.6%）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26.1萬 ➜ 115年 30.6萬 (距高點 -7.6%)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27.9萬 (-8.7%) ｜ 117年 25.7萬 (-8.2%)</a:t>
            </a:r>
            <a:br/>
            <a:r>
              <a:t>118年 24.7萬 (-3.9%，三年累計 -19.3%)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19.5～21.0 萬/坪。隸屬【七期南側】之百戶老牌集合住宅（181戶・屋齡31.3年）。實登自 114年12月 高點 33.1 萬震盪回修，115年2月 最新成交為 30.6 萬/坪（變動 -7.6%）。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27.9 萬 ➜ 117 年 25.7 萬 ➜ 118 年收斂至 24.7 萬/坪（三年累計 -19.3%），理性回測長期支撐帶（19.5～21.0 萬/坪）。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#26【國王與我】（180戶・屋齡31.9年）實登走勢與後續三年動態預估</a:t>
            </a:r>
          </a:p>
        </p:txBody>
      </p:sp>
      <p:pic>
        <p:nvPicPr>
          <p:cNvPr id="6" name="Picture 5" descr="26_國王與我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#26 國王與我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文心森林公園特區｜河南路四段350巷2號（純住 62/78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37.1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31.9 萬/坪（115年1月，距高點 -14.0%）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33.7萬 ➜ 115年 31.9萬 (距高點 -14.0%)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29.0萬 (-9.1%) ｜ 117年 26.6萬 (-8.4%)</a:t>
            </a:r>
            <a:br/>
            <a:r>
              <a:t>118年 25.5萬 (-4.0%，三年累計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19.0～20.3 萬/坪。隸屬【七期南側】之百戶老牌集合住宅（180戶・屋齡31.9年）。實登自 113年7月 高點 37.1 萬震盪回修，115年1月 最新成交為 31.9 萬/坪（變動 -14.0%）。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29.0 萬 ➜ 117 年 26.6 萬 ➜ 118 年收斂至 25.5 萬/坪（三年累計 -20.1%），理性回測長期支撐帶（19.0～20.3 萬/坪）。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#27【黎明太陽神】（178戶・屋齡32.5年）實登走勢與後續三年動態預估</a:t>
            </a:r>
          </a:p>
        </p:txBody>
      </p:sp>
      <p:pic>
        <p:nvPicPr>
          <p:cNvPr id="6" name="Picture 5" descr="27_黎明太陽神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#27 黎明太陽神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黎明新村生活圈｜黎明路二段359號（純住 72/84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35.1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24.2 萬/坪（115年4月，距高點 -31.1%）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29.4萬 ➜ 115年 24.2萬 (距高點 -31.1%)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21.8萬 (-10.1%) ｜ 117年 19.7萬 (-9.3%)</a:t>
            </a:r>
            <a:br/>
            <a:r>
              <a:t>118年 19.1萬 (-3.5%，三年累計 -21.1%)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18.1～19.5 萬/坪。隸屬【黎明商圈】之百戶老牌集合住宅（178戶・屋齡32.5年）。實登自 114年3月 高點 35.1 萬震盪回修，115年4月 最新成交為 24.2 萬/坪（變動 -31.1%）。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21.8 萬 ➜ 117 年 19.7 萬 ➜ 118 年收斂至 19.1 萬/坪（三年累計 -21.1%），理性回測長期支撐帶（18.1～19.5 萬/坪）。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#28【美村黎明大廈】（177戶・屋齡32.0年）實登走勢與後續三年動態預估</a:t>
            </a:r>
          </a:p>
        </p:txBody>
      </p:sp>
      <p:pic>
        <p:nvPicPr>
          <p:cNvPr id="6" name="Picture 5" descr="28_美村黎明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#28 美村黎明大廈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黎明新村生活圈｜向上路二段451號（純住 40/55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36.1 萬/坪（113年5月）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30.4 萬/坪（114年1月，115暫無成交，距高點 -15.8%*）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27.8萬 (-8.7%) ｜ 117年 25.6萬 (-7.8%)</a:t>
            </a:r>
            <a:br/>
            <a:r>
              <a:t>118年 24.4萬 (-4.6%，三年累計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18.1～20.3 萬/坪。隸屬【黎明商圈】之百戶老牌集合住宅（177戶・屋齡32.0年）。115年受信用管制買氣急凍影響暫無純住揭露；最新純住成交為 114年1月 的 30.4 萬/坪（距高點 36.1 萬回檔 -15.8%*）。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27.8 萬 ➜ 117 年 25.6 萬 ➜ 118 年收斂至 24.4 萬/坪（三年累計 -19.7%），理性回測長期支撐帶（18.1～20.3 萬/坪）。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#29【羅馬假期二期】（176戶・屋齡33.7年）實登走勢與後續三年動態預估</a:t>
            </a:r>
          </a:p>
        </p:txBody>
      </p:sp>
      <p:pic>
        <p:nvPicPr>
          <p:cNvPr id="6" name="Picture 5" descr="29_羅馬假期二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#29 羅馬假期二期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公益大墩商圈｜大墩六街230號（純住 107/118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37.6 萬/坪（112年10月）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26.3 萬/坪（115年2月，距高點 -30.1%）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30.6萬 ➜ 115年 28.4萬 (距高點 -24.3%)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25.8萬 (-9.4%) ｜ 117年 23.6萬 (-8.5%)</a:t>
            </a:r>
            <a:br/>
            <a:r>
              <a:t>118年 22.7萬 (-4.0%，三年累計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15.2～19.4 萬/坪。隸屬【五期重劃區】之百戶老牌集合住宅（176戶・屋齡33.7年）。實登自 112年10月 高點 37.6 萬震盪回修，115年2月 最新成交為 26.3 萬/坪（變動 -30.1%）。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25.8 萬 ➜ 117 年 23.6 萬 ➜ 118 年收斂至 22.7 萬/坪（三年累計 -20.4%），理性回測長期支撐帶（15.2～19.4 萬/坪）。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#30【五權花園廣場】（176戶・屋齡32.4年）實登走勢與後續三年動態預估</a:t>
            </a:r>
          </a:p>
        </p:txBody>
      </p:sp>
      <p:pic>
        <p:nvPicPr>
          <p:cNvPr id="6" name="Picture 5" descr="30_五權花園廣場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#30 五權花園廣場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黎明新村生活圈｜向上路五段139號（純住 121/136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28.1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26.9 萬/坪（115年4月，距高點 -4.3%）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25.2萬 ➜ 115年 26.9萬 (距高點 -4.3%)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24.4萬 (-9.3%) ｜ 117年 22.2萬 (-9.0%)</a:t>
            </a:r>
            <a:br/>
            <a:r>
              <a:t>118年 21.4萬 (-3.5%，三年累計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14.1～16.4 萬/坪。隸屬【黎明商圈】之百戶老牌集合住宅（176戶・屋齡32.4年）。實登自 113年7月 高點 28.1 萬震盪回修，115年4月 最新成交為 26.9 萬/坪（變動 -4.3%）。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24.4 萬 ➜ 117 年 22.2 萬 ➜ 118 年收斂至 21.4 萬/坪（三年累計 -20.4%），理性回測長期支撐帶（14.1～16.4 萬/坪）。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#31【台中天母】（175戶・屋齡31.5年）實登走勢與後續三年動態預估</a:t>
            </a:r>
          </a:p>
        </p:txBody>
      </p:sp>
      <p:pic>
        <p:nvPicPr>
          <p:cNvPr id="6" name="Picture 5" descr="31_台中天母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#31 台中天母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精密機械園區｜忠勇路52號之60（純住 75/81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24.9 萬/坪（114年1月）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19.9 萬/坪（115年7月，距高點 -20.1%）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19.9萬 (距高點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18.1萬 (-9.2%) ｜ 117年 16.6萬 (-8.3%)</a:t>
            </a:r>
            <a:br/>
            <a:r>
              <a:t>118年 15.9萬 (-3.9%，三年累計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13.8～15.5 萬/坪。隸屬【嶺東科大】之百戶老牌集合住宅（175戶・屋齡31.5年）。自 114年1月 見頂 24.9 萬後反轉，115年7月 最新純住成交直接摜破 2 字頭至 19.9 萬/坪（重挫 -20.1%），破底比價定錨確立。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18.1 萬 ➜ 117 年 16.6 萬 ➜ 118 年收斂至 15.9 萬/坪（三年累計 -20.1%），理性回測長期支撐帶（13.8～15.5 萬/坪）。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#32【文心尊龍大廈】（173戶・屋齡32.0年）實登走勢與後續三年動態預估</a:t>
            </a:r>
          </a:p>
        </p:txBody>
      </p:sp>
      <p:pic>
        <p:nvPicPr>
          <p:cNvPr id="6" name="Picture 5" descr="32_文心尊龍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#32 文心尊龍大廈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文心森林公園特區｜文心路一段382號（純住 64/72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32.9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25.8 萬/坪（115年5月，距高點 -21.6%）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28.3萬 ➜ 115年 25.9萬 (距高點 -21.3%)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23.5萬 (-9.1%) ｜ 117年 21.5萬 (-8.5%)</a:t>
            </a:r>
            <a:br/>
            <a:r>
              <a:t>118年 20.7萬 (-3.8%，三年累計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17.1～19.3 萬/坪。隸屬【七期南側】之百戶老牌集合住宅（173戶・屋齡32.0年）。實登自 113年8月 高點 32.9 萬震盪回修，115年5月 最新成交為 25.8 萬/坪（變動 -21.6%）。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23.5 萬 ➜ 117 年 21.5 萬 ➜ 118 年收斂至 20.7 萬/坪（三年累計 -20.1%），理性回測長期支撐帶（17.1～19.3 萬/坪）。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#33【世紀龍門】（170戶・屋齡32.5年）實登走勢與後續三年動態預估</a:t>
            </a:r>
          </a:p>
        </p:txBody>
      </p:sp>
      <p:pic>
        <p:nvPicPr>
          <p:cNvPr id="6" name="Picture 5" descr="33_世紀龍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#33 世紀龍門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精密機械園區｜嶺東路836號（純住 68/77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23.9 萬/坪（115年3月，距高點 -18.2%）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26.8萬 ➜ 115年 23.9萬 (距高點 -18.2%)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21.7萬 (-9.1%) ｜ 117年 19.9萬 (-8.4%)</a:t>
            </a:r>
            <a:br/>
            <a:r>
              <a:t>118年 19.1萬 (-3.9%，三年累計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13.8～16.4 萬/坪。隸屬【嶺東科大】之百戶老牌集合住宅（170戶・屋齡32.5年）。實登自 113年7月 高點 29.2 萬震盪回修，115年3月 最新成交為 23.9 萬/坪（變動 -18.2%）。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21.7 萬 ➜ 117 年 19.9 萬 ➜ 118 年收斂至 19.1 萬/坪（三年累計 -20.1%），理性回測長期支撐帶（13.8～16.4 萬/坪）。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#34【三采陽光麗景】（168戶・屋齡30.4年）實登走勢與後續三年動態預估</a:t>
            </a:r>
          </a:p>
        </p:txBody>
      </p:sp>
      <p:pic>
        <p:nvPicPr>
          <p:cNvPr id="6" name="Picture 5" descr="34_三采陽光麗景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#34 三采陽光麗景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黎明新村生活圈｜黎明路二段302號（純住 47/57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34.1 萬/坪（113年12月）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34.1 萬/坪（113年12月，115暫無成交，距高點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33.5萬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31.3萬 (-8.2%) ｜ 117年 29.0萬 (-7.5%)</a:t>
            </a:r>
            <a:br/>
            <a:r>
              <a:t>118年 27.5萬 (-5.2%，三年累計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18.2～19.5 萬/坪。隸屬【黎明商圈】之百戶老牌集合住宅（168戶・屋齡30.4年）。115年受信用管制買氣急凍影響暫無純住揭露；最新純住成交為 113年12月 的 34.1 萬/坪（距高點 34.1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31.3 萬 ➜ 117 年 29.0 萬 ➜ 118 年收斂至 27.5 萬/坪（三年累計 -19.4%），理性回測長期支撐帶（18.2～19.5 萬/坪）。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#35【三采市政雙星】（163戶・屋齡30.2年）實登走勢與後續三年動態預估</a:t>
            </a:r>
          </a:p>
        </p:txBody>
      </p:sp>
      <p:pic>
        <p:nvPicPr>
          <p:cNvPr id="6" name="Picture 5" descr="35_三采市政雙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#35 三采市政雙星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文心森林公園特區｜大墩十二街626號（純住 42/48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34.6 萬/坪（113年12月）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31.2 萬/坪（115年1月，距高點 -9.8%）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30.4萬 ➜ 115年 31.2萬 (距高點 -9.8%)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28.5萬 (-8.5%) ｜ 117年 26.3萬 (-7.8%)</a:t>
            </a:r>
            <a:br/>
            <a:r>
              <a:t>118年 25.1萬 (-4.6%，三年累計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17.8～19.1 萬/坪。隸屬【七期南側】之百戶老牌集合住宅（163戶・屋齡30.2年）。實登自 113年12月 高點 34.6 萬震盪回修，115年1月 最新成交為 31.2 萬/坪（變動 -9.8%）。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28.5 萬 ➜ 117 年 26.3 萬 ➜ 118 年收斂至 25.1 萬/坪（三年累計 -19.6%），理性回測長期支撐帶（17.8～19.1 萬/坪）。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#36【泉福藝術龍庭】（162戶・屋齡31.9年）實登走勢與後續三年動態預估</a:t>
            </a:r>
          </a:p>
        </p:txBody>
      </p:sp>
      <p:pic>
        <p:nvPicPr>
          <p:cNvPr id="6" name="Picture 5" descr="36_泉福藝術龍庭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#36 泉福藝術龍庭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公益大墩商圈｜大墩路365號（純住 45/58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36.0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34.9 萬/坪（115年5月，距高點 -3.1%）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31.4萬 ➜ 115年 34.9萬 (距高點 -3.1%)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31.9萬 (-8.6%) ｜ 117年 29.3萬 (-8.3%)</a:t>
            </a:r>
            <a:br/>
            <a:r>
              <a:t>118年 28.1萬 (-3.9%，三年累計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18.4～19.9 萬/坪。隸屬【五期重劃區】之百戶老牌集合住宅（162戶・屋齡31.9年）。實登自 113年3月 高點 36.0 萬震盪回修，115年5月 最新成交為 34.9 萬/坪（變動 -3.1%）。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31.9 萬 ➜ 117 年 29.3 萬 ➜ 118 年收斂至 28.1 萬/坪（三年累計 -19.5%），理性回測長期支撐帶（18.4～19.9 萬/坪）。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#37【早安黎明大樓】（156戶・屋齡31.8年）實登走勢與後續三年動態預估</a:t>
            </a:r>
          </a:p>
        </p:txBody>
      </p:sp>
      <p:pic>
        <p:nvPicPr>
          <p:cNvPr id="6" name="Picture 5" descr="37_早安黎明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#37 早安黎明大樓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黎明新村生活圈｜黎明路二段50號（純住 56/68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32.4 萬/坪（112年11月）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29.9 萬/坪（115年8月，距高點 -7.7%）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29.8萬 ➜ 115年 28.9萬 (距高點 -10.8%)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26.3萬 (-9.0%) ｜ 117年 24.0萬 (-8.5%)</a:t>
            </a:r>
            <a:br/>
            <a:r>
              <a:t>118年 23.2萬 (-3.6%，三年累計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19.0～21.0 萬/坪。隸屬【黎明商圈】之百戶老牌集合住宅（156戶・屋齡31.8年）。實登自 112年11月 高點 32.4 萬震盪回修，115年8月 最新成交為 29.9 萬/坪（變動 -7.7%）。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26.3 萬 ➜ 117 年 24.0 萬 ➜ 118 年收斂至 23.2 萬/坪（三年累計 -19.7%），理性回測長期支撐帶（19.0～21.0 萬/坪）。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#38【熊貓天與地公寓】（156戶・屋齡31.7年）實登走勢與後續三年動態預估</a:t>
            </a:r>
          </a:p>
        </p:txBody>
      </p:sp>
      <p:pic>
        <p:nvPicPr>
          <p:cNvPr id="6" name="Picture 5" descr="38_熊貓天與地公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#38 熊貓天與地公寓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公益大墩商圈｜大墩路231號（純住 36/45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35.1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35.1 萬/坪（113年6月，115暫無成交，距高點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35.1萬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32.2萬 (-8.2%) ｜ 117年 29.8萬 (-7.5%)</a:t>
            </a:r>
            <a:br/>
            <a:r>
              <a:t>118年 28.3萬 (-5.2%，三年累計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17.5～19.3 萬/坪。隸屬【五期重劃區】之百戶老牌集合住宅（156戶・屋齡31.7年）。115年受信用管制買氣急凍影響暫無純住揭露；最新純住成交為 113年6月 的 35.1 萬/坪（距高點 35.1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32.2 萬 ➜ 117 年 29.8 萬 ➜ 118 年收斂至 28.3 萬/坪（三年累計 -19.4%），理性回測長期支撐帶（17.5～19.3 萬/坪）。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#39【三采大業新象】（156戶・屋齡32.0年）實登走勢與後續三年動態預估</a:t>
            </a:r>
          </a:p>
        </p:txBody>
      </p:sp>
      <p:pic>
        <p:nvPicPr>
          <p:cNvPr id="6" name="Picture 5" descr="39_三采大業新象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#39 三采大業新象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公益大墩商圈｜大業路591號（純住 26/38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35.2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35.2 萬/坪（114年3月，115暫無成交，距高點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32.2萬 (-8.5%) ｜ 117年 29.7萬 (-7.8%)</a:t>
            </a:r>
            <a:br/>
            <a:r>
              <a:t>118年 28.3萬 (-4.6%，三年累計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19.0～20.9 萬/坪。隸屬【五期重劃區】之百戶老牌集合住宅（156戶・屋齡32.0年）。115年受信用管制買氣急凍影響暫無純住揭露；最新純住成交為 114年3月 的 35.2 萬/坪（距高點 35.2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32.2 萬 ➜ 117 年 29.7 萬 ➜ 118 年收斂至 28.3 萬/坪（三年累計 -19.6%），理性回測長期支撐帶（19.0～20.9 萬/坪）。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#40【藝術羅丹】（151戶・屋齡32.0年）實登走勢與後續三年動態預估</a:t>
            </a:r>
          </a:p>
        </p:txBody>
      </p:sp>
      <p:pic>
        <p:nvPicPr>
          <p:cNvPr id="6" name="Picture 5" descr="40_藝術羅丹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#40 藝術羅丹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精密機械園區｜寶山三街1號（純住 56/70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25.6 萬/坪（110年10月）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17.1 萬/坪（114年3月，115暫無成交，距高點 -33.2%*）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21.0萬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15.6萬 (-8.8%) ｜ 117年 14.4萬 (-7.8%)</a:t>
            </a:r>
            <a:br/>
            <a:r>
              <a:t>118年 13.7萬 (-4.6%，三年累計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14.1～15.6 萬/坪。隸屬【嶺東科大】之百戶老牌集合住宅（151戶・屋齡32.0年）。115年受信用管制買氣急凍影響暫無純住揭露；最新純住成交為 114年3月 的 17.1 萬/坪（距高點 25.6 萬回檔 -33.2%*）。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15.6 萬 ➜ 117 年 14.4 萬 ➜ 118 年收斂至 13.7 萬/坪（三年累計 -19.9%），理性回測長期支撐帶（14.1～15.6 萬/坪）。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#41【三采藝術園邸】（151戶・屋齡30.9年）實登走勢與後續三年動態預估</a:t>
            </a:r>
          </a:p>
        </p:txBody>
      </p:sp>
      <p:pic>
        <p:nvPicPr>
          <p:cNvPr id="6" name="Picture 5" descr="41_三采藝術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#41 三采藝術園邸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公益大墩商圈｜大墩路764號（純住 31/38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31.8 萬/坪（115年4月）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31.8 萬/坪（115年4月，距高點 +0.0%）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27.4萬 ➜ 115年 31.8萬 (距高點 +0.0%)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29.0萬 (-8.8%) ｜ 117年 26.6萬 (-8.4%)</a:t>
            </a:r>
            <a:br/>
            <a:r>
              <a:t>118年 25.6萬 (-3.7%，三年累計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19.6～21.1 萬/坪。隸屬【五期重劃區】之百戶老牌集合住宅（151戶・屋齡30.9年）。實登自 115年4月 高點 31.8 萬震盪回修，115年4月 最新成交為 31.8 萬/坪（變動 +0.0%）。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29.0 萬 ➜ 117 年 26.6 萬 ➜ 118 年收斂至 25.6 萬/坪（三年累計 -19.5%），理性回測長期支撐帶（19.6～21.1 萬/坪）。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#42【三采藝術大地】（150戶・屋齡35.9年）實登走勢與後續三年動態預估</a:t>
            </a:r>
          </a:p>
        </p:txBody>
      </p:sp>
      <p:pic>
        <p:nvPicPr>
          <p:cNvPr id="6" name="Picture 5" descr="42_三采藝術大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#42 三采藝術大地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公益大墩商圈｜大聖街328號（純住 26/31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萬/坪（113年11月）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28.2 萬/坪（115年5月，距高點 -3.4%）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29.2萬 ➜ 115年 28.2萬 (距高點 -3.4%)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25.7萬 (-8.8%) ｜ 117年 23.7萬 (-8.0%)</a:t>
            </a:r>
            <a:br/>
            <a:r>
              <a:t>118年 22.7萬 (-4.2%，三年累計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18.5～20.3 萬/坪。隸屬【五期重劃區】之百戶老牌集合住宅（150戶・屋齡35.9年）。實登自 113年11月 高點 29.2 萬震盪回修，115年5月 最新成交為 28.2 萬/坪（變動 -3.4%）。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25.7 萬 ➜ 117 年 23.7 萬 ➜ 118 年收斂至 22.7 萬/坪（三年累計 -19.5%），理性回測長期支撐帶（18.5～20.3 萬/坪）。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#43【綠卡大樓】（148戶・屋齡32.5年）實登走勢與後續三年動態預估</a:t>
            </a:r>
          </a:p>
        </p:txBody>
      </p:sp>
      <p:pic>
        <p:nvPicPr>
          <p:cNvPr id="6" name="Picture 5" descr="43_綠卡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#43 綠卡大樓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公益大墩商圈｜大業路245號（純住 65/76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44.8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34.8 萬/坪（115年8月，距高點 -22.3%）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37.5萬 ➜ 115年 33.5萬 (距高點 -25.3%)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30.4萬 (-9.2%) ｜ 117年 27.6萬 (-9.1%)</a:t>
            </a:r>
            <a:br/>
            <a:r>
              <a:t>118年 26.7萬 (-3.3%，三年累計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19.5～21.2 萬/坪。隸屬【五期重劃區】之百戶老牌集合住宅（148戶・屋齡32.5年）。實登自 113年9月 高點 44.8 萬震盪回修，115年8月 最新成交為 34.8 萬/坪（變動 -22.3%）。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30.4 萬 ➜ 117 年 27.6 萬 ➜ 118 年收斂至 26.7 萬/坪（三年累計 -20.3%），理性回測長期支撐帶（19.5～21.2 萬/坪）。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#44【大未來】（146戶・屋齡31.6年）實登走勢與後續三年動態預估</a:t>
            </a:r>
          </a:p>
        </p:txBody>
      </p:sp>
      <p:pic>
        <p:nvPicPr>
          <p:cNvPr id="6" name="Picture 5" descr="44_大未來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#44 大未來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黎明新村生活圈｜黎明路二段137號（純住 72/79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37.3 萬/坪（113年5月）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31.9 萬/坪（115年8月，距高點 -14.5%）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32.7萬 ➜ 115年 32.0萬 (距高點 -14.1%)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29.1萬 (-9.1%) ｜ 117年 26.6萬 (-8.7%)</a:t>
            </a:r>
            <a:br/>
            <a:r>
              <a:t>118年 25.6萬 (-3.6%，三年累計 -20.0%)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18.1～19.8 萬/坪。隸屬【黎明商圈】之百戶老牌集合住宅（146戶・屋齡31.6年）。實登自 113年5月 高點 37.3 萬震盪回修，115年8月 最新成交為 31.9 萬/坪（變動 -14.5%）。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29.1 萬 ➜ 117 年 26.6 萬 ➜ 118 年收斂至 25.6 萬/坪（三年累計 -20.0%），理性回測長期支撐帶（18.1～19.8 萬/坪）。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#45【波音市彩翼】（146戶・屋齡31.4年）實登走勢與後續三年動態預估</a:t>
            </a:r>
          </a:p>
        </p:txBody>
      </p:sp>
      <p:pic>
        <p:nvPicPr>
          <p:cNvPr id="6" name="Picture 5" descr="45_波音市彩翼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028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#45 波音市彩翼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文心森林公園特區｜大墩十二街650號（純住 76/87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38.6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37.5 萬/坪（115年2月，距高點 -2.8%）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33.2萬 ➜ 115年 33.6萬 (距高點 -12.8%)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30.6萬 (-8.9%) ｜ 117年 28.0萬 (-8.6%)</a:t>
            </a:r>
            <a:br/>
            <a:r>
              <a:t>118年 27.0萬 (-3.6%，三年累計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18.0～21.1 萬/坪。隸屬【七期南側】之百戶老牌集合住宅（146戶・屋齡31.4年）。實登自 113年7月 高點 38.6 萬震盪回修，115年2月 最新成交為 37.5 萬/坪（變動 -2.8%）。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30.6 萬 ➜ 117 年 28.0 萬 ➜ 118 年收斂至 27.0 萬/坪（三年累計 -19.6%），理性回測長期支撐帶（18.0～21.1 萬/坪）。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#46【嶺東天下】（145戶・屋齡32.0年）實登走勢與後續三年動態預估</a:t>
            </a:r>
          </a:p>
        </p:txBody>
      </p:sp>
      <p:pic>
        <p:nvPicPr>
          <p:cNvPr id="6" name="Picture 5" descr="46_嶺東天下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#46 嶺東天下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精密機械園區｜忠勇路46號（純住 53/70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36.8 萬/坪（113年6月）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18.6 萬/坪（114年4月，115暫無成交，距高點 -49.5%*）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29.2萬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18.0萬 (-9.4%) ｜ 117年 16.5萬 (-8.3%)</a:t>
            </a:r>
            <a:br/>
            <a:r>
              <a:t>118年 15.8萬 (-4.2%，三年累計 -20.6%)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10.9～14.2 萬/坪。隸屬【嶺東科大】之百戶老牌集合住宅（145戶・屋齡32.0年）。115年受信用管制買氣急凍影響暫無純住揭露；最新純住成交為 114年4月 的 18.6 萬/坪（距高點 36.8 萬回檔 -49.5%*）。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18.0 萬 ➜ 117 年 16.5 萬 ➜ 118 年收斂至 15.8 萬/坪（三年累計 -20.6%），理性回測長期支撐帶（10.9～14.2 萬/坪）。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#47【新宿】（143戶・屋齡31.3年）實登走勢與後續三年動態預估</a:t>
            </a:r>
          </a:p>
        </p:txBody>
      </p:sp>
      <p:pic>
        <p:nvPicPr>
          <p:cNvPr id="6" name="Picture 5" descr="47_新宿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#47 新宿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豐樂公園・南苑商圈｜永春東路1102號（純住 59/69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41.9 萬/坪（113年5月）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24.6 萬/坪（115年2月，距高點 -41.3%）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31.2萬 ➜ 115年 24.6萬 (距高點 -41.3%)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22.4萬 (-8.8%) ｜ 117年 20.7萬 (-7.8%)</a:t>
            </a:r>
            <a:br/>
            <a:r>
              <a:t>118年 19.7萬 (-4.6%，三年累計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16.8～19.8 萬/坪。隸屬【八期重劃區】之百戶老牌集合住宅（143戶・屋齡31.3年）。實登自 113年5月 高點 41.9 萬震盪回修，115年2月 最新成交為 24.6 萬/坪（變動 -41.3%）。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22.4 萬 ➜ 117 年 20.7 萬 ➜ 118 年收斂至 19.7 萬/坪（三年累計 -19.9%），理性回測長期支撐帶（16.8～19.8 萬/坪）。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#48【海德堡五期】（143戶・屋齡32.2年）實登走勢與後續三年動態預估</a:t>
            </a:r>
          </a:p>
        </p:txBody>
      </p:sp>
      <p:pic>
        <p:nvPicPr>
          <p:cNvPr id="6" name="Picture 5" descr="48_海德堡五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#48 海德堡五期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豐樂公園・南苑商圈｜京展街190號（純住 22/28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33.3 萬/坪（112年11月）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26.3 萬/坪（115年4月，距高點 -21.0%）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30.2萬 ➜ 115年 26.3萬 (距高點 -21.0%)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24.1萬 (-8.4%) ｜ 117年 22.2萬 (-7.7%)</a:t>
            </a:r>
            <a:br/>
            <a:r>
              <a:t>118年 21.2萬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18.1～19.7 萬/坪。隸屬【八期重劃區】之百戶老牌集合住宅（143戶・屋齡32.2年）。實登自 112年11月 高點 33.3 萬震盪回修，115年4月 最新成交為 26.3 萬/坪（變動 -21.0%）。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24.1 萬 ➜ 117 年 22.2 萬 ➜ 118 年收斂至 21.2 萬/坪（三年累計 -19.4%），理性回測長期支撐帶（18.1～19.7 萬/坪）。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#49【熊貓國寶】（142戶・屋齡32.2年）實登走勢與後續三年動態預估</a:t>
            </a:r>
          </a:p>
        </p:txBody>
      </p:sp>
      <p:pic>
        <p:nvPicPr>
          <p:cNvPr id="6" name="Picture 5" descr="49_熊貓國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#49 熊貓國寶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公益大墩商圈｜大墩路500號（純住 38/46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27.0 萬/坪（111年10月）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23.1 萬/坪（114年12月，115暫無成交，距高點 -14.4%*）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25.7萬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19.9萬 (-9.0%) ｜ 117年 18.3萬 (-8.0%)</a:t>
            </a:r>
            <a:br/>
            <a:r>
              <a:t>118年 17.6萬 (-4.2%，三年累計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17.4～18.7 萬/坪。隸屬【五期重劃區】之百戶老牌集合住宅（142戶・屋齡32.2年）。115年受信用管制買氣急凍影響暫無純住揭露；最新純住成交為 114年12月 的 23.1 萬/坪（距高點 27.0 萬回檔 -14.4%*）。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19.9 萬 ➜ 117 年 18.3 萬 ➜ 118 年收斂至 17.6 萬/坪（三年累計 -19.6%），理性回測長期支撐帶（17.4～18.7 萬/坪）。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#50【龍邦富邑】（137戶・屋齡31.5年）實登走勢與後續三年動態預估</a:t>
            </a:r>
          </a:p>
        </p:txBody>
      </p:sp>
      <p:pic>
        <p:nvPicPr>
          <p:cNvPr id="6" name="Picture 5" descr="50_龍邦富邑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#50 龍邦富邑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公益大墩商圈｜五權西路二段680號（純住 27/31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萬/坪（115年6月）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29.2 萬/坪（115年6月，距高點 +0.0%）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29.2萬 (距高點 +0.0%)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26.7萬 (-8.4%) ｜ 117年 24.7萬 (-7.8%)</a:t>
            </a:r>
            <a:br/>
            <a:r>
              <a:t>118年 23.5萬 (-4.6%，三年累計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18.4～19.9 萬/坪。隸屬【五期重劃區】之百戶老牌集合住宅（137戶・屋齡31.5年）。實登自 115年6月 高點 29.2 萬震盪回修，115年6月 最新成交為 29.2 萬/坪（變動 +0.0%）。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26.7 萬 ➜ 117 年 24.7 萬 ➜ 118 年收斂至 23.5 萬/坪（三年累計 -19.5%），理性回測長期支撐帶（18.4～19.9 萬/坪）。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#51【大師大樓】（136戶・屋齡30.3年）實登走勢與後續三年動態預估</a:t>
            </a:r>
          </a:p>
        </p:txBody>
      </p:sp>
      <p:pic>
        <p:nvPicPr>
          <p:cNvPr id="6" name="Picture 5" descr="51_大師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#51 大師大樓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文心森林公園特區｜河南路四段502號（純住 56/72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36.9 萬/坪（113年7月）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30.1 萬/坪（114年12月，115暫無成交，距高點 -18.4%*）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28.7萬 (-9.0%) ｜ 117年 26.4萬 (-8.3%)</a:t>
            </a:r>
            <a:br/>
            <a:r>
              <a:t>118年 25.3萬 (-3.9%，三年累計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19.6～22.4 萬/坪。隸屬【七期南側】之百戶老牌集合住宅（136戶・屋齡30.3年）。115年受信用管制買氣急凍影響暫無純住揭露；最新純住成交為 114年12月 的 30.1 萬/坪（距高點 36.9 萬回檔 -18.4%*）。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28.7 萬 ➜ 117 年 26.4 萬 ➜ 118 年收斂至 25.3 萬/坪（三年累計 -19.9%），理性回測長期支撐帶（19.6～22.4 萬/坪）。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#52【熊貓寶座】（136戶・屋齡32.9年）實登走勢與後續三年動態預估</a:t>
            </a:r>
          </a:p>
        </p:txBody>
      </p:sp>
      <p:pic>
        <p:nvPicPr>
          <p:cNvPr id="6" name="Picture 5" descr="52_熊貓寶座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#52 熊貓寶座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公益大墩商圈｜大英西一街92號（純住 38/50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33.8 萬/坪（113年8月）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萬/坪（115年7月，距高點 -16.0%）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31.4萬 ➜ 115年 30.1萬 (距高點 -10.9%)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27.5萬 (-8.6%) ｜ 117年 25.2萬 (-8.3%)</a:t>
            </a:r>
            <a:br/>
            <a:r>
              <a:t>118年 24.4萬 (-3.4%，三年累計 -18.9%)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19.4～22.9 萬/坪。隸屬【五期重劃區】之百戶老牌集合住宅（136戶・屋齡32.9年）。實登自 113年8月 高點 33.8 萬震盪回修，115年7月 最新成交為 28.4 萬/坪（變動 -16.0%）。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27.5 萬 ➜ 117 年 25.2 萬 ➜ 118 年收斂至 24.4 萬/坪（三年累計 -18.9%），理性回測長期支撐帶（19.4～22.9 萬/坪）。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#53【台中黎明】（134戶・屋齡33.8年）實登走勢與後續三年動態預估</a:t>
            </a:r>
          </a:p>
        </p:txBody>
      </p:sp>
      <p:pic>
        <p:nvPicPr>
          <p:cNvPr id="6" name="Picture 5" descr="53_台中黎明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#53 台中黎明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黎明新村生活圈｜黎明路一段157巷25號（純住 26/35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25.8 萬/坪（114年3月）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23.8 萬/坪（114年10月，115暫無成交，距高點 -7.8%*）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22.6萬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22.6萬 (-8.9%) ｜ 117年 20.8萬 (-8.1%)</a:t>
            </a:r>
            <a:br/>
            <a:r>
              <a:t>118年 19.9萬 (-4.2%，三年累計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14.5～16.0 萬/坪。隸屬【黎明商圈】之百戶老牌集合住宅（134戶・屋齡33.8年）。115年受信用管制買氣急凍影響暫無純住揭露；最新純住成交為 114年10月 的 23.8 萬/坪（距高點 25.8 萬回檔 -7.8%*）。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22.6 萬 ➜ 117 年 20.8 萬 ➜ 118 年收斂至 19.9 萬/坪（三年累計 -19.8%），理性回測長期支撐帶（14.5～16.0 萬/坪）。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#54【鑫園21世紀】（134戶・屋齡32.5年）實登走勢與後續三年動態預估</a:t>
            </a:r>
          </a:p>
        </p:txBody>
      </p:sp>
      <p:pic>
        <p:nvPicPr>
          <p:cNvPr id="6" name="Picture 5" descr="54_鑫園21世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00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#54 鑫園21世紀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公益大墩商圈｜大墩二街28號（純住 40/45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30.0 萬/坪（113年2月）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16.8 萬/坪（113年7月，115暫無成交，距高點 -44.0%*）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23.5萬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15.4萬 (-8.2%) ｜ 117年 15.0萬 (-2.7%)</a:t>
            </a:r>
            <a:br/>
            <a:r>
              <a:t>118年 15.0萬 (+0.0%，三年累計 -10.7%)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15.7～18.9 萬/坪。隸屬【五期重劃區】之百戶老牌集合住宅（134戶・屋齡32.5年）。115年受信用管制買氣急凍影響暫無純住揭露；最新純住成交為 113年7月 的 16.8 萬/坪（距高點 30.0 萬回檔 -44.0%*）。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15.4 萬 ➜ 117 年 15.0 萬 ➜ 118 年收斂至 15.0 萬/坪（三年累計 -10.7%），理性回測長期支撐帶（15.7～18.9 萬/坪）。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#55【文山親家十一期】（132戶・屋齡31.5年）實登走勢與後續三年動態預估</a:t>
            </a:r>
          </a:p>
        </p:txBody>
      </p:sp>
      <p:pic>
        <p:nvPicPr>
          <p:cNvPr id="6" name="Picture 5" descr="55_文山親家十一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#55 文山親家十一期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精密機械園區｜保安三街117號（純住 46/59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29.0 萬/坪（113年4月）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23.7 萬/坪（115年1月，距高點 -18.3%）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27.2萬 ➜ 115年 23.7萬 (距高點 -18.3%)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21.7萬 (-8.6%) ｜ 117年 20.0萬 (-7.8%)</a:t>
            </a:r>
            <a:br/>
            <a:r>
              <a:t>118年 19.1萬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14.7～16.2 萬/坪。隸屬【嶺東科大】之百戶老牌集合住宅（132戶・屋齡31.5年）。實登自 113年4月 高點 29.0 萬震盪回修，115年1月 最新成交為 23.7 萬/坪（變動 -18.3%）。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21.7 萬 ➜ 117 年 20.0 萬 ➜ 118 年收斂至 19.1 萬/坪（三年累計 -19.4%），理性回測長期支撐帶（14.7～16.2 萬/坪）。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#56【黎明玉璽大廈】（130戶・屋齡32.8年）實登走勢與後續三年動態預估</a:t>
            </a:r>
          </a:p>
        </p:txBody>
      </p:sp>
      <p:pic>
        <p:nvPicPr>
          <p:cNvPr id="6" name="Picture 5" descr="56_黎明玉璽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#56 黎明玉璽大廈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黎明新村生活圈｜黎明路二段189巷16號（純住 52/59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31.0 萬/坪（112年9月）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萬/坪（115年4月，距高點 -8.4%）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28.6萬 ➜ 115年 28.4萬 (距高點 -8.4%)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25.9萬 (-8.8%) ｜ 117年 23.8萬 (-8.1%)</a:t>
            </a:r>
            <a:br/>
            <a:r>
              <a:t>118年 22.8萬 (-4.2%，三年累計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16.2～19.1 萬/坪。隸屬【黎明商圈】之百戶老牌集合住宅（130戶・屋齡32.8年）。實登自 112年9月 高點 31.0 萬震盪回修，115年4月 最新成交為 28.4 萬/坪（變動 -8.4%）。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25.9 萬 ➜ 117 年 23.8 萬 ➜ 118 年收斂至 22.8 萬/坪（三年累計 -19.7%），理性回測長期支撐帶（16.2～19.1 萬/坪）。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#57【陽光之邑】（127戶・屋齡31.3年）實登走勢與後續三年動態預估</a:t>
            </a:r>
          </a:p>
        </p:txBody>
      </p:sp>
      <p:pic>
        <p:nvPicPr>
          <p:cNvPr id="6" name="Picture 5" descr="57_陽光之邑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#57 陽光之邑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精密機械園區｜嶺東路806號（純住 85/99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27.7 萬/坪（112年12月）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24.7 萬/坪（115年4月，距高點 -10.8%）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26.0萬 ➜ 115年 22.9萬 (距高點 -17.5%)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20.8萬 (-9.2%) ｜ 117年 19.0萬 (-8.5%)</a:t>
            </a:r>
            <a:br/>
            <a:r>
              <a:t>118年 18.3萬 (-3.8%，三年累計 -20.1%)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12.6～16.1 萬/坪。隸屬【嶺東科大】之百戶老牌集合住宅（127戶・屋齡31.3年）。實登自 112年12月 高點 27.7 萬震盪回修，115年4月 最新成交為 24.7 萬/坪（變動 -10.8%）。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20.8 萬 ➜ 117 年 19.0 萬 ➜ 118 年收斂至 18.3 萬/坪（三年累計 -20.1%），理性回測長期支撐帶（12.6～16.1 萬/坪）。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#58【黎明公寓大廈】（125戶・屋齡43.5年）實登走勢與後續三年動態預估</a:t>
            </a:r>
          </a:p>
        </p:txBody>
      </p:sp>
      <p:pic>
        <p:nvPicPr>
          <p:cNvPr id="6" name="Picture 5" descr="58_黎明公寓大廈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#58 黎明公寓大廈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七期南側 / 文心森林公園特區｜市政南二路211號（純住 21/26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29.0 萬/坪（115年5月）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24.7 萬/坪（115年6月，距高點 -14.8%）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26.9萬 (距高點 -7.4%)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24.6萬 (-8.4%) ｜ 117年 22.7萬 (-8.0%)</a:t>
            </a:r>
            <a:br/>
            <a:r>
              <a:t>118年 21.7萬 (-4.2%，三年累計 -19.3%)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15.4～17.9 萬/坪。隸屬【七期南側】之百戶老牌集合住宅（125戶・屋齡43.5年）。實登自 115年5月 高點 29.0 萬震盪回修，115年6月 最新成交為 24.7 萬/坪（變動 -14.8%）。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24.6 萬 ➜ 117 年 22.7 萬 ➜ 118 年收斂至 21.7 萬/坪（三年累計 -19.3%），理性回測長期支撐帶（15.4～17.9 萬/坪）。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#59【黎明新天地】（125戶・屋齡30.2年）實登走勢與後續三年動態預估</a:t>
            </a:r>
          </a:p>
        </p:txBody>
      </p:sp>
      <p:pic>
        <p:nvPicPr>
          <p:cNvPr id="6" name="Picture 5" descr="59_黎明新天地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#59 黎明新天地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黎明新村生活圈｜黎明路一段304號（純住 31/35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31.4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26.1 萬/坪（114年8月，115暫無成交，距高點 -16.9%*）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24.3萬 (-9.0%) ｜ 117年 22.2萬 (-8.5%)</a:t>
            </a:r>
            <a:br/>
            <a:r>
              <a:t>118年 21.4萬 (-4.0%，三年累計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14.5～16.0 萬/坪。隸屬【黎明商圈】之百戶老牌集合住宅（125戶・屋齡30.2年）。115年受信用管制買氣急凍影響暫無純住揭露；最新純住成交為 114年8月 的 26.1 萬/坪（距高點 31.4 萬回檔 -16.9%*）。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24.3 萬 ➜ 117 年 22.2 萬 ➜ 118 年收斂至 21.4 萬/坪（三年累計 -19.9%），理性回測長期支撐帶（14.5～16.0 萬/坪）。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#60【羅馬假期一期】（121戶・屋齡33.9年）實登走勢與後續三年動態預估</a:t>
            </a:r>
          </a:p>
        </p:txBody>
      </p:sp>
      <p:pic>
        <p:nvPicPr>
          <p:cNvPr id="6" name="Picture 5" descr="60_羅馬假期一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#60 羅馬假期一期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公益大墩商圈｜大墩六街218號（純住 112/131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32.4 萬/坪（111年9月）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23.4 萬/坪（115年8月，距高點 -27.8%）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27.9萬 ➜ 115年 26.2萬 (距高點 -19.0%)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23.8萬 (-9.0%) ｜ 117年 21.9萬 (-8.1%)</a:t>
            </a:r>
            <a:br/>
            <a:r>
              <a:t>118年 21.0萬 (-4.2%，三年累計 -19.8%)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17.4～19.8 萬/坪。隸屬【五期重劃區】之百戶老牌集合住宅（121戶・屋齡33.9年）。實登自 111年9月 高點 32.4 萬震盪回修，115年8月 最新成交為 23.4 萬/坪（變動 -27.8%）。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23.8 萬 ➜ 117 年 21.9 萬 ➜ 118 年收斂至 21.0 萬/坪（三年累計 -19.8%），理性回測長期支撐帶（17.4～19.8 萬/坪）。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#61【海德堡公園特區】（119戶・屋齡32.9年）實登走勢與後續三年動態預估</a:t>
            </a:r>
          </a:p>
        </p:txBody>
      </p:sp>
      <p:pic>
        <p:nvPicPr>
          <p:cNvPr id="6" name="Picture 5" descr="61_海德堡公園特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#61 海德堡公園特區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豐樂公園・南苑商圈｜文心南二路221號（純住 21/27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37.8 萬/坪（113年11月）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24.3 萬/坪（114年11月，115暫無成交，距高點 -35.7%*）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33.7萬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22.3萬 (-9.3%) ｜ 117年 20.5萬 (-8.2%)</a:t>
            </a:r>
            <a:br/>
            <a:r>
              <a:t>118年 19.6萬 (-4.2%，三年累計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18.3～19.8 萬/坪。隸屬【八期重劃區】之百戶老牌集合住宅（119戶・屋齡32.9年）。115年受信用管制買氣急凍影響暫無純住揭露；最新純住成交為 114年11月 的 24.3 萬/坪（距高點 37.8 萬回檔 -35.7%*）。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22.3 萬 ➜ 117 年 20.5 萬 ➜ 118 年收斂至 19.6 萬/坪（三年累計 -20.3%），理性回測長期支撐帶（18.3～19.8 萬/坪）。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#62【晶品大樓】（117戶・屋齡32.1年）實登走勢與後續三年動態預估</a:t>
            </a:r>
          </a:p>
        </p:txBody>
      </p:sp>
      <p:pic>
        <p:nvPicPr>
          <p:cNvPr id="6" name="Picture 5" descr="62_晶品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#62 晶品大樓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公益大墩商圈｜東興路二段219號（純住 74/89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33.9 萬/坪（112年12月）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29.5 萬/坪（115年4月，距高點 -13.0%）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29.3萬 ➜ 115年 27.1萬 (距高點 -20.0%)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24.6萬 (-9.3%) ｜ 117年 22.4萬 (-8.8%)</a:t>
            </a:r>
            <a:br/>
            <a:r>
              <a:t>118年 21.6萬 (-3.5%，三年累計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17.1～20.4 萬/坪。隸屬【五期重劃區】之百戶老牌集合住宅（117戶・屋齡32.1年）。實登自 112年12月 高點 33.9 萬震盪回修，115年4月 最新成交為 29.5 萬/坪（變動 -13.0%）。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24.6 萬 ➜ 117 年 22.4 萬 ➜ 118 年收斂至 21.6 萬/坪（三年累計 -20.3%），理性回測長期支撐帶（17.1～20.4 萬/坪）。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#63【巴黎大道】（115戶・屋齡31.4年）實登走勢與後續三年動態預估</a:t>
            </a:r>
          </a:p>
        </p:txBody>
      </p:sp>
      <p:pic>
        <p:nvPicPr>
          <p:cNvPr id="6" name="Picture 5" descr="63_巴黎大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#63 巴黎大道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公益大墩商圈｜大墩路712號（純住 47/55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37.8 萬/坪（114年1月）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30.6 萬/坪（115年7月，距高點 -19.0%）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33.1萬 ➜ 115年 30.6萬 (距高點 -19.0%)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27.8萬 (-9.2%) ｜ 117年 25.4萬 (-8.7%)</a:t>
            </a:r>
            <a:br/>
            <a:r>
              <a:t>118年 24.4萬 (-3.6%，三年累計 -20.3%)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19.9～21.7 萬/坪。隸屬【五期重劃區】之百戶老牌集合住宅（115戶・屋齡31.4年）。實登自 114年1月 高點 37.8 萬震盪回修，115年7月 最新成交為 30.6 萬/坪（變動 -19.0%）。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27.8 萬 ➜ 117 年 25.4 萬 ➜ 118 年收斂至 24.4 萬/坪（三年累計 -20.3%），理性回測長期支撐帶（19.9～21.7 萬/坪）。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#64【山河風情】（114戶・屋齡32.5年）實登走勢與後續三年動態預估</a:t>
            </a:r>
          </a:p>
        </p:txBody>
      </p:sp>
      <p:pic>
        <p:nvPicPr>
          <p:cNvPr id="6" name="Picture 5" descr="64_山河風情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#64 山河風情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精密機械園區｜嶺東南路40號（純住 35/44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28.3 萬/坪（111年5月）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16.0 萬/坪（114年11月，115暫無成交，距高點 -43.5%*）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25.6萬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16.2萬 (-9.6%) ｜ 117年 14.8萬 (-8.5%)</a:t>
            </a:r>
            <a:br/>
            <a:r>
              <a:t>118年 14.2萬 (-4.0%，三年累計 -20.7%)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12.3～14.7 萬/坪。隸屬【嶺東科大】之百戶老牌集合住宅（114戶・屋齡32.5年）。115年受信用管制買氣急凍影響暫無純住揭露；最新純住成交為 114年11月 的 16.0 萬/坪（距高點 28.3 萬回檔 -43.5%*）。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16.2 萬 ➜ 117 年 14.8 萬 ➜ 118 年收斂至 14.2 萬/坪（三年累計 -20.7%），理性回測長期支撐帶（12.3～14.7 萬/坪）。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#65【領袖江山】（113戶・屋齡32.5年）實登走勢與後續三年動態預估</a:t>
            </a:r>
          </a:p>
        </p:txBody>
      </p:sp>
      <p:pic>
        <p:nvPicPr>
          <p:cNvPr id="6" name="Picture 5" descr="65_領袖江山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#65 領袖江山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公益大墩商圈｜大光街36號（純住 25/30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29.1 萬/坪（114年7月）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24.8 萬/坪（115年8月，距高點 -14.8%）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26.2萬 ➜ 115年 26.2萬 (距高點 -9.8%)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24.0萬 (-8.5%) ｜ 117年 22.0萬 (-8.1%)</a:t>
            </a:r>
            <a:br/>
            <a:r>
              <a:t>118年 21.2萬 (-3.7%，三年累計 -19.1%)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18.4～21.1 萬/坪。隸屬【五期重劃區】之百戶老牌集合住宅（113戶・屋齡32.5年）。實登自 114年7月 高點 29.1 萬震盪回修，115年8月 最新成交為 24.8 萬/坪（變動 -14.8%）。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24.0 萬 ➜ 117 年 22.0 萬 ➜ 118 年收斂至 21.2 萬/坪（三年累計 -19.1%），理性回測長期支撐帶（18.4～21.1 萬/坪）。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#66【翰陽金墩大樓】（113戶・屋齡33.0年）實登走勢與後續三年動態預估</a:t>
            </a:r>
          </a:p>
        </p:txBody>
      </p:sp>
      <p:pic>
        <p:nvPicPr>
          <p:cNvPr id="6" name="Picture 5" descr="66_翰陽金墩大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#66 翰陽金墩大樓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萬和宮生活圈｜南屯路二段230號（純住 26/35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34.3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31.8 萬/坪（113年10月，115暫無成交，距高點 -7.3%*）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29.2萬 (-8.2%) ｜ 117年 27.0萬 (-7.5%)</a:t>
            </a:r>
            <a:br/>
            <a:r>
              <a:t>118年 25.6萬 (-5.2%，三年累計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17.7～19.2 萬/坪。隸屬【南屯舊市區】之百戶老牌集合住宅（113戶・屋齡33.0年）。115年受信用管制買氣急凍影響暫無純住揭露；最新純住成交為 113年10月 的 31.8 萬/坪（距高點 34.3 萬回檔 -7.3%*）。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29.2 萬 ➜ 117 年 27.0 萬 ➜ 118 年收斂至 25.6 萬/坪（三年累計 -19.5%），理性回測長期支撐帶（17.7～19.2 萬/坪）。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#67【儷園華廈(惠文南街)】（113戶・屋齡31.7年）實登走勢與後續三年動態預估</a:t>
            </a:r>
          </a:p>
        </p:txBody>
      </p:sp>
      <p:pic>
        <p:nvPicPr>
          <p:cNvPr id="6" name="Picture 5" descr="67_儷園華廈(惠文南街)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#67 儷園華廈(惠文南街)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八期重劃區 / 豐樂公園・南苑商圈｜惠文南街261巷1號（純住 40/51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32.7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31.4 萬/坪（113年10月，115暫無成交，距高點 -4.0%*）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32.0萬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28.8萬 (-8.2%) ｜ 117年 26.7萬 (-7.5%)</a:t>
            </a:r>
            <a:br/>
            <a:r>
              <a:t>118年 25.3萬 (-5.2%，三年累計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18.1～20.0 萬/坪。隸屬【八期重劃區】之百戶老牌集合住宅（113戶・屋齡31.7年）。115年受信用管制買氣急凍影響暫無純住揭露；最新純住成交為 113年10月 的 31.4 萬/坪（距高點 32.7 萬回檔 -4.0%*）。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28.8 萬 ➜ 117 年 26.7 萬 ➜ 118 年收斂至 25.3 萬/坪（三年累計 -19.4%），理性回測長期支撐帶（18.1～20.0 萬/坪）。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#68【佳府世家】（112戶・屋齡33.9年）實登走勢與後續三年動態預估</a:t>
            </a:r>
          </a:p>
        </p:txBody>
      </p:sp>
      <p:pic>
        <p:nvPicPr>
          <p:cNvPr id="6" name="Picture 5" descr="68_佳府世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#68 佳府世家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精密機械園區｜保安五街211號（純住 44/55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29.9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18.5 萬/坪（114年10月，115暫無成交，距高點 -38.1%*）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24.0萬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20.5萬 (-9.3%) ｜ 117年 18.8萬 (-8.4%)</a:t>
            </a:r>
            <a:br/>
            <a:r>
              <a:t>118年 18.0萬 (-4.0%，三年累計 -20.4%)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14.8～16.3 萬/坪。隸屬【嶺東科大】之百戶老牌集合住宅（112戶・屋齡33.9年）。115年受信用管制買氣急凍影響暫無純住揭露；最新純住成交為 114年10月 的 18.5 萬/坪（距高點 29.9 萬回檔 -38.1%*）。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20.5 萬 ➜ 117 年 18.8 萬 ➜ 118 年收斂至 18.0 萬/坪（三年累計 -20.4%），理性回測長期支撐帶（14.8～16.3 萬/坪）。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#69【愛人同志二期】（109戶・屋齡33.5年）實登走勢與後續三年動態預估</a:t>
            </a:r>
          </a:p>
        </p:txBody>
      </p:sp>
      <p:pic>
        <p:nvPicPr>
          <p:cNvPr id="6" name="Picture 5" descr="69_愛人同志二期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#69 愛人同志二期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精密機械園區｜嶺東路750號（純住 37/48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24.8 萬/坪（113年10月）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23.5 萬/坪（114年5月，115暫無成交，距高點 -5.2%*）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20.6萬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21.5萬 (-8.6%) ｜ 117年 19.8萬 (-7.8%)</a:t>
            </a:r>
            <a:br/>
            <a:r>
              <a:t>118年 18.9萬 (-4.6%，三年累計 -19.6%)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14.6～16.2 萬/坪。隸屬【嶺東科大】之百戶老牌集合住宅（109戶・屋齡33.5年）。115年受信用管制買氣急凍影響暫無純住揭露；最新純住成交為 114年5月 的 23.5 萬/坪（距高點 24.8 萬回檔 -5.2%*）。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21.5 萬 ➜ 117 年 19.8 萬 ➜ 118 年收斂至 18.9 萬/坪（三年累計 -19.6%），理性回測長期支撐帶（14.6～16.2 萬/坪）。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#70【向上園邸】（108戶・屋齡31.5年）實登走勢與後續三年動態預估</a:t>
            </a:r>
          </a:p>
        </p:txBody>
      </p:sp>
      <p:pic>
        <p:nvPicPr>
          <p:cNvPr id="6" name="Picture 5" descr="70_向上園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#70 向上園邸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黎明商圈 / 黎明新村生活圈｜黎明東街193號（純住 28/31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31.5 萬/坪（113年3月）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31.3 萬/坪（115年5月，距高點 -0.6%）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31.5萬 ➜ 115年 31.3萬 (距高點 -0.6%)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28.7萬 (-8.4%) ｜ 117年 26.4萬 (-7.8%)</a:t>
            </a:r>
            <a:br/>
            <a:r>
              <a:t>118年 25.2萬 (-4.6%，三年累計 -19.5%)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20.1～21.6 萬/坪。隸屬【黎明商圈】之百戶老牌集合住宅（108戶・屋齡31.5年）。實登自 113年3月 高點 31.5 萬震盪回修，115年5月 最新成交為 31.3 萬/坪（變動 -0.6%）。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28.7 萬 ➜ 117 年 26.4 萬 ➜ 118 年收斂至 25.2 萬/坪（三年累計 -19.5%），理性回測長期支撐帶（20.1～21.6 萬/坪）。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#71【達觀】（107戶・屋齡31.8年）實登走勢與後續三年動態預估</a:t>
            </a:r>
          </a:p>
        </p:txBody>
      </p:sp>
      <p:pic>
        <p:nvPicPr>
          <p:cNvPr id="6" name="Picture 5" descr="71_達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#71 達觀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公益大墩商圈｜大墩四街321號（純住 47/51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39.2 萬/坪（114年6月）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31.0 萬/坪（114年6月，115暫無成交，距高點 -20.9%*）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33.9萬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32.0萬 (-8.9%) ｜ 117年 29.4萬 (-8.2%)</a:t>
            </a:r>
            <a:br/>
            <a:r>
              <a:t>118年 28.1萬 (-4.2%，三年累計 -19.9%)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19.2～21.2 萬/坪。隸屬【五期重劃區】之百戶老牌集合住宅（107戶・屋齡31.8年）。115年受信用管制買氣急凍影響暫無純住揭露；最新純住成交為 114年6月 的 31.0 萬/坪（距高點 39.2 萬回檔 -20.9%*）。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32.0 萬 ➜ 117 年 29.4 萬 ➜ 118 年收斂至 28.1 萬/坪（三年累計 -19.9%），理性回測長期支撐帶（19.2～21.2 萬/坪）。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#72【寶璽公園爵邸】（107戶・屋齡35.5年）實登走勢與後續三年動態預估</a:t>
            </a:r>
          </a:p>
        </p:txBody>
      </p:sp>
      <p:pic>
        <p:nvPicPr>
          <p:cNvPr id="6" name="Picture 5" descr="72_寶璽公園爵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#72 寶璽公園爵邸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公益大墩商圈｜大墩路455號（純住 25/30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30.5 萬/坪（113年9月）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24.0 萬/坪（115年3月，距高點 -21.3%）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30.5萬 ➜ 115年 24.0萬 (距高點 -21.3%)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21.8萬 (-9.0%) ｜ 117年 20.1萬 (-8.1%)</a:t>
            </a:r>
            <a:br/>
            <a:r>
              <a:t>118年 19.2萬 (-4.2%，三年累計 -20.0%)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17.1～18.9 萬/坪。隸屬【五期重劃區】之百戶老牌集合住宅（107戶・屋齡35.5年）。實登自 113年9月 高點 30.5 萬震盪回修，115年3月 最新成交為 24.0 萬/坪（變動 -21.3%）。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21.8 萬 ➜ 117 年 20.1 萬 ➜ 118 年收斂至 19.2 萬/坪（三年累計 -20.0%），理性回測長期支撐帶（17.1～18.9 萬/坪）。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#73【錦繡江山】（104戶・屋齡32.4年）實登走勢與後續三年動態預估</a:t>
            </a:r>
          </a:p>
        </p:txBody>
      </p:sp>
      <p:pic>
        <p:nvPicPr>
          <p:cNvPr id="6" name="Picture 5" descr="73_錦繡江山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#73 錦繡江山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嶺東科大 / 精密機械園區｜五權西路三段133號（純住 48/60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29.0 萬/坪（113年2月）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23.9 萬/坪（113年3月，115暫無成交，距高點 -17.6%*）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21.9萬 (-8.2%) ｜ 117年 20.3萬 (-7.5%)</a:t>
            </a:r>
            <a:br/>
            <a:r>
              <a:t>118年 19.2萬 (-5.2%，三年累計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14.3～15.9 萬/坪。隸屬【嶺東科大】之百戶老牌集合住宅（104戶・屋齡32.4年）。115年受信用管制買氣急凍影響暫無純住揭露；最新純住成交為 113年3月 的 23.9 萬/坪（距高點 29.0 萬回檔 -17.6%*）。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21.9 萬 ➜ 117 年 20.3 萬 ➜ 118 年收斂至 19.2 萬/坪（三年累計 -19.7%），理性回測長期支撐帶（14.3～15.9 萬/坪）。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#74【我愛我家】（103戶・屋齡33.0年）實登走勢與後續三年動態預估</a:t>
            </a:r>
          </a:p>
        </p:txBody>
      </p:sp>
      <p:pic>
        <p:nvPicPr>
          <p:cNvPr id="6" name="Picture 5" descr="74_我愛我家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#74 我愛我家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南屯舊市區 / 萬和宮生活圈｜萬和路二段31號之25（純住 23/30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萬/坪（115年6月）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28.4 萬/坪（115年6月，距高點 +0.0%）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— ➜ 115年 28.4萬 (距高點 +0.0%)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25.9萬 (-8.7%) ｜ 117年 23.8萬 (-8.1%)</a:t>
            </a:r>
            <a:br/>
            <a:r>
              <a:t>118年 22.8萬 (-4.2%，三年累計 -19.7%)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16.1～17.6 萬/坪。隸屬【南屯舊市區】之百戶老牌集合住宅（103戶・屋齡33.0年）。實登自 115年6月 高點 28.4 萬震盪回修，115年6月 最新成交為 28.4 萬/坪（變動 +0.0%）。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25.9 萬 ➜ 117 年 23.8 萬 ➜ 118 年收斂至 22.8 萬/坪（三年累計 -19.7%），理性回測長期支撐帶（16.1～17.6 萬/坪）。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92608"/>
            <a:ext cx="585216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台中市南屯區 30 年以上老牌大社區・實價登錄趨勢與後續三年預估專題報告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1B365D"/>
                </a:solidFill>
                <a:latin typeface="微軟正黑體"/>
              </a:defRPr>
            </a:pPr>
            <a:r>
              <a:t>社區行情實證 #75【寶璽尊邸】（102戶・屋齡32.5年）實登走勢與後續三年動態預估</a:t>
            </a:r>
          </a:p>
        </p:txBody>
      </p:sp>
      <p:pic>
        <p:nvPicPr>
          <p:cNvPr id="6" name="Picture 5" descr="75_寶璽尊邸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6228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15087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B365D"/>
                </a:solidFill>
                <a:latin typeface="微軟正黑體"/>
              </a:defRPr>
            </a:pPr>
            <a:r>
              <a:t>🏢 #75 寶璽尊邸 實登關鍵指標</a:t>
            </a:r>
          </a:p>
          <a:p>
            <a:pPr>
              <a:spcBef>
                <a:spcPts val="350"/>
              </a:spcBef>
              <a:defRPr sz="960" b="1">
                <a:solidFill>
                  <a:srgbClr val="2C5E8A"/>
                </a:solidFill>
                <a:latin typeface="微軟正黑體"/>
              </a:defRPr>
            </a:pPr>
            <a:r>
              <a:t>• 生活圈與門牌實登：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五期重劃區 / 公益大墩商圈｜大進街295號（純住 33/42 筆）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歷史最高成交紀錄：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萬/坪（114年11月）</a:t>
            </a:r>
          </a:p>
          <a:p>
            <a:pPr>
              <a:spcBef>
                <a:spcPts val="350"/>
              </a:spcBef>
              <a:defRPr sz="960" b="1">
                <a:solidFill>
                  <a:srgbClr val="D98C14"/>
                </a:solidFill>
                <a:latin typeface="微軟正黑體"/>
              </a:defRPr>
            </a:pPr>
            <a:r>
              <a:t>• 最新純住實登成交：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30.9 萬/坪（114年11月，115暫無成交，距高點 +0.0%*）</a:t>
            </a:r>
          </a:p>
          <a:p>
            <a:pPr>
              <a:spcBef>
                <a:spcPts val="350"/>
              </a:spcBef>
              <a:defRPr sz="960" b="1">
                <a:solidFill>
                  <a:srgbClr val="1B365D"/>
                </a:solidFill>
                <a:latin typeface="微軟正黑體"/>
              </a:defRPr>
            </a:pPr>
            <a:r>
              <a:t>• 純住宅年度均價走勢：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113年 26.0萬 ➜ 115年 — (115量縮急凍暫無純住成交)</a:t>
            </a:r>
          </a:p>
          <a:p>
            <a:pPr>
              <a:spcBef>
                <a:spcPts val="350"/>
              </a:spcBef>
              <a:defRPr sz="960" b="1">
                <a:solidFill>
                  <a:srgbClr val="C0392B"/>
                </a:solidFill>
                <a:latin typeface="微軟正黑體"/>
              </a:defRPr>
            </a:pPr>
            <a:r>
              <a:t>• 計量經濟學動態預估：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116年 28.3萬 (-8.5%) ｜ 117年 26.1萬 (-7.8%)</a:t>
            </a:r>
            <a:br/>
            <a:r>
              <a:t>118年 24.9萬 (-4.6%，三年累計 -19.4%)</a:t>
            </a:r>
          </a:p>
          <a:p>
            <a:pPr>
              <a:spcBef>
                <a:spcPts val="350"/>
              </a:spcBef>
              <a:defRPr sz="960" b="1">
                <a:solidFill>
                  <a:srgbClr val="1E293B"/>
                </a:solidFill>
                <a:latin typeface="微軟正黑體"/>
              </a:defRPr>
            </a:pPr>
            <a:r>
              <a:t>• 長期支撐與走勢剖析：</a:t>
            </a:r>
          </a:p>
          <a:p>
            <a:pPr>
              <a:lnSpc>
                <a:spcPct val="118000"/>
              </a:lnSpc>
              <a:defRPr sz="860">
                <a:solidFill>
                  <a:srgbClr val="1E293B"/>
                </a:solidFill>
                <a:latin typeface="微軟正黑體"/>
              </a:defRPr>
            </a:pPr>
            <a:r>
              <a:t>支撐帶 17.8～20.2 萬/坪。隸屬【五期重劃區】之百戶老牌集合住宅（102戶・屋齡32.5年）。115年受信用管制買氣急凍影響暫無純住揭露；最新純住成交為 114年11月 的 30.9 萬/坪（距高點 30.9 萬回檔 +0.0%*）。</a:t>
            </a:r>
            <a:br/>
            <a:r>
              <a:t>• 屋齡逾 30 年面臨全室水電翻修現金扣除效應與銀行房貸年限縮至 15～20 年限制，再住 15 年後邁入 50 年老宅更面臨流動性枯竭。</a:t>
            </a:r>
            <a:br/>
            <a:r>
              <a:t>• 計量模型測算：預估 116 年 28.3 萬 ➜ 117 年 26.1 萬 ➜ 118 年收斂至 24.9 萬/坪（三年累計 -19.4%），理性回測長期支撐帶（17.8～20.2 萬/坪）。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19353</Words>
  <Application>Microsoft Office PowerPoint</Application>
  <PresentationFormat>寬螢幕</PresentationFormat>
  <Paragraphs>1508</Paragraphs>
  <Slides>98</Slides>
  <Notes>0</Notes>
  <HiddenSlides>0</HiddenSlides>
  <MMClips>4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志偉 何</cp:lastModifiedBy>
  <cp:revision>2</cp:revision>
  <dcterms:created xsi:type="dcterms:W3CDTF">2013-01-27T09:14:16Z</dcterms:created>
  <dcterms:modified xsi:type="dcterms:W3CDTF">2026-10-31T06:52:47Z</dcterms:modified>
  <cp:category/>
</cp:coreProperties>
</file>