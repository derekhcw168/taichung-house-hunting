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D9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8C14"/>
                </a:solidFill>
                <a:latin typeface="微軟正黑體"/>
              </a:defRPr>
            </a:pPr>
            <a:r>
              <a:t>台中市南區 25 年以上老牌大型社區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  <a:latin typeface="微軟正黑體"/>
              </a:defRPr>
            </a:pPr>
            <a:r>
              <a:t>實價登錄趨勢與後續三年下跌預估分析報告</a:t>
            </a:r>
          </a:p>
          <a:p>
            <a:pPr>
              <a:spcBef>
                <a:spcPts val="1200"/>
              </a:spcBef>
              <a:defRPr sz="1300">
                <a:solidFill>
                  <a:srgbClr val="BED2F0"/>
                </a:solidFill>
                <a:latin typeface="微軟正黑體"/>
              </a:defRPr>
            </a:pPr>
            <a:r>
              <a:t>【大盤量縮 76.4% 轉折確立 ｜ 每年下修 7.5% 趨勢模型 ｜ 10 大指標社區深度剖析 ｜ 供需・產業・市場・金融四大成因全景解析】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162D55"/>
          </a:solidFill>
          <a:ln w="12700">
            <a:solidFill>
              <a:srgbClr val="284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微軟正黑體"/>
              </a:defRPr>
            </a:pPr>
            <a:r>
              <a:t>數據範疇：全南區 53 棟 25 年以上大型集合住宅社區（總計 21,417 戶、平均屋齡 31.0 年） ｜ 實登總計：10,896 筆 ｜ 分析日期：2026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執行摘要：南區老牌大社區房市大盤 4 大核心研判結論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C0392B"/>
                </a:solidFill>
                <a:latin typeface="微軟正黑體"/>
              </a:defRPr>
            </a:pPr>
            <a:r>
              <a:t>📉 大盤轉折確立・量縮 76.4%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全南區 53 棟老牌大案於 113 年衝上 26.9 萬/坪天花板後見頂，央行第七波信用管制後，115 年成交量自年均 738 件崩縮至 174 件（暴跌 76.4%），『量先價行』確立市場全面反轉。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D98C14"/>
                </a:solidFill>
                <a:latin typeface="微軟正黑體"/>
              </a:defRPr>
            </a:pPr>
            <a:r>
              <a:t>📉 未來三年每年下修 7.5%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建立理性軟著陸預估模型，以 115 年均價為基準按年跌 7.5% 階梯式修正：大盤中位數預估 116 年 22.8 萬 ➜ 117 年 21.1 萬 ➜ 118 年 19.5 萬，三年累計跌幅達 20.6%，回測歷史合理支撐帶。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2C5E8A"/>
                </a:solidFill>
                <a:latin typeface="微軟正黑體"/>
              </a:defRPr>
            </a:pPr>
            <a:r>
              <a:t>🏢 十大指標建案接連破底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長億城、工學天下、文心及第、京城特區等南區 10 大標竿社區全數高檔下挫！其中工學天下(19.6萬)、文心及第(18.9萬)、京城特區(18.6萬)最新成交已直接摜破 2 字頭，比價定錨效應確立。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27AE60"/>
                </a:solidFill>
                <a:latin typeface="微軟正黑體"/>
              </a:defRPr>
            </a:pPr>
            <a:r>
              <a:t>🎯 四大成因共振拉動下行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1E293B"/>
                </a:solidFill>
                <a:latin typeface="微軟正黑體"/>
              </a:defRPr>
            </a:pPr>
            <a:r>
              <a:t>【供需面】2.1萬戶庫存賣壓與新成屋交屋潮；【產業面】薪資所得停滯與老屋翻修成本暴增；【市場面】追價心理破滅與流動性枯竭；【金融面】央行重拳與 30/35 年老屋貸款年限腰斬。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大盤全景解構：南區 53 棟老牌大社區實登價量全圖與歷史週期剖析</a:t>
            </a:r>
          </a:p>
        </p:txBody>
      </p:sp>
      <p:pic>
        <p:nvPicPr>
          <p:cNvPr id="6" name="Picture 5" descr="00_台中市南區25年以上大型社區_大盤匯總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4872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544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📊 南區老牌社區大盤四大週期剖析</a:t>
            </a:r>
          </a:p>
          <a:p>
            <a:pPr>
              <a:spcBef>
                <a:spcPts val="800"/>
              </a:spcBef>
              <a:defRPr sz="1100" b="1">
                <a:solidFill>
                  <a:srgbClr val="2C5E8A"/>
                </a:solidFill>
                <a:latin typeface="微軟正黑體"/>
              </a:defRPr>
            </a:pPr>
            <a:r>
              <a:t>• 101～106年【早期溫和盤整期】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全區均價落在 11～14 萬/坪，成交量平穩扎實，老屋以低總價高性價比為主力客群。</a:t>
            </a:r>
          </a:p>
          <a:p>
            <a:pPr>
              <a:spcBef>
                <a:spcPts val="800"/>
              </a:spcBef>
              <a:defRPr sz="1100" b="1">
                <a:solidFill>
                  <a:srgbClr val="1B365D"/>
                </a:solidFill>
                <a:latin typeface="微軟正黑體"/>
              </a:defRPr>
            </a:pPr>
            <a:r>
              <a:t>• 107～112年【低利資金推升主升期】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受全球寬鬆熱錢與通膨預期帶動，單價突破 20 萬大關，全區年度成交突破 700 件高峰。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113～115年【見頂回落量縮急凍期】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 年見 26.9 萬歷史天花板，央行第七波信用管制後量縮逾 76%，115 年中位數下修至 24.6 萬。</a:t>
            </a:r>
          </a:p>
          <a:p>
            <a:pPr>
              <a:spcBef>
                <a:spcPts val="800"/>
              </a:spcBef>
              <a:defRPr sz="1100" b="1">
                <a:solidFill>
                  <a:srgbClr val="D98C14"/>
                </a:solidFill>
                <a:latin typeface="微軟正黑體"/>
              </a:defRPr>
            </a:pPr>
            <a:r>
              <a:t>• 116～118年【年跌7.5%溫和下行期】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預估每年按 -7.5% 階梯式修正，118 年下探 19.5 萬，回測歷史長期價值支撐帶（15.2～18.0萬）。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成因全景架構：促使老牌大型社區價格持續下修的四大驅動力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542032" cy="914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232257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🏗️ 整體供需面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軟正黑體"/>
              </a:defRPr>
            </a:pPr>
            <a:r>
              <a:t>龐大老屋存量與新成交夾殺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53 棟老案庫存逾 2.1 萬戶，轉冷後委售件數暴增</a:t>
            </a:r>
            <a:br/>
            <a:r>
              <a:t>• 周邊烏日高鐵、13期新成屋交屋潮強烈瓜分客源</a:t>
            </a:r>
            <a:br/>
            <a:r>
              <a:t>• 年輕首購族排斥老陳屋，自住買盤面臨世代斷層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371600"/>
            <a:ext cx="2542032" cy="91440"/>
          </a:xfrm>
          <a:prstGeom prst="rect">
            <a:avLst/>
          </a:prstGeom>
          <a:solidFill>
            <a:srgbClr val="2C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554480"/>
            <a:ext cx="232257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E8A"/>
                </a:solidFill>
                <a:latin typeface="微軟正黑體"/>
              </a:defRPr>
            </a:pPr>
            <a:r>
              <a:t>🏭 產業與經濟面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軟正黑體"/>
              </a:defRPr>
            </a:pPr>
            <a:r>
              <a:t>實質所得停滯與翻修成本暴增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非高薪科技聚落，受薪族薪資停滯無力追價</a:t>
            </a:r>
            <a:br/>
            <a:r>
              <a:t>• 室內翻修工料大漲 30~50%，翻新費反噬老屋殘值</a:t>
            </a:r>
            <a:br/>
            <a:r>
              <a:t>• 成熟商圈發展飽和，缺乏重磅新增建設支撐溢價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8C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542032" cy="91440"/>
          </a:xfrm>
          <a:prstGeom prst="rect">
            <a:avLst/>
          </a:prstGeom>
          <a:solidFill>
            <a:srgbClr val="D98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54480"/>
            <a:ext cx="232257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8C14"/>
                </a:solidFill>
                <a:latin typeface="微軟正黑體"/>
              </a:defRPr>
            </a:pPr>
            <a:r>
              <a:t>📉 市場與交易心理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軟正黑體"/>
              </a:defRPr>
            </a:pPr>
            <a:r>
              <a:t>量先價行與預期追價破滅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成交量暴跌 76.4%，流動性枯竭迫使賣方防線崩潰</a:t>
            </a:r>
            <a:br/>
            <a:r>
              <a:t>• 買方心理從『恐慌搶買』轉為『理性觀望等更跌』</a:t>
            </a:r>
            <a:br/>
            <a:r>
              <a:t>• 工學天下等指標社區摜破 2 字頭引發比價連鎖效應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542032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371600"/>
            <a:ext cx="2542032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554480"/>
            <a:ext cx="232257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🏦 金融與信用管制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微軟正黑體"/>
              </a:defRPr>
            </a:pPr>
            <a:r>
              <a:t>央行重拳與老屋貸款大門關閉</a:t>
            </a:r>
          </a:p>
          <a:p>
            <a:pPr>
              <a:lnSpc>
                <a:spcPct val="130000"/>
              </a:lnSpc>
              <a:spcBef>
                <a:spcPts val="1200"/>
              </a:spcBef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• 央行第七波管制砍房貸成數，第二戶限貸 5 成無寬限</a:t>
            </a:r>
            <a:br/>
            <a:r>
              <a:t>• 銀行法 72-2 滿水位警戒，房貸利率實質站上 3%</a:t>
            </a:r>
            <a:br/>
            <a:r>
              <a:t>• 30/35 年老屋貸款年限被砍至 20/15 年，月付金翻倍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深度成因剖析 1【整體供需面】：龐大老屋存量賣壓、新成屋交屋潮夾殺與買盤斷層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微軟正黑體"/>
              </a:defRPr>
            </a:pPr>
            <a:r>
              <a:t>1. 逾 2.1 萬戶老屋龐大存量，社區內部削價競爭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供給母體龐大：南區僅這 53 棟 25 年以上老牌大案，總戶數就高達 21,417 戶。像長億城、工學天下等案動輒三四百戶甚至六百戶以上。</a:t>
            </a:r>
            <a:br/>
            <a:r>
              <a:t>• 委售重疊競爭：房市降溫後，每棟社區平均在售物件由 2~3 戶激增至 6~12 戶。各房仲多品牌洗版聯賣，造成同社區屋主彼此搶客削價求現。</a:t>
            </a:r>
            <a:br/>
            <a:r>
              <a:t>• 去化時間劇增：平均委售去化天數由過去的 45 天大幅拉長至 180 天以上，中古供給嚴重過剩。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微軟正黑體"/>
              </a:defRPr>
            </a:pPr>
            <a:r>
              <a:t>2. 鄰近新興重劃區交屋潮分流，優質自住買盤被吸走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新重劃區夾殺：南區緊鄰烏日高鐵特區、13 期重劃區等新興熱區，近期迎來龐大預售完工交屋潮。</a:t>
            </a:r>
            <a:br/>
            <a:r>
              <a:t>• 產品代差顯著：新大樓採用最新 921 震後結構耐震法規、配備坡道平面車位、多功能接待會館與無障礙全平動線，大幅降低維護困擾。</a:t>
            </a:r>
            <a:br/>
            <a:r>
              <a:t>• 預算排擠效應：總價 1,000～1,400 萬區間，買方寧可選擇外圍新成屋 2 房或小 3 房，直接吸走老陳屋的潛在買客。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微軟正黑體"/>
              </a:defRPr>
            </a:pPr>
            <a:r>
              <a:t>3. 買方世代斷層與少子化，願意接盤中古陳屋者稀缺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青年首購偏好新小宅：新一代首購族對 30 年以上老舊管線、斑駁外觀與無車位抗拒感極強，幾乎不考慮中古老陳屋。</a:t>
            </a:r>
            <a:br/>
            <a:r>
              <a:t>• 接盤主力嚴重萎縮：目前願意承接 30 年老陳屋的買方，幾乎僅剩具備實際家庭成員居住需求的中年自住換屋客。</a:t>
            </a:r>
            <a:br/>
            <a:r>
              <a:t>• 買方結構失衡：買盤基底急遽縮小，形成『賣方急售、買方稀缺』的嚴重供過於求結構性失衡。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深度成因剖析 2【產業面與實體經濟】：薪資所得追價乏力與裝修工料暴增反噬殘值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5E8A"/>
                </a:solidFill>
                <a:latin typeface="微軟正黑體"/>
              </a:defRPr>
            </a:pPr>
            <a:r>
              <a:t>1. 實質薪資成長停滯，房貸負擔能力抵達天花板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缺乏高薪科技產業加持：南區非中科或南科科技產業聚落，居民多為傳統受薪階級、公教人員與傳產從業人員。</a:t>
            </a:r>
            <a:br/>
            <a:r>
              <a:t>• 可支配所得受通膨侵蝕：在日常物價、水電與生活成本高漲下，薪資實質增幅追不上房價前波漲幅。</a:t>
            </a:r>
            <a:br/>
            <a:r>
              <a:t>• 房貸所得比超過警戒：若以南區老屋均價 25 萬計算，3 房總價近千萬，房貸月負擔已超過家庭月收入 45% 警戒線，買盤完全無力追高。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5E8A"/>
                </a:solidFill>
                <a:latin typeface="微軟正黑體"/>
              </a:defRPr>
            </a:pPr>
            <a:r>
              <a:t>2. 缺工缺料引發裝修成本暴漲，直接扣抵老屋交易殘值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水電泥作大漲 30%～50%：近年室內裝修因缺工工資倍增與建材原料暴漲，翻修 30 年以上老屋動輒需 150～250 萬現金支出。</a:t>
            </a:r>
            <a:br/>
            <a:r>
              <a:t>• 現金自備門檻暴增：買方購置老屋後必須立即投入大筆現金翻修管線與衛浴，這筆開銷無法併入房貸融資。</a:t>
            </a:r>
            <a:br/>
            <a:r>
              <a:t>• 房價殘值被反向折抵：買方在談判時必然將 150～200 萬的裝潢翻修預算直接從購屋出價中扣抵，老屋本體價值被嚴重反噬！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5E8A"/>
                </a:solidFill>
                <a:latin typeface="微軟正黑體"/>
              </a:defRPr>
            </a:pPr>
            <a:r>
              <a:t>3. 成熟商圈缺乏新增大型重大題材，資本向外分流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商圈發展成熟飽和：工學商圈、興大商圈與復興商圈機能雖好，但都市更新困難、腹地有限，缺乏大型旗艦投資帶動。</a:t>
            </a:r>
            <a:br/>
            <a:r>
              <a:t>• 重磅產業外溢有限：台中近年重大產業發展集中於中科二期、水湳經貿與烏日高鐵娛樂城，南區缺乏新增大型就業題材。</a:t>
            </a:r>
            <a:br/>
            <a:r>
              <a:t>• 資本追逐新興軸線：投資置產資金全面流向具備高科技題材的新興軌道軸線，老牌社區淪為純防守型市場。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深度成因剖析 3【市場面與交易心理】：『量先價行』確立、追價破滅與破 2 字頭定錨效應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8C14"/>
                </a:solidFill>
                <a:latin typeface="微軟正黑體"/>
              </a:defRPr>
            </a:pPr>
            <a:r>
              <a:t>1. 『量先價行』鐵律顯現，成交量崩跌 76.4% 逼退賣方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流動性冰封：南區老牌大社區 115 年成交量暴跌 76.4%，全年僅剩 174 筆成交。歷史經驗顯示，量縮持續 6 個月以上價格必跌！</a:t>
            </a:r>
            <a:br/>
            <a:r>
              <a:t>• 零成交心理恐慌：許多社區連續 3~5 個月零成交，委託期限到期未售，使賣方原本堅持高價的心態開始動搖。</a:t>
            </a:r>
            <a:br/>
            <a:r>
              <a:t>• 急售屋主率先破防：部分面臨資金調度、換屋或資產重配之屋主，開始帶頭主動大降價，拉開全面降價序幕。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8C14"/>
                </a:solidFill>
                <a:latin typeface="微軟正黑體"/>
              </a:defRPr>
            </a:pPr>
            <a:r>
              <a:t>2. 買方心理逆轉：從『恐慌搶買』轉為『理性觀望等更跌』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追價動能徹底熄火：前兩年『現在不買以後更貴』的狂熱心理徹底破滅，市場預期轉向『晚買享折扣』。</a:t>
            </a:r>
            <a:br/>
            <a:r>
              <a:t>• 議價空間大幅拉大：買方看屋態度從過去的加價競奪，轉為開口先砍 15%~25%，堅決不追高。</a:t>
            </a:r>
            <a:br/>
            <a:r>
              <a:t>• 斡旋成交門檻提高：買方出價衡量自身財務極限，若賣方讓利幅度不足，買方轉頭即走、絕不戀棧。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8C14"/>
                </a:solidFill>
                <a:latin typeface="微軟正黑體"/>
              </a:defRPr>
            </a:pPr>
            <a:r>
              <a:t>3. 指標社區摜破 2 字頭，形成無可逆轉之比價定錨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骨牌式破底成交：工學天下最新殺到 19.6 萬、文心及第跌至 18.9 萬、京城特區更見 18.6 萬低點！</a:t>
            </a:r>
            <a:br/>
            <a:r>
              <a:t>• 2 字頭心理關卡失守：原本屋主死守的 23~26 萬防線被市場實登狠狠撕裂，市場定錨價格直接被壓制在 19~21 萬。</a:t>
            </a:r>
            <a:br/>
            <a:r>
              <a:t>• 鄰近社區比價殺跌：買方直接拿工學天下與文心及第的 1 字頭成交作為殺價範本，高開價社區完全喪失議價主導權。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深度成因剖析 4【金融面與信用管制】：央行重拳打擊、銀行滿水位與老屋貸款大限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  <a:latin typeface="微軟正黑體"/>
              </a:defRPr>
            </a:pPr>
            <a:r>
              <a:t>1. 央行第七波信用管制重拳，多屋與換屋資金鏈徹底斷裂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嚴打名下有房族群：名下有房者購置第一戶房貸取消寬限期；自然人第二戶限貸成數砍至 5 成且無寬限期。</a:t>
            </a:r>
            <a:br/>
            <a:r>
              <a:t>• 換屋買盤動能被掐死：原本想『先買後賣』的換屋族群因自備款成數暴增 3~4 成而被迫縮手觀望。</a:t>
            </a:r>
            <a:br/>
            <a:r>
              <a:t>• 投資置產客全面退場：短期置產槓桿資金被徹底清出場外，市場買盤僅剩預算極為有限的純自住剛需。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  <a:latin typeface="微軟正黑體"/>
              </a:defRPr>
            </a:pPr>
            <a:r>
              <a:t>2. 銀行法 72-2 滿水位限制，實質房貸利率站穩 3% 高檔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行庫排隊審核成常態：各大公民營銀行不動產放款逼近 30% 法定上限，普遍實施『限貸令』與以價制量策略。</a:t>
            </a:r>
            <a:br/>
            <a:r>
              <a:t>• 借款利率顯著攀升：首購實質利率自 1.8% 攀升至 2.5%~2.8%，非首購更直接站穩 3.0%~3.5% 之高檔。</a:t>
            </a:r>
            <a:br/>
            <a:r>
              <a:t>• 負擔能力大幅縮水：利息支出增加直接吃掉買方的月還款預算，相當於房屋可負擔總價被直接削去 10%~15%！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554480"/>
            <a:ext cx="305409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392B"/>
                </a:solidFill>
                <a:latin typeface="微軟正黑體"/>
              </a:defRPr>
            </a:pPr>
            <a:r>
              <a:t>3. 30年/35年老屋金融大關縮限：年限腰斬至 20 年或 15 年</a:t>
            </a:r>
          </a:p>
          <a:p>
            <a:pPr>
              <a:lnSpc>
                <a:spcPct val="130000"/>
              </a:lnSpc>
              <a:spcBef>
                <a:spcPts val="1000"/>
              </a:spcBef>
              <a:defRPr sz="1050">
                <a:solidFill>
                  <a:srgbClr val="1E293B"/>
                </a:solidFill>
                <a:latin typeface="微軟正黑體"/>
              </a:defRPr>
            </a:pPr>
            <a:r>
              <a:t>• 屋齡加年限嚴格受限：銀行內部審核遵守『屋齡＋貸款年限 ≤ 50 或 55』之內規，30 年以上老屋無法貸滿 30/40 年。</a:t>
            </a:r>
            <a:br/>
            <a:r>
              <a:t>• 月供負擔直接翻倍：貸款 700 萬若從 30 年縮短至 20 年，每月還款自 2.6 萬暴增至 3.7 萬元！</a:t>
            </a:r>
            <a:br/>
            <a:r>
              <a:t>• 封殺首購接盤意願：年輕自住客每月現金流無法負擔老屋的短年限高月繳，迫使老陳屋只能等待全現金或高自備款買方。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趨勢預估模型：後續三年（116～118年）每年下修 7.5% 測算邏輯與軟著陸演進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  <a:latin typeface="微軟正黑體"/>
              </a:defRPr>
            </a:pPr>
            <a:r>
              <a:t>📐 模型建構機制與測算公式</a:t>
            </a:r>
          </a:p>
          <a:p>
            <a:pPr>
              <a:spcBef>
                <a:spcPts val="800"/>
              </a:spcBef>
              <a:defRPr sz="1100" b="1">
                <a:solidFill>
                  <a:srgbClr val="2C5E8A"/>
                </a:solidFill>
                <a:latin typeface="微軟正黑體"/>
              </a:defRPr>
            </a:pPr>
            <a:r>
              <a:t>• 預估核心假設：</a:t>
            </a:r>
          </a:p>
          <a:p>
            <a:pPr>
              <a:lnSpc>
                <a:spcPct val="125000"/>
              </a:lnSpc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在央行信用管制不鬆綁、實質利率維持高檔與老屋貸款受限下，南區老牌社區價格呈現每年 -7.5% 的溫和階梯式下行回調。</a:t>
            </a:r>
          </a:p>
          <a:p>
            <a:pPr>
              <a:spcBef>
                <a:spcPts val="800"/>
              </a:spcBef>
              <a:defRPr sz="1100" b="1">
                <a:solidFill>
                  <a:srgbClr val="2C5E8A"/>
                </a:solidFill>
                <a:latin typeface="微軟正黑體"/>
              </a:defRPr>
            </a:pPr>
            <a:r>
              <a:t>• 數學演進公式：</a:t>
            </a:r>
          </a:p>
          <a:p>
            <a:pPr>
              <a:lnSpc>
                <a:spcPct val="125000"/>
              </a:lnSpc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第 t+1 年預估單價 P(t+1) = P(t) × (1 - 0.075) = P(t) × 0.925。</a:t>
            </a:r>
            <a:br/>
            <a:r>
              <a:t>三年累計折現率：(0.925)^3 = 0.7916（三年累計跌幅約 -20.6%～-20.8%）。</a:t>
            </a:r>
          </a:p>
          <a:p>
            <a:pPr>
              <a:spcBef>
                <a:spcPts val="800"/>
              </a:spcBef>
              <a:defRPr sz="1100" b="1">
                <a:solidFill>
                  <a:srgbClr val="2C5E8A"/>
                </a:solidFill>
                <a:latin typeface="微軟正黑體"/>
              </a:defRPr>
            </a:pPr>
            <a:r>
              <a:t>• 軟著陸而非崩盤：</a:t>
            </a:r>
          </a:p>
          <a:p>
            <a:pPr>
              <a:lnSpc>
                <a:spcPct val="125000"/>
              </a:lnSpc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年跌 7.5% 兼顧市場交易流動性與自住買盤承接力，避免了恐慌性拋售斷頭，屬於理性的資產去槓桿與均值回歸。</a:t>
            </a:r>
          </a:p>
          <a:p>
            <a:pPr>
              <a:spcBef>
                <a:spcPts val="800"/>
              </a:spcBef>
              <a:defRPr sz="1100" b="1">
                <a:solidFill>
                  <a:srgbClr val="2C5E8A"/>
                </a:solidFill>
                <a:latin typeface="微軟正黑體"/>
              </a:defRPr>
            </a:pPr>
            <a:r>
              <a:t>• 長期歷史支撐驗證：</a:t>
            </a:r>
          </a:p>
          <a:p>
            <a:pPr>
              <a:lnSpc>
                <a:spcPct val="125000"/>
              </a:lnSpc>
              <a:defRPr sz="1000">
                <a:solidFill>
                  <a:srgbClr val="1E293B"/>
                </a:solidFill>
                <a:latin typeface="微軟正黑體"/>
              </a:defRPr>
            </a:pPr>
            <a:r>
              <a:t>全南區 106～109 年長期中位數支撐帶為 15.2～18.0 萬/坪。三年下修 -20.6% 後，大盤價格（19.5萬）剛好平穩靠攏該支撐帶上緣！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📊 大盤後續三年每年下跌 7.5% 數據演進表</a:t>
            </a:r>
          </a:p>
          <a:p>
            <a:pPr>
              <a:spcBef>
                <a:spcPts val="800"/>
              </a:spcBef>
              <a:defRPr sz="1100" b="1">
                <a:solidFill>
                  <a:srgbClr val="1B365D"/>
                </a:solidFill>
                <a:latin typeface="微軟正黑體"/>
              </a:defRPr>
            </a:pPr>
            <a:r>
              <a:t>【115年 當前現況】 中位數：24.6 萬/坪  ｜  年度成交量急縮至 174 件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大盤衝破 26.9 萬天花板後第一階段回修，買氣急凍觀望。</a:t>
            </a:r>
          </a:p>
          <a:p>
            <a:pPr>
              <a:spcBef>
                <a:spcPts val="800"/>
              </a:spcBef>
              <a:defRPr sz="1100" b="1">
                <a:solidFill>
                  <a:srgbClr val="2C5E8A"/>
                </a:solidFill>
                <a:latin typeface="微軟正黑體"/>
              </a:defRPr>
            </a:pPr>
            <a:r>
              <a:t>【116年 預估 (-7.5%)】 中位數：22.8 萬/坪  ｜  累積跌幅：-7.5%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賣方防線開始鬆動，同社區多戶委售削價搶跑，單價下破 23 萬。</a:t>
            </a:r>
          </a:p>
          <a:p>
            <a:pPr>
              <a:spcBef>
                <a:spcPts val="800"/>
              </a:spcBef>
              <a:defRPr sz="1100" b="1">
                <a:solidFill>
                  <a:srgbClr val="D98C14"/>
                </a:solidFill>
                <a:latin typeface="微軟正黑體"/>
              </a:defRPr>
            </a:pPr>
            <a:r>
              <a:t>【117年 預估 (-7.5%)】 中位數：21.1 萬/坪  ｜  累積跌幅：-14.4%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 字頭保衛戰開打，更多指標建案見 1 字頭成交，買方掌握全面定價權。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【118年 預估 (-7.5%)】 中位數：19.5 萬/坪  ｜  累積跌幅：-20.6%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大盤中位數正式失守 2 字頭，回測歷史長期支撐區間（15.2～18.0萬）。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指標對照總表：南區 10 大指標老牌社區實登行情與後續三年 (-7.5%/年) 預估總覽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371600"/>
                <a:gridCol w="1280160"/>
                <a:gridCol w="1097280"/>
                <a:gridCol w="1005840"/>
                <a:gridCol w="1005840"/>
                <a:gridCol w="1005840"/>
                <a:gridCol w="1310335"/>
              </a:tblGrid>
              <a:tr h="382385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指標社區建案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總戶數/屋齡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歷史最高單價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115最新成交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115年均價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116預估(-7.5%)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117預估(-7.5%)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118預估(-7.5%)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微軟正黑體"/>
                        </a:defRPr>
                      </a:pPr>
                      <a:r>
                        <a:t>三年累積跌幅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長億城攬翠區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669戶 / 30.9年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29.5萬 (113年06月)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26.9萬 (115年06月)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23.2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21.5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19.9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18.4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工學天下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452戶 / 31.7年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29.0萬 (113年07月)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19.6萬 (115年06月)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20.7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19.1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17.7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16.4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龍邦綠園道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322戶 / 33.4年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28.5萬 (114年02月)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23.6萬 (115年08月)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21.3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19.7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18.2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16.9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文心高第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266戶 / 24.9年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34.5萬 (113年05月)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30.4萬 (115年07月)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28.5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26.4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24.4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22.6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大東家華園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227戶 / 31.2年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27.7萬 (113年03月)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20.3萬 (115年07月)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23.1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21.4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19.8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18.3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假日半島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219戶 / 32.4年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33.2萬 (113年10月)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24.8萬 (115年07月)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25.3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23.4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21.6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20.0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文心大地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207戶 / 27.4年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28.4萬 (113年07月)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24.1萬 (115年05月)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22.5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20.8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19.3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17.8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文心及第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259戶 / 27.3年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35.7萬 (113年06月)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18.9萬 (115年03月)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18.9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17.5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16.2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15.0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大安黃金城大廈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307戶 / 32.2年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34.3萬 (114年04月)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25.2萬 (115年06月)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23.7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21.9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20.3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18.8 萬/坪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-20.7%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京城特區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388戶 / 29.1年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25.9萬 (113年03月)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18.6萬 (115年05月)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20.9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19.3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17.9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293B"/>
                          </a:solidFill>
                          <a:latin typeface="微軟正黑體"/>
                        </a:defRPr>
                      </a:pPr>
                      <a:r>
                        <a:t>16.5 萬/坪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0392B"/>
                          </a:solidFill>
                          <a:latin typeface="微軟正黑體"/>
                        </a:defRPr>
                      </a:pPr>
                      <a:r>
                        <a:t>-21.1%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715000"/>
            <a:ext cx="10728655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392B"/>
                </a:solidFill>
                <a:latin typeface="微軟正黑體"/>
              </a:defRPr>
            </a:pPr>
            <a:r>
              <a:t>💡 數據洞察：十大指標案最新成交已有工學天下(19.6萬)、文心及第(18.9萬)、京城特區(18.6萬)跌破 2 字頭！按每年 7.5% 溫和下修模型，至 118 年除文心高第與假日半島外，其餘社區均價將全面回落至 15～18 萬歷史支撐區間。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1【長億城攬翠區】（669戶・屋齡30.9年）實登走勢與後續三年預估</a:t>
            </a:r>
          </a:p>
        </p:txBody>
      </p:sp>
      <p:pic>
        <p:nvPicPr>
          <p:cNvPr id="6" name="Picture 5" descr="03_長億城攬翠區陽光區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914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長億城攬翠區陽光區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29.5 萬/坪（113年06月 (8樓)）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26.9 萬/坪（115年06月 (10樓)）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26.3萬 -&gt; 115年 23.2萬 (-11.9%)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後續三年年跌 -7.5% 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21.5萬 (-7.5%)</a:t>
            </a:r>
            <a:br/>
            <a:r>
              <a:t>117年 19.9萬 (-7.5%)</a:t>
            </a:r>
            <a:br/>
            <a:r>
              <a:t>118年 18.4萬 (三年累計 -20.7%)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13.8～16.1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工學商圈龍頭大社區。實登在 113 年衝上 29.5 萬後反轉回檔，115 年均價下修至 23.2 萬。年跌 7.5% 預估下，117 年將跌破 2 字頭至 19.9 萬，118 年探至 18.4 萬。669 戶龐大存量賣壓與二手削價競爭劇烈。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2【工學天下】（452戶・屋齡31.7年）實登走勢與後續三年預估</a:t>
            </a:r>
          </a:p>
        </p:txBody>
      </p:sp>
      <p:pic>
        <p:nvPicPr>
          <p:cNvPr id="6" name="Picture 5" descr="07_工學天下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914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工學天下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29.0 萬/坪（113年07月 (9樓)）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19.6 萬/坪（115年06月 (7樓)）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24.7萬 -&gt; 115年 20.7萬 (-16.1%)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後續三年年跌 -7.5% 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19.1萬 (-7.5%)</a:t>
            </a:r>
            <a:br/>
            <a:r>
              <a:t>117年 17.7萬 (-7.5%)</a:t>
            </a:r>
            <a:br/>
            <a:r>
              <a:t>118年 16.4萬 (三年累計 -20.8%)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13.6～16.5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屋齡 31.7 年，與長億南園條件極為相近。113 年高點達 29.0 萬，115 年 6 月最新成交直接摜破 2 字頭暴跌至 19.6 萬！年跌 7.5% 預估 116 年下探 19.1 萬，118 年探至 16.4 萬。老屋限貸與缺乏無障礙設施使買盤縮手。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3【龍邦綠園道】（322戶・屋齡33.4年）實登走勢與後續三年預估</a:t>
            </a:r>
          </a:p>
        </p:txBody>
      </p:sp>
      <p:pic>
        <p:nvPicPr>
          <p:cNvPr id="6" name="Picture 5" descr="15_龍邦綠園道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663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龍邦綠園道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28.5 萬/坪（114年02月 (5樓)）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23.6 萬/坪（115年08月 (16樓)）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23.6萬 -&gt; 115年 21.3萬 (-9.5%)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後續三年年跌 -7.5% 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19.7萬 (-7.5%)</a:t>
            </a:r>
            <a:br/>
            <a:r>
              <a:t>117年 18.2萬 (-7.5%)</a:t>
            </a:r>
            <a:br/>
            <a:r>
              <a:t>118年 16.9萬 (三年累計 -20.7%)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13.8～16.8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南和路綠園道首排景觀名宅。114 年 28.5 萬高檔過後買盤急凍，115 年成交已降至 23.6 萬。年跌 7.5% 預估 116 年將跌入 1 字頭（19.7萬），118 年探至 16.9 萬。大盤下行期景觀溢價亦全面收斂。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4【文心高第】（266戶・屋齡24.9年）實登走勢與後續三年預估</a:t>
            </a:r>
          </a:p>
        </p:txBody>
      </p:sp>
      <p:pic>
        <p:nvPicPr>
          <p:cNvPr id="6" name="Picture 5" descr="26_文心高第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663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文心高第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34.5 萬/坪（113年05月 (12樓)）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30.4 萬/坪（115年07月 (2樓)）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31.3萬 -&gt; 115年 28.5萬 (-8.9%)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後續三年年跌 -7.5% 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26.4萬 (-7.5%)</a:t>
            </a:r>
            <a:br/>
            <a:r>
              <a:t>117年 24.4萬 (-7.5%)</a:t>
            </a:r>
            <a:br/>
            <a:r>
              <a:t>118年 22.6萬 (三年累計 -20.7%)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16.5～20.0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東興路高樓名廈，屋齡約 24.9 年。113 年突破 34 萬天花板後，115 年均價回跌至 28.5 萬。年跌 7.5% 預估 116 年回修至 26.4 萬，118 年下修至 22.6 萬。買方對 3 字頭老屋抗拒強烈，委售週期大幅拉長。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5【大東家華園】（227戶・屋齡31.2年）實登走勢與後續三年預估</a:t>
            </a:r>
          </a:p>
        </p:txBody>
      </p:sp>
      <p:pic>
        <p:nvPicPr>
          <p:cNvPr id="6" name="Picture 5" descr="35_大東家華園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914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大東家華園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27.7 萬/坪（113年03月 (4樓)）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20.3 萬/坪（115年07月 (3樓)）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24.5萬 -&gt; 115年 23.1萬 (-5.9%)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後續三年年跌 -7.5% 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21.4萬 (-7.5%)</a:t>
            </a:r>
            <a:br/>
            <a:r>
              <a:t>117年 19.8萬 (-7.5%)</a:t>
            </a:r>
            <a:br/>
            <a:r>
              <a:t>118年 18.3萬 (三年累計 -20.8%)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13.5～16.2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復興路與學府商圈老牌大樓。實登最新 115 年 7 月成交殺至 20.3 萬/坪逼近 1 字頭！年跌 7.5% 預估 117 年摜破 2 字頭至 19.8 萬，118 年跌至 18.3 萬。傳統市區老屋缺乏新題材，價格加速回測歷史支撐。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6【假日半島】（219戶・屋齡32.4年）實登走勢與後續三年預估</a:t>
            </a:r>
          </a:p>
        </p:txBody>
      </p:sp>
      <p:pic>
        <p:nvPicPr>
          <p:cNvPr id="6" name="Picture 5" descr="38_假日半島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914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假日半島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33.2 萬/坪（113年10月 (9樓)）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24.8 萬/坪（115年07月 (5樓)）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29.4萬 -&gt; 115年 25.3萬 (-14.0%)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後續三年年跌 -7.5% 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23.4萬 (-7.5%)</a:t>
            </a:r>
            <a:br/>
            <a:r>
              <a:t>117年 21.6萬 (-7.5%)</a:t>
            </a:r>
            <a:br/>
            <a:r>
              <a:t>118年 20.0萬 (三年累計 -20.9%)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14.0～17.0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復興路二段指名大樓。113 年底曾見 33.2 萬極值，但 115 年均價重挫 14.0% 至 25.3 萬，最新成交 24.8 萬。年跌 7.5% 預估 116 年下修至 23.4 萬，118 年跌至 20.0 萬保衛戰。成交量能萎縮逾八成。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7【文心大地】（207戶・屋齡27.4年）實登走勢與後續三年預估</a:t>
            </a:r>
          </a:p>
        </p:txBody>
      </p:sp>
      <p:pic>
        <p:nvPicPr>
          <p:cNvPr id="6" name="Picture 5" descr="41_文心大地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914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文心大地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28.4 萬/坪（113年07月 (12樓)）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24.1 萬/坪（115年05月 (10樓)）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26.4萬 -&gt; 115年 22.5萬 (-15.1%)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後續三年年跌 -7.5% 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20.8萬 (-7.5%)</a:t>
            </a:r>
            <a:br/>
            <a:r>
              <a:t>117年 19.3萬 (-7.5%)</a:t>
            </a:r>
            <a:br/>
            <a:r>
              <a:t>118年 17.8萬 (三年累計 -20.9%)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13.5～16.5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文心南路商圈指標建案。113 年均價 26.4 萬，115 年均價滑落至 22.5 萬，跌幅達 15.1%！年跌 7.5% 預估 117 年將跌破 2 字頭至 19.3 萬，118 年探至 17.8 萬。買方受信用管制壓抑，出價高度謹慎。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8【文心及第】（259戶・屋齡27.3年）實登走勢與後續三年預估</a:t>
            </a:r>
          </a:p>
        </p:txBody>
      </p:sp>
      <p:pic>
        <p:nvPicPr>
          <p:cNvPr id="6" name="Picture 5" descr="27_文心及第文心南路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914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文心及第(文心南路)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35.7 萬/坪（113年06月 (10樓)）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18.9 萬/坪（115年03月 (14樓)）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30.6萬 -&gt; 115年 18.9萬 (-38.2%)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後續三年年跌 -7.5% 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17.5萬 (-7.5%)</a:t>
            </a:r>
            <a:br/>
            <a:r>
              <a:t>117年 16.2萬 (-7.5%)</a:t>
            </a:r>
            <a:br/>
            <a:r>
              <a:t>118年 15.0萬 (三年累計 -20.6%)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14.0～17.5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全南區最震撼之破底案例！113 年 6 月創 35.7 萬天價，但 115 年 3 月 14 樓頂樓次高戶直接暴跌至 18.9 萬/坪成交，摜破 2 字頭！年跌 7.5% 預估 116 年 17.5 萬，118 年探至 15.0 萬歷史支撐底線。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9【大安黃金城大廈】（307戶・屋齡32.2年）實登走勢與後續三年預估</a:t>
            </a:r>
          </a:p>
        </p:txBody>
      </p:sp>
      <p:pic>
        <p:nvPicPr>
          <p:cNvPr id="6" name="Picture 5" descr="18_大安黃金城大廈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914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大安黃金城大廈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34.3 萬/坪（114年04月 (6樓)）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25.2 萬/坪（115年06月 (2樓)）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26.6萬 -&gt; 115年 23.7萬 (-11.1%)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後續三年年跌 -7.5% 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21.9萬 (-7.5%)</a:t>
            </a:r>
            <a:br/>
            <a:r>
              <a:t>117年 20.3萬 (-7.5%)</a:t>
            </a:r>
            <a:br/>
            <a:r>
              <a:t>118年 18.8萬 (三年累計 -20.7%)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13.0～15.8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興大生活圈大案。114 年短暫衝上 34.3 萬後熄火，115 年成交下挫至 25.2 萬，均價跌 11.1%。年跌 7.5% 預估 116 年 21.9 萬，118 年跌破 2 字頭至 18.8 萬。貸款成數受限與維修老化問題持續浮現。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社區行情實證 10【京城特區】（388戶・屋齡29.1年）實登走勢與後續三年預估</a:t>
            </a:r>
          </a:p>
        </p:txBody>
      </p:sp>
      <p:pic>
        <p:nvPicPr>
          <p:cNvPr id="6" name="Picture 5" descr="11_京城特區_成交行情走勢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5663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0876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微軟正黑體"/>
              </a:defRPr>
            </a:pPr>
            <a:r>
              <a:t>🏢 京城特區 實登關鍵指標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歷史最高成交紀錄：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25.9 萬/坪（113年03月 (18樓)）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D98C14"/>
                </a:solidFill>
                <a:latin typeface="微軟正黑體"/>
              </a:defRPr>
            </a:pPr>
            <a:r>
              <a:t>• 115 年最新實登成交：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18.6 萬/坪（115年05月 (3樓)）</a:t>
            </a:r>
          </a:p>
          <a:p>
            <a:pPr>
              <a:spcBef>
                <a:spcPts val="500"/>
              </a:spcBef>
              <a:defRPr sz="1050" b="1">
                <a:solidFill>
                  <a:srgbClr val="1B365D"/>
                </a:solidFill>
                <a:latin typeface="微軟正黑體"/>
              </a:defRPr>
            </a:pPr>
            <a:r>
              <a:t>• 純住宅年度均價走勢：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113年 22.4萬 -&gt; 115年 20.9萬 (-6.9%)</a:t>
            </a:r>
          </a:p>
          <a:p>
            <a:pPr>
              <a:spcBef>
                <a:spcPts val="500"/>
              </a:spcBef>
              <a:defRPr sz="1050" b="1">
                <a:solidFill>
                  <a:srgbClr val="C0392B"/>
                </a:solidFill>
                <a:latin typeface="微軟正黑體"/>
              </a:defRPr>
            </a:pPr>
            <a:r>
              <a:t>• 後續三年年跌 -7.5% 預估：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116年 19.3萬 (-7.5%)</a:t>
            </a:r>
            <a:br/>
            <a:r>
              <a:t>117年 17.9萬 (-7.5%)</a:t>
            </a:r>
            <a:br/>
            <a:r>
              <a:t>118年 16.5萬 (三年累計 -21.1%)</a:t>
            </a:r>
          </a:p>
          <a:p>
            <a:pPr>
              <a:spcBef>
                <a:spcPts val="500"/>
              </a:spcBef>
              <a:defRPr sz="1050" b="1">
                <a:solidFill>
                  <a:srgbClr val="27AE60"/>
                </a:solidFill>
                <a:latin typeface="微軟正黑體"/>
              </a:defRPr>
            </a:pPr>
            <a:r>
              <a:t>• 長期合理價值支撐帶：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13.2～16.0 萬/坪</a:t>
            </a:r>
          </a:p>
          <a:p>
            <a:pPr>
              <a:spcBef>
                <a:spcPts val="500"/>
              </a:spcBef>
              <a:defRPr sz="1050" b="1">
                <a:solidFill>
                  <a:srgbClr val="1E293B"/>
                </a:solidFill>
                <a:latin typeface="微軟正黑體"/>
              </a:defRPr>
            </a:pPr>
            <a:r>
              <a:t>• 走勢深度分析與成因：</a:t>
            </a:r>
          </a:p>
          <a:p>
            <a:pPr>
              <a:lnSpc>
                <a:spcPct val="120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興大學府路 388 戶大社區。113 年高點 25.9 萬，115 年 5 月最新成交直接殺至 18.6 萬見 1 字頭！年跌 7.5% 預估 116 年續探 19.3 萬，118 年探至 16.5 萬。戶數多且賣盤重疊，買氣急凍加速價格尋底。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5303520" cy="292608"/>
          </a:xfrm>
          <a:prstGeom prst="roundRect">
            <a:avLst/>
          </a:prstGeom>
          <a:solidFill>
            <a:srgbClr val="EAF2FA"/>
          </a:solidFill>
          <a:ln w="12700">
            <a:solidFill>
              <a:srgbClr val="2C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C5E8A"/>
                </a:solidFill>
                <a:latin typeface="微軟正黑體"/>
              </a:defRPr>
            </a:pPr>
            <a:r>
              <a:t>台中市南區 25 年以上老牌大社區・實價登錄趨勢與後續三年預估專題報告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B365D"/>
                </a:solidFill>
                <a:latin typeface="微軟正黑體"/>
              </a:defRPr>
            </a:pPr>
            <a:r>
              <a:t>戰略決策指引：老牌社區下行週期確立，買賣雙方的理性因應對策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0392B"/>
                </a:solidFill>
                <a:latin typeface="微軟正黑體"/>
              </a:defRPr>
            </a:pPr>
            <a:r>
              <a:t>🏷️ 給賣方（屋主）的實戰建言：及時讓利、現金落袋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不要成為替鄰居免費抬轎的犧牲品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同社區在售戶數普遍在 4～10 戶以上，市場只有極少數中年自住買方願意接手。誰先願意適度讓利，誰就能先把數百萬現金安全抱回家！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避免每年 7.5% 跌幅侵蝕多年獲利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按模型測算，越晚賣價格只會越低，若再拖兩年，以 40 坪物件計算相當於房屋總值憑空蒸發 150～200 萬元以上！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屋齡跨過 35 年將徹底喪失金融流動性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屋齡一年比一年老，銀行 30/40 年貸款大門徹底關閉，未來接盤者貸款受限，流動性枯竭將導致折價幅度更為劇烈。</a:t>
            </a:r>
          </a:p>
          <a:p>
            <a:pPr>
              <a:spcBef>
                <a:spcPts val="800"/>
              </a:spcBef>
              <a:defRPr sz="1100" b="1">
                <a:solidFill>
                  <a:srgbClr val="C0392B"/>
                </a:solidFill>
                <a:latin typeface="微軟正黑體"/>
              </a:defRPr>
            </a:pPr>
            <a:r>
              <a:t>• 把握目前高檔反轉初期的高利潤窗口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若多年前以 13～17 萬買入，目前即便在 20～22 萬成交依然大賺數百萬，此時落袋為安才是最大贏家。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7AE60"/>
                </a:solidFill>
                <a:latin typeface="微軟正黑體"/>
              </a:defRPr>
            </a:pPr>
            <a:r>
              <a:t>🎯 給買方（買家）的出價指引：理性定錨、嚴守防線</a:t>
            </a:r>
          </a:p>
          <a:p>
            <a:pPr>
              <a:spcBef>
                <a:spcPts val="800"/>
              </a:spcBef>
              <a:defRPr sz="1100" b="1">
                <a:solidFill>
                  <a:srgbClr val="27AE60"/>
                </a:solidFill>
                <a:latin typeface="微軟正黑體"/>
              </a:defRPr>
            </a:pPr>
            <a:r>
              <a:t>• 堅決以『實登最低價再低兩成』起手出價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實登行情已全線見頂反轉，出價應直接參照最新成交低點打 8 折（約 18～19 萬/坪），絕不替屋主過去兩年的狂熱買單。</a:t>
            </a:r>
          </a:p>
          <a:p>
            <a:pPr>
              <a:spcBef>
                <a:spcPts val="800"/>
              </a:spcBef>
              <a:defRPr sz="1100" b="1">
                <a:solidFill>
                  <a:srgbClr val="27AE60"/>
                </a:solidFill>
                <a:latin typeface="微軟正黑體"/>
              </a:defRPr>
            </a:pPr>
            <a:r>
              <a:t>• 將 150～200 萬裝修翻新費用預先扣除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30 年以上老屋水電管線與衛浴必須重新翻新，這筆不可融資的現金支出必須直接在出價總價中全額折減。</a:t>
            </a:r>
          </a:p>
          <a:p>
            <a:pPr>
              <a:spcBef>
                <a:spcPts val="800"/>
              </a:spcBef>
              <a:defRPr sz="1100" b="1">
                <a:solidFill>
                  <a:srgbClr val="27AE60"/>
                </a:solidFill>
                <a:latin typeface="微軟正黑體"/>
              </a:defRPr>
            </a:pPr>
            <a:r>
              <a:t>• 審慎檢視銀行貸款年限與自備款承受力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確認銀行是否能核貸 7 成以上以及年限是否受限（20年 vs 30年），斡旋單務必加註『房貸未滿七成無條件解約退斡』保護條款。</a:t>
            </a:r>
          </a:p>
          <a:p>
            <a:pPr>
              <a:spcBef>
                <a:spcPts val="800"/>
              </a:spcBef>
              <a:defRPr sz="1100" b="1">
                <a:solidFill>
                  <a:srgbClr val="27AE60"/>
                </a:solidFill>
                <a:latin typeface="微軟正黑體"/>
              </a:defRPr>
            </a:pPr>
            <a:r>
              <a:t>• 善用跨社區與跨生活圈競品替代談判</a:t>
            </a:r>
          </a:p>
          <a:p>
            <a:pPr>
              <a:lnSpc>
                <a:spcPct val="125000"/>
              </a:lnSpc>
              <a:defRPr sz="950">
                <a:solidFill>
                  <a:srgbClr val="1E293B"/>
                </a:solidFill>
                <a:latin typeface="微軟正黑體"/>
              </a:defRPr>
            </a:pPr>
            <a:r>
              <a:t>同時評估南屯（如大墩人文）或新重劃區新小宅，以隨時可轉向的客觀心態談判，牢牢掌握議價主導權！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