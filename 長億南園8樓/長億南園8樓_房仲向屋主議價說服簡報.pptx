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37160" cy="2926080"/>
          </a:xfrm>
          <a:prstGeom prst="rect">
            <a:avLst/>
          </a:prstGeom>
          <a:solidFill>
            <a:srgbClr val="D98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D98C14"/>
                </a:solidFill>
                <a:latin typeface="微軟正黑體"/>
              </a:defRPr>
            </a:pPr>
            <a:r>
              <a:t>長億南園 8 樓</a:t>
            </a:r>
          </a:p>
          <a:p>
            <a:pPr>
              <a:spcBef>
                <a:spcPts val="800"/>
              </a:spcBef>
              <a:defRPr sz="3200" b="1">
                <a:solidFill>
                  <a:srgbClr val="FFFFFF"/>
                </a:solidFill>
                <a:latin typeface="微軟正黑體"/>
              </a:defRPr>
            </a:pPr>
            <a:r>
              <a:t>房仲向屋主議價溝通說帖與大盤反轉專案簡報</a:t>
            </a:r>
          </a:p>
          <a:p>
            <a:pPr>
              <a:spcBef>
                <a:spcPts val="1200"/>
              </a:spcBef>
              <a:defRPr sz="1400">
                <a:solidFill>
                  <a:srgbClr val="BED2F0"/>
                </a:solidFill>
                <a:latin typeface="微軟正黑體"/>
              </a:defRPr>
            </a:pPr>
            <a:r>
              <a:t>【南區 10 大指標老牌社區實登全線反轉・量縮76%下行週期・實質4戶競售剖析・把握唯一自住買盤】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120640"/>
            <a:ext cx="10728655" cy="1005840"/>
          </a:xfrm>
          <a:prstGeom prst="roundRect">
            <a:avLst/>
          </a:prstGeom>
          <a:solidFill>
            <a:srgbClr val="162D55"/>
          </a:solidFill>
          <a:ln w="12700">
            <a:solidFill>
              <a:srgbClr val="284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  <a:latin typeface="微軟正黑體"/>
              </a:defRPr>
            </a:pPr>
            <a:r>
              <a:t>報告單位：永義房屋專案團隊  |  標的：長億南園 8 樓（德富路 390 號）  |  買方狀況：成熟中年家庭・純自住・已付 5 萬元斡旋現金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長億南園 8 樓・房仲議價說服專案報告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執行摘要：屋主當下面臨的 4 大關鍵決策局勢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C0392B"/>
                </a:solidFill>
                <a:latin typeface="微軟正黑體"/>
              </a:defRPr>
            </a:pPr>
            <a:r>
              <a:t>📉 大盤與南區 10 大社區全反轉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1E293B"/>
                </a:solidFill>
                <a:latin typeface="微軟正黑體"/>
              </a:defRPr>
            </a:pPr>
            <a:r>
              <a:t>第七波管制後南區老屋成交量暴跌 76.4%！長億城、工學天下、文心及第等 10 大社區全面見頂反轉，部分單價已暴跌破 2 字頭，越晚賣越難賣。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D98C14"/>
                </a:solidFill>
                <a:latin typeface="微軟正黑體"/>
              </a:defRPr>
            </a:pPr>
            <a:r>
              <a:t>🏢 社區實質 4 戶競售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01168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1E293B"/>
                </a:solidFill>
                <a:latin typeface="微軟正黑體"/>
              </a:defRPr>
            </a:pPr>
            <a:r>
              <a:t>591 上 23 筆刊登為房仲重複洗版，全社區實質僅 4 戶在賣！4 樓開 898 萬搶低總、3 樓巨露台平車大降 70 萬，同社區削價競爭激烈。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690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C5E8A"/>
                </a:solidFill>
                <a:latin typeface="微軟正黑體"/>
              </a:defRPr>
            </a:pPr>
            <a:r>
              <a:t>⚡ 南屯大墩人文強烈威脅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57200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1E293B"/>
                </a:solidFill>
                <a:latin typeface="微軟正黑體"/>
              </a:defRPr>
            </a:pPr>
            <a:r>
              <a:t>買方同時積極考慮信義房屋推薦之南屯『大墩人文』。南屯地段精華保值、近捷運與好市多，若本戶價格談不攏，買方將立即轉向大墩人文！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3192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0690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7AE60"/>
                </a:solidFill>
                <a:latin typeface="微軟正黑體"/>
              </a:defRPr>
            </a:pPr>
            <a:r>
              <a:t>🎯 把握稀缺中年自住買方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57200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1E293B"/>
                </a:solidFill>
                <a:latin typeface="微軟正黑體"/>
              </a:defRPr>
            </a:pPr>
            <a:r>
              <a:t>年輕人只買新小宅，願意買 34 年老屋的僅剩中年家庭。買方一家要自住，已備妥『5 萬元斡旋現金』，出價衡量自身財務極限，錯過難再遇到！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長億南園 8 樓・房仲議價說服專案報告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客觀實證 1：台中南區老牌大盤暴跌 76.4%，價格正式向下反轉</a:t>
            </a:r>
          </a:p>
        </p:txBody>
      </p:sp>
      <p:pic>
        <p:nvPicPr>
          <p:cNvPr id="6" name="Picture 5" descr="00_台中市南區25年以上大型社區_大盤匯總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48727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54480"/>
            <a:ext cx="35661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B365D"/>
                </a:solidFill>
                <a:latin typeface="微軟正黑體"/>
              </a:defRPr>
            </a:pPr>
            <a:r>
              <a:t>📊 全南區大盤關鍵數據</a:t>
            </a:r>
          </a:p>
          <a:p>
            <a:pPr>
              <a:spcBef>
                <a:spcPts val="800"/>
              </a:spcBef>
              <a:defRPr sz="1200" b="1">
                <a:solidFill>
                  <a:srgbClr val="C0392B"/>
                </a:solidFill>
                <a:latin typeface="微軟正黑體"/>
              </a:defRPr>
            </a:pPr>
            <a:r>
              <a:t>• 樣本覆蓋全面</a:t>
            </a:r>
          </a:p>
          <a:p>
            <a:pPr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全南區 53 棟 25 年以上大型社區、涵蓋 21,208 戶、累計 7,022 筆實登。</a:t>
            </a:r>
          </a:p>
          <a:p>
            <a:pPr>
              <a:spcBef>
                <a:spcPts val="800"/>
              </a:spcBef>
              <a:defRPr sz="1200" b="1">
                <a:solidFill>
                  <a:srgbClr val="C0392B"/>
                </a:solidFill>
                <a:latin typeface="微軟正黑體"/>
              </a:defRPr>
            </a:pPr>
            <a:r>
              <a:t>• 歷史見頂反轉</a:t>
            </a:r>
          </a:p>
          <a:p>
            <a:pPr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113 年大盤中位數衝上 26.9 萬/坪歷史極值，第七波信用管制後急速反轉下修至 24.6 萬/坪。</a:t>
            </a:r>
          </a:p>
          <a:p>
            <a:pPr>
              <a:spcBef>
                <a:spcPts val="800"/>
              </a:spcBef>
              <a:defRPr sz="1200" b="1">
                <a:solidFill>
                  <a:srgbClr val="C0392B"/>
                </a:solidFill>
                <a:latin typeface="微軟正黑體"/>
              </a:defRPr>
            </a:pPr>
            <a:r>
              <a:t>• 成交量雪崩 76.4%</a:t>
            </a:r>
          </a:p>
          <a:p>
            <a:pPr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年成交量自高峰 738 件崩縮至 115 年僅 174 件，市場動能徹底急凍！</a:t>
            </a:r>
          </a:p>
          <a:p>
            <a:pPr>
              <a:spcBef>
                <a:spcPts val="800"/>
              </a:spcBef>
              <a:defRPr sz="1200" b="1">
                <a:solidFill>
                  <a:srgbClr val="C0392B"/>
                </a:solidFill>
                <a:latin typeface="微軟正黑體"/>
              </a:defRPr>
            </a:pPr>
            <a:r>
              <a:t>• 『量先價行』鐵律</a:t>
            </a:r>
          </a:p>
          <a:p>
            <a:pPr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沒有成交量支撐，老屋價格只有緩跌修正一途，不可再心存追高幻想！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長億南園 8 樓・房仲議價說服專案報告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客觀實證 2：房市趨冷只會緩跌，房屋年齡越老越便宜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B365D"/>
                </a:solidFill>
                <a:latin typeface="微軟正黑體"/>
              </a:defRPr>
            </a:pPr>
            <a:r>
              <a:t>1. 房貸信用管制掐死買氣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100">
                <a:solidFill>
                  <a:srgbClr val="1E293B"/>
                </a:solidFill>
                <a:latin typeface="微軟正黑體"/>
              </a:defRPr>
            </a:pPr>
            <a:r>
              <a:t>• 央行第七波信用管制全面收緊房貸成數。</a:t>
            </a:r>
            <a:br/>
            <a:r>
              <a:t>• 銀行鑑價極度保守，滿水位狀況持續延燒。</a:t>
            </a:r>
            <a:br/>
            <a:r>
              <a:t>• 實質房貸利率站穩 2.5%～3.0%，買方負擔能力大幅縮水，只會持續觀望砍價。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55448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B365D"/>
                </a:solidFill>
                <a:latin typeface="微軟正黑體"/>
              </a:defRPr>
            </a:pPr>
            <a:r>
              <a:t>2. 35 年老屋金融大關縮限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100">
                <a:solidFill>
                  <a:srgbClr val="1E293B"/>
                </a:solidFill>
                <a:latin typeface="微軟正黑體"/>
              </a:defRPr>
            </a:pPr>
            <a:r>
              <a:t>• 長億南園已 34.7 年，跨越 35 年金融門檻。</a:t>
            </a:r>
            <a:br/>
            <a:r>
              <a:t>• 銀行內規『屋齡＋貸款年限』嚴格受限，無法貸滿 30/40 年長天期。</a:t>
            </a:r>
            <a:br/>
            <a:r>
              <a:t>• 買方每月還款本金加重，老屋接手門檻越來越高，未來只剩全現金買方。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55448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B365D"/>
                </a:solidFill>
                <a:latin typeface="微軟正黑體"/>
              </a:defRPr>
            </a:pPr>
            <a:r>
              <a:t>3. 未來三年價格逐年回測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100">
                <a:solidFill>
                  <a:srgbClr val="1E293B"/>
                </a:solidFill>
                <a:latin typeface="微軟正黑體"/>
              </a:defRPr>
            </a:pPr>
            <a:r>
              <a:t>• 根據南區大盤模型推估：</a:t>
            </a:r>
            <a:br/>
            <a:r>
              <a:t>  - 116 年下探：21.1 萬/坪</a:t>
            </a:r>
            <a:br/>
            <a:r>
              <a:t>  - 117 年下探：18.0 萬/坪</a:t>
            </a:r>
            <a:br/>
            <a:r>
              <a:t>  - 118 年回測歷史支撐：15.8 萬/坪</a:t>
            </a:r>
            <a:br/>
            <a:r>
              <a:t>• 趁目前 20 幾萬高檔反轉初期賣出，是資產最佳安全落袋窗口！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長億南園 8 樓・房仲議價說服專案報告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客觀實證 3：全南區 10 大指標老牌社區實價登錄全數反轉向下（鐵證總表）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72865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097280"/>
                <a:gridCol w="1645920"/>
                <a:gridCol w="1645920"/>
                <a:gridCol w="1554480"/>
                <a:gridCol w="1097280"/>
                <a:gridCol w="1767535"/>
              </a:tblGrid>
              <a:tr h="349134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指標社區建案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總戶數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歷史最高單價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115年最新成交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113➜115均價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跌幅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實登走勢反轉特徵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長億城攬翠區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669 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29.5 萬 (113/06)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26.9 萬 (115/06)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26.3 ➜ 23.2 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-11.9%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工學大案高點已過，量能大縮85%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工學天下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452 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29.0 萬 (113/07)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19.6 萬 (115/06)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24.7 ➜ 20.7 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-16.1%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最新單價暴跌，正式跌破 2 字頭！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龍邦綠園道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322 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28.5 萬 (114/02)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23.6 萬 (115/08)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23.6 ➜ 21.3 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-9.5%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綠園道知名名宅高檔回落、買盤縮手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文心高第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266 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34.5 萬 (113/05)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30.4 萬 (115/07)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31.3 ➜ 28.5 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東興路高樓名廈見頂反轉修正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大東家華園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227 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27.7 萬 (113/03)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20.3 萬 (115/07)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24.5 ➜ 23.1 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-5.9%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學府商圈最新成交逼近 1 字頭！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假日半島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219 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33.2 萬 (113/10)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24.8 萬 (115/07)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29.4 ➜ 25.3 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-14.0%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復興路指標大樓下修逾 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文心大地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207 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28.4 萬 (113/07)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24.1 萬 (115/05)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26.4 ➜ 22.5 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-15.1%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文心南路聚落量能雪崩、價格下挫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文心及第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259 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35.7 萬 (113/06)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18.9 萬 (115/03)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30.6 ➜ 18.9 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-38.2%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歷史極值暴跌，最新成交跌破 2 字頭！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大安黃金城大廈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307 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34.3 萬 (114/04)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25.2 萬 (115/06)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26.6 ➜ 23.7 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-11.1%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興大生活圈大案支撐瓦解、買氣急凍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491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京城特區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388 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25.9 萬 (113/03)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18.6 萬 (115/05)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22.4 ➜ 20.9 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C0392B"/>
                          </a:solidFill>
                          <a:latin typeface="微軟正黑體"/>
                        </a:defRPr>
                      </a:pPr>
                      <a:r>
                        <a:t>-6.9%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學府路大案連跌，最新跌至 18.6 萬！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5349240"/>
            <a:ext cx="10728655" cy="11430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440680"/>
            <a:ext cx="1036289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C0392B"/>
                </a:solidFill>
                <a:latin typeface="微軟正黑體"/>
              </a:defRPr>
            </a:pPr>
            <a:r>
              <a:t>🎯 房仲議價關鍵說服點：全南區老牌大社區無一倖免！高點已過，量縮價跌是整個大盤的系統性下修</a:t>
            </a: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  <a:latin typeface="微軟正黑體"/>
              </a:defRPr>
            </a:pPr>
            <a:r>
              <a:t>這 10 個比長億南園規模更大、知名度更高的老牌社區，全部在 113 年見頂後反轉向下！其中工學天下、京城特區、文心及第最新成交更已直接跌破 2 字頭！長億南園絕非個案，此時若不趁高檔反轉初期讓利成交，後續跌幅只會更深！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長億南園 8 樓・房仲議價說服專案報告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指標實證 1【工學商圈大案全面回檔】長億城・工學天下・京城特區</a:t>
            </a:r>
          </a:p>
        </p:txBody>
      </p:sp>
      <p:pic>
        <p:nvPicPr>
          <p:cNvPr id="6" name="Picture 5" descr="03_長億城攬翠區陽光區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3383280" cy="23594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3611880"/>
            <a:ext cx="338328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0332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B365D"/>
                </a:solidFill>
                <a:latin typeface="微軟正黑體"/>
              </a:defRPr>
            </a:pPr>
            <a:r>
              <a:t>長億城攬翠區（669戶・屋齡30.9年）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950">
                <a:solidFill>
                  <a:srgbClr val="1E293B"/>
                </a:solidFill>
                <a:latin typeface="微軟正黑體"/>
              </a:defRPr>
            </a:pPr>
            <a:r>
              <a:t>• 113年高點：29.5 萬/坪 (8樓)</a:t>
            </a:r>
            <a:br/>
            <a:r>
              <a:t>• 115年最新成交：26.9 萬/坪</a:t>
            </a:r>
            <a:br/>
            <a:r>
              <a:t>• 均價自 26.3 萬跌至 23.2 萬 (-11.9%)</a:t>
            </a:r>
            <a:br/>
            <a:r>
              <a:t>• 年成交量自高峰 63 件雪崩至 9 件！</a:t>
            </a:r>
            <a:br/>
            <a:r>
              <a:t>• 669 戶大社區委售競爭激烈，價格持續下探。</a:t>
            </a:r>
          </a:p>
        </p:txBody>
      </p:sp>
      <p:pic>
        <p:nvPicPr>
          <p:cNvPr id="9" name="Picture 8" descr="07_工學天下_成交行情走勢圖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371600"/>
            <a:ext cx="3383280" cy="235948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389120" y="3611880"/>
            <a:ext cx="338328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370332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B365D"/>
                </a:solidFill>
                <a:latin typeface="微軟正黑體"/>
              </a:defRPr>
            </a:pPr>
            <a:r>
              <a:t>工學天下（452戶・屋齡31.7年）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950">
                <a:solidFill>
                  <a:srgbClr val="1E293B"/>
                </a:solidFill>
                <a:latin typeface="微軟正黑體"/>
              </a:defRPr>
            </a:pPr>
            <a:r>
              <a:t>• 113年高點：29.0 萬/坪 (9樓)</a:t>
            </a:r>
            <a:br/>
            <a:r>
              <a:t>• 115年最新成交：19.6 萬/坪 (7樓)</a:t>
            </a:r>
            <a:br/>
            <a:r>
              <a:t>• 🔥 最新成交正式跌破 2 字頭！</a:t>
            </a:r>
            <a:br/>
            <a:r>
              <a:t>• 均價自 24.7 萬跌至 20.7 萬 (-16.1%)</a:t>
            </a:r>
            <a:br/>
            <a:r>
              <a:t>• 買盤對 30 年以上無障礙老屋縮手，殺價猛烈。</a:t>
            </a:r>
          </a:p>
        </p:txBody>
      </p:sp>
      <p:pic>
        <p:nvPicPr>
          <p:cNvPr id="12" name="Picture 11" descr="11_京城特區_成交行情走勢圖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371600"/>
            <a:ext cx="3383280" cy="2346617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046720" y="3611880"/>
            <a:ext cx="338328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370332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B365D"/>
                </a:solidFill>
                <a:latin typeface="微軟正黑體"/>
              </a:defRPr>
            </a:pPr>
            <a:r>
              <a:t>京城特區（388戶・屋齡29.1年）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950">
                <a:solidFill>
                  <a:srgbClr val="1E293B"/>
                </a:solidFill>
                <a:latin typeface="微軟正黑體"/>
              </a:defRPr>
            </a:pPr>
            <a:r>
              <a:t>• 113年高點：25.9 萬/坪 (18樓)</a:t>
            </a:r>
            <a:br/>
            <a:r>
              <a:t>• 115年最新成交：18.6 萬/坪 (3樓)</a:t>
            </a:r>
            <a:br/>
            <a:r>
              <a:t>• 🔥 跌破 2 字頭，單價見 18.6 萬低點！</a:t>
            </a:r>
            <a:br/>
            <a:r>
              <a:t>• 均價自 22.4 萬下修至 20.9 萬 (-6.9%)</a:t>
            </a:r>
            <a:br/>
            <a:r>
              <a:t>• 學府路核心生活圈老屋買氣急凍、去化極慢。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長億南園 8 樓・房仲議價說服專案報告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指標實證 2【復興與文心核心聚落反轉】文心高第・假日半島・文心及第</a:t>
            </a:r>
          </a:p>
        </p:txBody>
      </p:sp>
      <p:pic>
        <p:nvPicPr>
          <p:cNvPr id="6" name="Picture 5" descr="27_文心及第文心南路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3383280" cy="23594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3611880"/>
            <a:ext cx="338328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0332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B365D"/>
                </a:solidFill>
                <a:latin typeface="微軟正黑體"/>
              </a:defRPr>
            </a:pPr>
            <a:r>
              <a:t>文心及第（259戶・屋齡27.3年）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950">
                <a:solidFill>
                  <a:srgbClr val="1E293B"/>
                </a:solidFill>
                <a:latin typeface="微軟正黑體"/>
              </a:defRPr>
            </a:pPr>
            <a:r>
              <a:t>• 113年高點：35.7 萬/坪 (10樓)</a:t>
            </a:r>
            <a:br/>
            <a:r>
              <a:t>• 115年最新成交：18.9 萬/坪 (14樓)</a:t>
            </a:r>
            <a:br/>
            <a:r>
              <a:t>• 🔥 高點暴跌 38.2%，高樓層亦破 2 字頭！</a:t>
            </a:r>
            <a:br/>
            <a:r>
              <a:t>• 均價自 30.6 萬腰斬至 18.9 萬</a:t>
            </a:r>
            <a:br/>
            <a:r>
              <a:t>• 文心南路捷運生活圈老屋面臨買盤嚴苛砍價。</a:t>
            </a:r>
          </a:p>
        </p:txBody>
      </p:sp>
      <p:pic>
        <p:nvPicPr>
          <p:cNvPr id="9" name="Picture 8" descr="38_假日半島_成交行情走勢圖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371600"/>
            <a:ext cx="3383280" cy="235948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389120" y="3611880"/>
            <a:ext cx="338328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370332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B365D"/>
                </a:solidFill>
                <a:latin typeface="微軟正黑體"/>
              </a:defRPr>
            </a:pPr>
            <a:r>
              <a:t>假日半島（219戶・屋齡32.4年）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950">
                <a:solidFill>
                  <a:srgbClr val="1E293B"/>
                </a:solidFill>
                <a:latin typeface="微軟正黑體"/>
              </a:defRPr>
            </a:pPr>
            <a:r>
              <a:t>• 113年高點：33.2 萬/坪 (9樓)</a:t>
            </a:r>
            <a:br/>
            <a:r>
              <a:t>• 115年最新成交：24.8 萬/坪 (5樓)</a:t>
            </a:r>
            <a:br/>
            <a:r>
              <a:t>• 均價自 29.4 萬跌至 25.3 萬 (-14.0%)</a:t>
            </a:r>
            <a:br/>
            <a:r>
              <a:t>• 復興路二段名宅高檔震盪下修</a:t>
            </a:r>
            <a:br/>
            <a:r>
              <a:t>• 交易量能萎縮逾八成，買方出價保守謹慎。</a:t>
            </a:r>
          </a:p>
        </p:txBody>
      </p:sp>
      <p:pic>
        <p:nvPicPr>
          <p:cNvPr id="12" name="Picture 11" descr="26_文心高第_成交行情走勢圖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371600"/>
            <a:ext cx="3383280" cy="2346617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046720" y="3611880"/>
            <a:ext cx="338328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370332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B365D"/>
                </a:solidFill>
                <a:latin typeface="微軟正黑體"/>
              </a:defRPr>
            </a:pPr>
            <a:r>
              <a:t>文心高第（266戶・屋齡24.9年）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950">
                <a:solidFill>
                  <a:srgbClr val="1E293B"/>
                </a:solidFill>
                <a:latin typeface="微軟正黑體"/>
              </a:defRPr>
            </a:pPr>
            <a:r>
              <a:t>• 113年高點：34.5 萬/坪 (12樓)</a:t>
            </a:r>
            <a:br/>
            <a:r>
              <a:t>• 115年最新成交：30.4 萬/坪 (2樓)</a:t>
            </a:r>
            <a:br/>
            <a:r>
              <a:t>• 均價自 31.3 萬下修至 28.5 萬 (-8.9%)</a:t>
            </a:r>
            <a:br/>
            <a:r>
              <a:t>• 東興路指標建案高檔反轉</a:t>
            </a:r>
            <a:br/>
            <a:r>
              <a:t>• 買盤難耐高總價，委售時間由 2 個月拉長至半年以上。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長億南園 8 樓・房仲議價說服專案報告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指標實證 3【園道與大安聚落破底】龍邦綠園道・大東家華園・文心大地・大安黃金城</a:t>
            </a:r>
          </a:p>
        </p:txBody>
      </p:sp>
      <p:pic>
        <p:nvPicPr>
          <p:cNvPr id="6" name="Picture 5" descr="15_龍邦綠園道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2542032" cy="176313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3154680"/>
            <a:ext cx="2542032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246120"/>
            <a:ext cx="23591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B365D"/>
                </a:solidFill>
                <a:latin typeface="微軟正黑體"/>
              </a:defRPr>
            </a:pPr>
            <a:r>
              <a:t>龍邦綠園道（322戶）</a:t>
            </a:r>
          </a:p>
          <a:p>
            <a:pPr>
              <a:lnSpc>
                <a:spcPct val="115000"/>
              </a:lnSpc>
              <a:spcBef>
                <a:spcPts val="300"/>
              </a:spcBef>
              <a:defRPr sz="900">
                <a:solidFill>
                  <a:srgbClr val="1E293B"/>
                </a:solidFill>
                <a:latin typeface="微軟正黑體"/>
              </a:defRPr>
            </a:pPr>
            <a:r>
              <a:t>• 高點：28.5 萬 (114年)</a:t>
            </a:r>
            <a:br/>
            <a:r>
              <a:t>• 最新：23.6 萬 (115/08)</a:t>
            </a:r>
            <a:br/>
            <a:r>
              <a:t>• 均價：23.6 ➜ 21.3 萬</a:t>
            </a:r>
            <a:br/>
            <a:r>
              <a:t>• 園道首排支撐鬆動，價格下修 -9.5%。</a:t>
            </a:r>
          </a:p>
        </p:txBody>
      </p:sp>
      <p:pic>
        <p:nvPicPr>
          <p:cNvPr id="9" name="Picture 8" descr="35_大東家華園_成交行情走勢圖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432" y="1371600"/>
            <a:ext cx="2542032" cy="177280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456432" y="3154680"/>
            <a:ext cx="2542032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7872" y="3246120"/>
            <a:ext cx="23591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B365D"/>
                </a:solidFill>
                <a:latin typeface="微軟正黑體"/>
              </a:defRPr>
            </a:pPr>
            <a:r>
              <a:t>大東家華園（227戶）</a:t>
            </a:r>
          </a:p>
          <a:p>
            <a:pPr>
              <a:lnSpc>
                <a:spcPct val="115000"/>
              </a:lnSpc>
              <a:spcBef>
                <a:spcPts val="300"/>
              </a:spcBef>
              <a:defRPr sz="900">
                <a:solidFill>
                  <a:srgbClr val="1E293B"/>
                </a:solidFill>
                <a:latin typeface="微軟正黑體"/>
              </a:defRPr>
            </a:pPr>
            <a:r>
              <a:t>• 高點：27.7 萬 (113年)</a:t>
            </a:r>
            <a:br/>
            <a:r>
              <a:t>• 最新：20.3 萬 (115/07)</a:t>
            </a:r>
            <a:br/>
            <a:r>
              <a:t>• 🔥 最新成交逼近 1 字頭！</a:t>
            </a:r>
            <a:br/>
            <a:r>
              <a:t>• 均價：24.5 ➜ 23.1 萬</a:t>
            </a:r>
            <a:br/>
            <a:r>
              <a:t>• 復興學府生活圈老屋買盤大退潮。</a:t>
            </a:r>
          </a:p>
        </p:txBody>
      </p:sp>
      <p:pic>
        <p:nvPicPr>
          <p:cNvPr id="12" name="Picture 11" descr="41_文心大地_成交行情走勢圖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1344" y="1371600"/>
            <a:ext cx="2542032" cy="17728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181344" y="3154680"/>
            <a:ext cx="2542032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3246120"/>
            <a:ext cx="23591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B365D"/>
                </a:solidFill>
                <a:latin typeface="微軟正黑體"/>
              </a:defRPr>
            </a:pPr>
            <a:r>
              <a:t>文心大地（207戶）</a:t>
            </a:r>
          </a:p>
          <a:p>
            <a:pPr>
              <a:lnSpc>
                <a:spcPct val="115000"/>
              </a:lnSpc>
              <a:spcBef>
                <a:spcPts val="300"/>
              </a:spcBef>
              <a:defRPr sz="900">
                <a:solidFill>
                  <a:srgbClr val="1E293B"/>
                </a:solidFill>
                <a:latin typeface="微軟正黑體"/>
              </a:defRPr>
            </a:pPr>
            <a:r>
              <a:t>• 高點：28.4 萬 (113年)</a:t>
            </a:r>
            <a:br/>
            <a:r>
              <a:t>• 最新：24.1 萬 (115/05)</a:t>
            </a:r>
            <a:br/>
            <a:r>
              <a:t>• 均價：26.4 ➜ 22.5 萬</a:t>
            </a:r>
            <a:br/>
            <a:r>
              <a:t>• 均價下修 -15.1%，量能急凍、多案滯銷。</a:t>
            </a:r>
          </a:p>
        </p:txBody>
      </p:sp>
      <p:pic>
        <p:nvPicPr>
          <p:cNvPr id="15" name="Picture 14" descr="18_大安黃金城大廈_成交行情走勢圖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6256" y="1371600"/>
            <a:ext cx="2542032" cy="1772802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906256" y="3154680"/>
            <a:ext cx="2542032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97696" y="3246120"/>
            <a:ext cx="23591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B365D"/>
                </a:solidFill>
                <a:latin typeface="微軟正黑體"/>
              </a:defRPr>
            </a:pPr>
            <a:r>
              <a:t>大安黃金城（307戶）</a:t>
            </a:r>
          </a:p>
          <a:p>
            <a:pPr>
              <a:lnSpc>
                <a:spcPct val="115000"/>
              </a:lnSpc>
              <a:spcBef>
                <a:spcPts val="300"/>
              </a:spcBef>
              <a:defRPr sz="900">
                <a:solidFill>
                  <a:srgbClr val="1E293B"/>
                </a:solidFill>
                <a:latin typeface="微軟正黑體"/>
              </a:defRPr>
            </a:pPr>
            <a:r>
              <a:t>• 高點：34.3 萬 (114年)</a:t>
            </a:r>
            <a:br/>
            <a:r>
              <a:t>• 最新：25.2 萬 (115/06)</a:t>
            </a:r>
            <a:br/>
            <a:r>
              <a:t>• 均價：26.6 ➜ 23.7 萬</a:t>
            </a:r>
            <a:br/>
            <a:r>
              <a:t>• 均價下修 -11.1%，中興大學生活圈買盤縮手。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長億南園 8 樓・房仲議價說服專案報告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社區行情定錨：長億南園最新成交已跌至 21.4 萬/坪</a:t>
            </a:r>
          </a:p>
        </p:txBody>
      </p:sp>
      <p:pic>
        <p:nvPicPr>
          <p:cNvPr id="6" name="Picture 5" descr="28_長億南園_成交行情走勢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45914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371600"/>
            <a:ext cx="39319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554480"/>
            <a:ext cx="35661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B365D"/>
                </a:solidFill>
                <a:latin typeface="微軟正黑體"/>
              </a:defRPr>
            </a:pPr>
            <a:r>
              <a:t>🏢 長億南園最新實登實證</a:t>
            </a:r>
          </a:p>
          <a:p>
            <a:pPr>
              <a:spcBef>
                <a:spcPts val="800"/>
              </a:spcBef>
              <a:defRPr sz="1200" b="1">
                <a:solidFill>
                  <a:srgbClr val="C0392B"/>
                </a:solidFill>
                <a:latin typeface="微軟正黑體"/>
              </a:defRPr>
            </a:pPr>
            <a:r>
              <a:t>• 115 年 9 月最新成交定錨</a:t>
            </a:r>
          </a:p>
          <a:p>
            <a:pPr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同社區德富路 4 樓，含車位總價僅 825 萬，拆算單價已跌回 21.4 萬/坪（含車均攤僅 22.1 萬）。</a:t>
            </a:r>
          </a:p>
          <a:p>
            <a:pPr>
              <a:spcBef>
                <a:spcPts val="800"/>
              </a:spcBef>
              <a:defRPr sz="1200" b="1">
                <a:solidFill>
                  <a:srgbClr val="C0392B"/>
                </a:solidFill>
                <a:latin typeface="微軟正黑體"/>
              </a:defRPr>
            </a:pPr>
            <a:r>
              <a:t>• 115 年 4 月成交低點</a:t>
            </a:r>
          </a:p>
          <a:p>
            <a:pPr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同社區 9 樓總價更僅 782 萬，買方出價信心大增。</a:t>
            </a:r>
          </a:p>
          <a:p>
            <a:pPr>
              <a:spcBef>
                <a:spcPts val="800"/>
              </a:spcBef>
              <a:defRPr sz="1200" b="1">
                <a:solidFill>
                  <a:srgbClr val="C0392B"/>
                </a:solidFill>
                <a:latin typeface="微軟正黑體"/>
              </a:defRPr>
            </a:pPr>
            <a:r>
              <a:t>• 實價登錄更見 20.6 萬紀錄</a:t>
            </a:r>
          </a:p>
          <a:p>
            <a:pPr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同社區 12 樓曾出現單價 20.6 萬/坪成交紀錄，打破屋主 23 萬以上開價幻想。</a:t>
            </a:r>
          </a:p>
          <a:p>
            <a:pPr>
              <a:spcBef>
                <a:spcPts val="800"/>
              </a:spcBef>
              <a:defRPr sz="1200" b="1">
                <a:solidFill>
                  <a:srgbClr val="C0392B"/>
                </a:solidFill>
                <a:latin typeface="微軟正黑體"/>
              </a:defRPr>
            </a:pPr>
            <a:r>
              <a:t>• 歷史長期均價 13～17 萬</a:t>
            </a:r>
          </a:p>
          <a:p>
            <a:pPr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105～110 年長達六年合理區間為 13～17 萬/坪。前兩年極端高點已過，買方態度堅定理性，絕不追高！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長億南園 8 樓・房仲議價說服專案報告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社區競爭真相：591 帳面 23 筆為房仲洗版，實質『4 戶』激烈競售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2011680"/>
                <a:gridCol w="2286000"/>
                <a:gridCol w="2773375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戶別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坪數與格局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目前開價 / 單價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房仲刊登狀況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市場競爭威脅評估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【本案】8 樓大三房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42.23 坪 (室內 32 坪)</a:t>
                      </a:r>
                      <a:br/>
                      <a:r>
                        <a:t>3房2廳2衛+機上車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998 萬</a:t>
                      </a:r>
                      <a:br/>
                      <a:r>
                        <a:t>(23.6 萬/坪)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9 家房仲重複聯賣洗版！</a:t>
                      </a:r>
                      <a:br/>
                      <a:r>
                        <a:t>歷經三次降價求售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同社區主力競品，屋主急售心態外溢，開價已被定錨於 998 萬。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10 樓高樓三房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35.61 坪 (室內 27 坪)</a:t>
                      </a:r>
                      <a:br/>
                      <a:r>
                        <a:t>3房2廳2衛+機上車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958 萬</a:t>
                      </a:r>
                      <a:br/>
                      <a:r>
                        <a:t>(26.9 萬/坪)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9 家房仲重複聯賣洗版！</a:t>
                      </a:r>
                      <a:br/>
                      <a:r>
                        <a:t>主打免千萬高樓三房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總價比 8 樓便宜 40 萬，同樣 9 家房仲全力推銷，強烈瓜分看屋客。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4 樓大三房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37.29 坪 (室內 28 坪)</a:t>
                      </a:r>
                      <a:br/>
                      <a:r>
                        <a:t>3房2廳2衛+休旅車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898 萬</a:t>
                      </a:r>
                      <a:br/>
                      <a:r>
                        <a:t>(24.1 萬/坪)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中信房屋承辦刊登</a:t>
                      </a:r>
                      <a:br/>
                      <a:r>
                        <a:t>社區最低總價門檻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開價直接殺入 800 多萬，買方第一眼首選，吸走大部分首購自住客。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 樓巨露台平車戶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66.28 坪 (含露台31坪)</a:t>
                      </a:r>
                      <a:br/>
                      <a:r>
                        <a:t>3房2廳2衛+坡道平車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1,258 萬</a:t>
                      </a:r>
                      <a:br/>
                      <a:r>
                        <a:t>(18.9 萬/坪)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3 家房仲刊登</a:t>
                      </a:r>
                      <a:br/>
                      <a:r>
                        <a:t>近期主動降價 70 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微軟正黑體"/>
                        </a:defRPr>
                      </a:pPr>
                      <a:r>
                        <a:t>社區極罕見平面車位＋31坪大露台，單價殺至 18.9 萬，讓利誠意十足。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303520"/>
            <a:ext cx="1072865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0392B"/>
                </a:solidFill>
                <a:latin typeface="微軟正黑體"/>
              </a:defRPr>
            </a:pPr>
            <a:r>
              <a:t>💡 房仲致屋主建言：這 4 戶在同一個社區搶同一組買方。『誰願意先合理讓利，誰就能先把數百萬現金抱回家！』若我們堅持 998 萬不放，只會淪為幫 4 樓與 10 樓免費抬轎！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長億南園 8 樓・房仲議價說服專案報告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外部競爭威脅：買方同時評估南屯『大墩人文』，隨時轉向！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1208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365D"/>
                </a:solidFill>
                <a:latin typeface="微軟正黑體"/>
              </a:defRPr>
            </a:pPr>
            <a:r>
              <a:t>📍 南屯區「大墩人文」極致優勢</a:t>
            </a:r>
          </a:p>
          <a:p>
            <a:pPr>
              <a:spcBef>
                <a:spcPts val="800"/>
              </a:spcBef>
              <a:defRPr sz="1200" b="1">
                <a:solidFill>
                  <a:srgbClr val="27AE60"/>
                </a:solidFill>
                <a:latin typeface="微軟正黑體"/>
              </a:defRPr>
            </a:pPr>
            <a:r>
              <a:t>✔ 門牌價值碾壓南區</a:t>
            </a:r>
          </a:p>
          <a:p>
            <a:pPr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大墩路精華生活圈，近好市多、迪卡儂、豐樂雕塑公園，地段抗跌保值性遠高於南區。</a:t>
            </a:r>
          </a:p>
          <a:p>
            <a:pPr>
              <a:spcBef>
                <a:spcPts val="800"/>
              </a:spcBef>
              <a:defRPr sz="1200" b="1">
                <a:solidFill>
                  <a:srgbClr val="27AE60"/>
                </a:solidFill>
                <a:latin typeface="微軟正黑體"/>
              </a:defRPr>
            </a:pPr>
            <a:r>
              <a:t>✔ 捷運綠線正核心</a:t>
            </a:r>
          </a:p>
          <a:p>
            <a:pPr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步行 8 分鐘直達捷運南屯站與南屯市場，交通與商圈機能完勝德富路。</a:t>
            </a:r>
          </a:p>
          <a:p>
            <a:pPr>
              <a:spcBef>
                <a:spcPts val="800"/>
              </a:spcBef>
              <a:defRPr sz="1200" b="1">
                <a:solidFill>
                  <a:srgbClr val="27AE60"/>
                </a:solidFill>
                <a:latin typeface="微軟正黑體"/>
              </a:defRPr>
            </a:pPr>
            <a:r>
              <a:t>✔ 社區規模精緻單純</a:t>
            </a:r>
          </a:p>
          <a:p>
            <a:pPr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大墩人文僅 75 戶，出入單純管理極佳，公基金充沛，未來轉手性強。</a:t>
            </a:r>
          </a:p>
          <a:p>
            <a:pPr>
              <a:spcBef>
                <a:spcPts val="800"/>
              </a:spcBef>
              <a:defRPr sz="1200" b="1">
                <a:solidFill>
                  <a:srgbClr val="27AE60"/>
                </a:solidFill>
                <a:latin typeface="微軟正黑體"/>
              </a:defRPr>
            </a:pPr>
            <a:r>
              <a:t>✔ 信義房屋專案極力促成</a:t>
            </a:r>
          </a:p>
          <a:p>
            <a:pPr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信義房屋業務正在積極拉買方下斡旋大墩人文，買方這週末即將做最後決定！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5029200"/>
          </a:xfrm>
          <a:prstGeom prst="roundRect">
            <a:avLst/>
          </a:prstGeom>
          <a:solidFill>
            <a:srgbClr val="FEF9E7"/>
          </a:solidFill>
          <a:ln w="12700">
            <a:solidFill>
              <a:srgbClr val="D98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C0392B"/>
                </a:solidFill>
                <a:latin typeface="微軟正黑體"/>
              </a:defRPr>
            </a:pPr>
            <a:r>
              <a:t>⚠️ 長億南園必須面對的現實劣勢</a:t>
            </a:r>
          </a:p>
          <a:p>
            <a:pPr>
              <a:spcBef>
                <a:spcPts val="800"/>
              </a:spcBef>
              <a:defRPr sz="1200" b="1">
                <a:solidFill>
                  <a:srgbClr val="C0392B"/>
                </a:solidFill>
                <a:latin typeface="微軟正黑體"/>
              </a:defRPr>
            </a:pPr>
            <a:r>
              <a:t>✘ 無障礙硬傷</a:t>
            </a:r>
          </a:p>
          <a:p>
            <a:pPr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進電梯前有 4～5 階樓梯，推嬰兒車或長輩輪椅極不便，年輕與長輩買方第一眼扣分。</a:t>
            </a:r>
          </a:p>
          <a:p>
            <a:pPr>
              <a:spcBef>
                <a:spcPts val="800"/>
              </a:spcBef>
              <a:defRPr sz="1200" b="1">
                <a:solidFill>
                  <a:srgbClr val="C0392B"/>
                </a:solidFill>
                <a:latin typeface="微軟正黑體"/>
              </a:defRPr>
            </a:pPr>
            <a:r>
              <a:t>✘ 機車位難抽</a:t>
            </a:r>
          </a:p>
          <a:p>
            <a:pPr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社區 250 戶但機車位極少，中籤率低，機車日常停放困難。</a:t>
            </a:r>
          </a:p>
          <a:p>
            <a:pPr>
              <a:spcBef>
                <a:spcPts val="800"/>
              </a:spcBef>
              <a:defRPr sz="1200" b="1">
                <a:solidFill>
                  <a:srgbClr val="C0392B"/>
                </a:solidFill>
                <a:latin typeface="微軟正黑體"/>
              </a:defRPr>
            </a:pPr>
            <a:r>
              <a:t>✘ 雙衛浴無對外窗</a:t>
            </a:r>
          </a:p>
          <a:p>
            <a:pPr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兩間浴室皆無窗，潮濕問題需仰賴抽風，居住舒適度受限。</a:t>
            </a:r>
          </a:p>
          <a:p>
            <a:pPr>
              <a:spcBef>
                <a:spcPts val="800"/>
              </a:spcBef>
              <a:defRPr sz="1200" b="1">
                <a:solidFill>
                  <a:srgbClr val="C0392B"/>
                </a:solidFill>
                <a:latin typeface="微軟正黑體"/>
              </a:defRPr>
            </a:pPr>
            <a:r>
              <a:t>✘ 921 歷史抗性</a:t>
            </a:r>
          </a:p>
          <a:p>
            <a:pPr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曾被列需注意建物，雖已解除列管，但買方心理仍存顧慮。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長億南園 8 樓・房仲議價說服專案報告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買方出價邏輯：非盲目砍價，而是精算自備款與入住整修的務實極限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1208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B365D"/>
                </a:solidFill>
                <a:latin typeface="微軟正黑體"/>
              </a:defRPr>
            </a:pPr>
            <a:r>
              <a:t>🛠️ 買方入住必備之整修預算扣除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  <a:latin typeface="微軟正黑體"/>
              </a:defRPr>
            </a:pPr>
            <a:r>
              <a:t>• 全室油漆與細部修補：約 12～15 萬元</a:t>
            </a:r>
          </a:p>
          <a:p>
            <a:pPr>
              <a:defRPr sz="950">
                <a:solidFill>
                  <a:srgbClr val="64748B"/>
                </a:solidFill>
                <a:latin typeface="微軟正黑體"/>
              </a:defRPr>
            </a:pPr>
            <a:r>
              <a:t>  全室批土油漆、裂縫修補，維持家庭居住質感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  <a:latin typeface="微軟正黑體"/>
              </a:defRPr>
            </a:pPr>
            <a:r>
              <a:t>• 雙衛浴暖風乾燥工程：約 8～10 萬元</a:t>
            </a:r>
          </a:p>
          <a:p>
            <a:pPr>
              <a:defRPr sz="950">
                <a:solidFill>
                  <a:srgbClr val="64748B"/>
                </a:solidFill>
                <a:latin typeface="微軟正黑體"/>
              </a:defRPr>
            </a:pPr>
            <a:r>
              <a:t>  雙衛無窗，必須安裝高階暖風機與排風管線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  <a:latin typeface="微軟正黑體"/>
              </a:defRPr>
            </a:pPr>
            <a:r>
              <a:t>• 老舊氣密窗與窗框防水：約 15～20 萬元</a:t>
            </a:r>
          </a:p>
          <a:p>
            <a:pPr>
              <a:defRPr sz="950">
                <a:solidFill>
                  <a:srgbClr val="64748B"/>
                </a:solidFill>
                <a:latin typeface="微軟正黑體"/>
              </a:defRPr>
            </a:pPr>
            <a:r>
              <a:t>  主臥與廚房外推陽台防水補強、窗框更新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  <a:latin typeface="微軟正黑體"/>
              </a:defRPr>
            </a:pPr>
            <a:r>
              <a:t>• 空調與燈具系統更新：約 18～25 萬元</a:t>
            </a:r>
          </a:p>
          <a:p>
            <a:pPr>
              <a:defRPr sz="950">
                <a:solidFill>
                  <a:srgbClr val="64748B"/>
                </a:solidFill>
                <a:latin typeface="微軟正黑體"/>
              </a:defRPr>
            </a:pPr>
            <a:r>
              <a:t>  全室冷氣管線重新整理、節能空調與燈光配置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  <a:latin typeface="微軟正黑體"/>
              </a:defRPr>
            </a:pPr>
            <a:r>
              <a:t>• 清潔、搬遷與零星工程：約 8～10 萬元</a:t>
            </a:r>
          </a:p>
          <a:p>
            <a:pPr>
              <a:defRPr sz="950">
                <a:solidFill>
                  <a:srgbClr val="64748B"/>
                </a:solidFill>
                <a:latin typeface="微軟正黑體"/>
              </a:defRPr>
            </a:pPr>
            <a:r>
              <a:t>  全室細部清潔、門鎖換新、零星木作修繕</a:t>
            </a:r>
          </a:p>
          <a:p>
            <a:pPr>
              <a:spcBef>
                <a:spcPts val="600"/>
              </a:spcBef>
              <a:defRPr sz="1100" b="1">
                <a:solidFill>
                  <a:srgbClr val="C0392B"/>
                </a:solidFill>
                <a:latin typeface="微軟正黑體"/>
              </a:defRPr>
            </a:pPr>
            <a:r>
              <a:t>• 整修預算總計：約 60～80 萬元</a:t>
            </a:r>
          </a:p>
          <a:p>
            <a:pPr>
              <a:defRPr sz="950">
                <a:solidFill>
                  <a:srgbClr val="64748B"/>
                </a:solidFill>
                <a:latin typeface="微軟正黑體"/>
              </a:defRPr>
            </a:pPr>
            <a:r>
              <a:t>  買方自備款必須額外扣除的實體支出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B365D"/>
                </a:solidFill>
                <a:latin typeface="微軟正黑體"/>
              </a:defRPr>
            </a:pPr>
            <a:r>
              <a:t>💰 買方財務自備款與月付極限</a:t>
            </a:r>
          </a:p>
          <a:p>
            <a:pPr>
              <a:spcBef>
                <a:spcPts val="800"/>
              </a:spcBef>
              <a:defRPr sz="1150" b="1">
                <a:solidFill>
                  <a:srgbClr val="2C5E8A"/>
                </a:solidFill>
                <a:latin typeface="微軟正黑體"/>
              </a:defRPr>
            </a:pPr>
            <a:r>
              <a:t>✔ 貸款成數保守上限 7 成</a:t>
            </a:r>
          </a:p>
          <a:p>
            <a:pPr>
              <a:defRPr sz="1000">
                <a:solidFill>
                  <a:srgbClr val="1E293B"/>
                </a:solidFill>
                <a:latin typeface="微軟正黑體"/>
              </a:defRPr>
            </a:pPr>
            <a:r>
              <a:t>35 年老屋銀行鑑價保守，自備款至少需 3 成以上，現金壓力極大。</a:t>
            </a:r>
          </a:p>
          <a:p>
            <a:pPr>
              <a:spcBef>
                <a:spcPts val="800"/>
              </a:spcBef>
              <a:defRPr sz="1150" b="1">
                <a:solidFill>
                  <a:srgbClr val="2C5E8A"/>
                </a:solidFill>
                <a:latin typeface="微軟正黑體"/>
              </a:defRPr>
            </a:pPr>
            <a:r>
              <a:t>✔ 自備款硬性扣除裝修費</a:t>
            </a:r>
          </a:p>
          <a:p>
            <a:pPr>
              <a:defRPr sz="1000">
                <a:solidFill>
                  <a:srgbClr val="1E293B"/>
                </a:solidFill>
                <a:latin typeface="微軟正黑體"/>
              </a:defRPr>
            </a:pPr>
            <a:r>
              <a:t>買方手頭現金需同時應付 3 成頭期款與 70 萬裝修款，已無多餘彈性追價。</a:t>
            </a:r>
          </a:p>
          <a:p>
            <a:pPr>
              <a:spcBef>
                <a:spcPts val="800"/>
              </a:spcBef>
              <a:defRPr sz="1150" b="1">
                <a:solidFill>
                  <a:srgbClr val="2C5E8A"/>
                </a:solidFill>
                <a:latin typeface="微軟正黑體"/>
              </a:defRPr>
            </a:pPr>
            <a:r>
              <a:t>✔ 房貸利率 2.6% 月付壓力重</a:t>
            </a:r>
          </a:p>
          <a:p>
            <a:pPr>
              <a:defRPr sz="1000">
                <a:solidFill>
                  <a:srgbClr val="1E293B"/>
                </a:solidFill>
                <a:latin typeface="微軟正黑體"/>
              </a:defRPr>
            </a:pPr>
            <a:r>
              <a:t>現行利率走高，若總價拉高至 900 萬，每月本息還款將突破 4.2 萬元，超出家庭負擔上限。</a:t>
            </a:r>
          </a:p>
          <a:p>
            <a:pPr>
              <a:spcBef>
                <a:spcPts val="800"/>
              </a:spcBef>
              <a:defRPr sz="1150" b="1">
                <a:solidFill>
                  <a:srgbClr val="2C5E8A"/>
                </a:solidFill>
                <a:latin typeface="微軟正黑體"/>
              </a:defRPr>
            </a:pPr>
            <a:r>
              <a:t>✔ 出價是誠實的成家極限</a:t>
            </a:r>
          </a:p>
          <a:p>
            <a:pPr>
              <a:defRPr sz="1000">
                <a:solidFill>
                  <a:srgbClr val="1E293B"/>
                </a:solidFill>
                <a:latin typeface="微軟正黑體"/>
              </a:defRPr>
            </a:pPr>
            <a:r>
              <a:t>買方出價並非刻意砍屋主，而是把所有現金掏出來的『真誠成家底線』！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長億南園 8 樓・房仲議價說服專案報告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買方特質：稀缺純自住中年買家，已備妥『5 萬元現金斡旋』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7AE60"/>
                </a:solidFill>
                <a:latin typeface="微軟正黑體"/>
              </a:defRPr>
            </a:pPr>
            <a:r>
              <a:t>1. 成熟穩健自住家庭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100">
                <a:solidFill>
                  <a:srgbClr val="1E293B"/>
                </a:solidFill>
                <a:latin typeface="微軟正黑體"/>
              </a:defRPr>
            </a:pPr>
            <a:r>
              <a:t>• 一家四口自住需求，看重室內 32 坪大空間。</a:t>
            </a:r>
            <a:br/>
            <a:r>
              <a:t>• 珍惜屋主水電衛浴整理基礎，非投機客炒作。</a:t>
            </a:r>
            <a:br/>
            <a:r>
              <a:t>• 工作穩定、財務清白，成交履約最安全！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55448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98C14"/>
                </a:solidFill>
                <a:latin typeface="微軟正黑體"/>
              </a:defRPr>
            </a:pPr>
            <a:r>
              <a:t>2. 5 萬元現金斡旋在桌上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100">
                <a:solidFill>
                  <a:srgbClr val="1E293B"/>
                </a:solidFill>
                <a:latin typeface="微軟正黑體"/>
              </a:defRPr>
            </a:pPr>
            <a:r>
              <a:t>• 買方態度堅決，已於店頭支付 5 萬現金斡旋。</a:t>
            </a:r>
            <a:br/>
            <a:r>
              <a:t>• 絕非隨便看看的假客人，只要屋主同意隨時簽約！</a:t>
            </a:r>
            <a:br/>
            <a:r>
              <a:t>• 帶真金白銀進場的買方，全南區屈指可數。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55448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C0392B"/>
                </a:solidFill>
                <a:latin typeface="微軟正黑體"/>
              </a:defRPr>
            </a:pPr>
            <a:r>
              <a:t>3. 錯過不再有下一組</a:t>
            </a:r>
          </a:p>
          <a:p>
            <a:pPr>
              <a:lnSpc>
                <a:spcPct val="130000"/>
              </a:lnSpc>
              <a:spcBef>
                <a:spcPts val="1000"/>
              </a:spcBef>
              <a:defRPr sz="1100">
                <a:solidFill>
                  <a:srgbClr val="1E293B"/>
                </a:solidFill>
                <a:latin typeface="微軟正黑體"/>
              </a:defRPr>
            </a:pPr>
            <a:r>
              <a:t>• 年輕世代只買外圍小新屋，完全抗拒老陳屋。</a:t>
            </a:r>
            <a:br/>
            <a:r>
              <a:t>• 能承接 34 年老屋的自住客群極度稀缺！</a:t>
            </a:r>
            <a:br/>
            <a:r>
              <a:t>• 一旦這組買方流失，下次見客恐再等一年！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長億南園 8 樓・房仲議價說服專案報告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屋主利益極大化：107年670萬買入持有滿8年，獲利了結＋享400萬免稅！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1208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7AE60"/>
                </a:solidFill>
                <a:latin typeface="微軟正黑體"/>
              </a:defRPr>
            </a:pPr>
            <a:r>
              <a:t>📊 屋主財務帳面試算（絕對贏家）</a:t>
            </a:r>
          </a:p>
          <a:p>
            <a:pPr>
              <a:spcBef>
                <a:spcPts val="800"/>
              </a:spcBef>
              <a:defRPr sz="1100" b="0">
                <a:solidFill>
                  <a:srgbClr val="1E293B"/>
                </a:solidFill>
                <a:latin typeface="微軟正黑體"/>
              </a:defRPr>
            </a:pPr>
            <a:r>
              <a:t>• 原始購入時間：民國 107 年 6 月 10 日（實登 #49 筆可考）</a:t>
            </a:r>
          </a:p>
          <a:p>
            <a:pPr>
              <a:spcBef>
                <a:spcPts val="800"/>
              </a:spcBef>
              <a:defRPr sz="1100" b="0">
                <a:solidFill>
                  <a:srgbClr val="1E293B"/>
                </a:solidFill>
                <a:latin typeface="微軟正黑體"/>
              </a:defRPr>
            </a:pPr>
            <a:r>
              <a:t>• 原始購入總價：670 萬元（單價僅 15.9 萬/坪）</a:t>
            </a:r>
          </a:p>
          <a:p>
            <a:pPr>
              <a:spcBef>
                <a:spcPts val="800"/>
              </a:spcBef>
              <a:defRPr sz="1100" b="0">
                <a:solidFill>
                  <a:srgbClr val="1E293B"/>
                </a:solidFill>
                <a:latin typeface="微軟正黑體"/>
              </a:defRPr>
            </a:pPr>
            <a:r>
              <a:t>• 資產持有期間：整整持有滿 8 年，充分享受居住與資產增值</a:t>
            </a:r>
          </a:p>
          <a:p>
            <a:pPr>
              <a:spcBef>
                <a:spcPts val="800"/>
              </a:spcBef>
              <a:defRPr sz="1100" b="0">
                <a:solidFill>
                  <a:srgbClr val="1E293B"/>
                </a:solidFill>
                <a:latin typeface="微軟正黑體"/>
              </a:defRPr>
            </a:pPr>
            <a:r>
              <a:t>• 本次建議成交價：約 700 多萬元（大幅高於原始購入成本）</a:t>
            </a:r>
          </a:p>
          <a:p>
            <a:pPr>
              <a:spcBef>
                <a:spcPts val="800"/>
              </a:spcBef>
              <a:defRPr sz="1100" b="1">
                <a:solidFill>
                  <a:srgbClr val="C0392B"/>
                </a:solidFill>
                <a:latin typeface="微軟正黑體"/>
              </a:defRPr>
            </a:pPr>
            <a:r>
              <a:t>• 帳面淨獲利：全數收回 670 萬成本外，現賺數十萬現金！</a:t>
            </a:r>
          </a:p>
          <a:p>
            <a:pPr>
              <a:spcBef>
                <a:spcPts val="800"/>
              </a:spcBef>
              <a:defRPr sz="1100" b="1">
                <a:solidFill>
                  <a:srgbClr val="27AE60"/>
                </a:solidFill>
                <a:latin typeface="微軟正黑體"/>
              </a:defRPr>
            </a:pPr>
            <a:r>
              <a:t>• 自住免稅優惠：持有逾6年符合自住規定，享 400 萬免稅額，超額僅課 10%！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50292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365D"/>
                </a:solidFill>
                <a:latin typeface="微軟正黑體"/>
              </a:defRPr>
            </a:pPr>
            <a:r>
              <a:t>🏆 為什麼現在賣是『真正的大贏家』？</a:t>
            </a:r>
          </a:p>
          <a:p>
            <a:pPr>
              <a:spcBef>
                <a:spcPts val="800"/>
              </a:spcBef>
              <a:defRPr sz="1150" b="1">
                <a:solidFill>
                  <a:srgbClr val="1B365D"/>
                </a:solidFill>
                <a:latin typeface="微軟正黑體"/>
              </a:defRPr>
            </a:pPr>
            <a:r>
              <a:t>✔ 避開未來三年跌勢</a:t>
            </a:r>
          </a:p>
          <a:p>
            <a:pPr>
              <a:defRPr sz="1000">
                <a:solidFill>
                  <a:srgbClr val="1E293B"/>
                </a:solidFill>
                <a:latin typeface="微軟正黑體"/>
              </a:defRPr>
            </a:pPr>
            <a:r>
              <a:t>大盤即將下修至 15～18 萬支撐區，晚賣一年少賺幾十萬。</a:t>
            </a:r>
          </a:p>
          <a:p>
            <a:pPr>
              <a:spcBef>
                <a:spcPts val="800"/>
              </a:spcBef>
              <a:defRPr sz="1150" b="1">
                <a:solidFill>
                  <a:srgbClr val="1B365D"/>
                </a:solidFill>
                <a:latin typeface="微軟正黑體"/>
              </a:defRPr>
            </a:pPr>
            <a:r>
              <a:t>✔ 免繳高額房地合一稅</a:t>
            </a:r>
          </a:p>
          <a:p>
            <a:pPr>
              <a:defRPr sz="1000">
                <a:solidFill>
                  <a:srgbClr val="1E293B"/>
                </a:solidFill>
                <a:latin typeface="微軟正黑體"/>
              </a:defRPr>
            </a:pPr>
            <a:r>
              <a:t>享受自住 400 萬免稅額，獲利全部是實質進戶頭的現金。</a:t>
            </a:r>
          </a:p>
          <a:p>
            <a:pPr>
              <a:spcBef>
                <a:spcPts val="800"/>
              </a:spcBef>
              <a:defRPr sz="1150" b="1">
                <a:solidFill>
                  <a:srgbClr val="1B365D"/>
                </a:solidFill>
                <a:latin typeface="微軟正黑體"/>
              </a:defRPr>
            </a:pPr>
            <a:r>
              <a:t>✔ 資產重新配置至高利商品</a:t>
            </a:r>
          </a:p>
          <a:p>
            <a:pPr>
              <a:defRPr sz="1000">
                <a:solidFill>
                  <a:srgbClr val="1E293B"/>
                </a:solidFill>
                <a:latin typeface="微軟正黑體"/>
              </a:defRPr>
            </a:pPr>
            <a:r>
              <a:t>把資金拿去買高股息 ETF 或定存（年息 4～5%），每年穩賺數十萬利息，不用再煩惱老屋維修管線！</a:t>
            </a:r>
          </a:p>
          <a:p>
            <a:pPr>
              <a:spcBef>
                <a:spcPts val="800"/>
              </a:spcBef>
              <a:defRPr sz="1150" b="1">
                <a:solidFill>
                  <a:srgbClr val="1B365D"/>
                </a:solidFill>
                <a:latin typeface="微軟正黑體"/>
              </a:defRPr>
            </a:pPr>
            <a:r>
              <a:t>✔ 鎖定 8 年投資回報</a:t>
            </a:r>
          </a:p>
          <a:p>
            <a:pPr>
              <a:defRPr sz="1000">
                <a:solidFill>
                  <a:srgbClr val="1E293B"/>
                </a:solidFill>
                <a:latin typeface="微軟正黑體"/>
              </a:defRPr>
            </a:pPr>
            <a:r>
              <a:t>將 670 萬的陳年老屋換成現金，安心享受退休或家庭生活！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2FA"/>
          </a:solidFill>
          <a:ln w="127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C5E8A"/>
                </a:solidFill>
                <a:latin typeface="微軟正黑體"/>
              </a:defRPr>
            </a:pPr>
            <a:r>
              <a:t>長億南園 8 樓・房仲議價說服專案報告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B365D"/>
                </a:solidFill>
                <a:latin typeface="微軟正黑體"/>
              </a:defRPr>
            </a:pPr>
            <a:r>
              <a:t>促成決策：把握這組已備妥現金的客人，今天簽字落袋為安！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2743200"/>
          </a:xfrm>
          <a:prstGeom prst="roundRect">
            <a:avLst/>
          </a:prstGeom>
          <a:solidFill>
            <a:srgbClr val="EAFAF1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1018001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7AE60"/>
                </a:solidFill>
                <a:latin typeface="微軟正黑體"/>
              </a:defRPr>
            </a:pPr>
            <a:r>
              <a:t>🏆 房仲收尾逼單最關鍵的一句話（激發屋主落袋為安與急迫感）</a:t>
            </a:r>
          </a:p>
          <a:p>
            <a:pPr>
              <a:lnSpc>
                <a:spcPct val="125000"/>
              </a:lnSpc>
              <a:spcBef>
                <a:spcPts val="800"/>
              </a:spcBef>
              <a:defRPr sz="1100">
                <a:solidFill>
                  <a:srgbClr val="1E293B"/>
                </a:solidFill>
                <a:latin typeface="微軟正黑體"/>
              </a:defRPr>
            </a:pPr>
            <a:r>
              <a:t>「大哥／大姐，現在市場上光看不買的假客人很多，但願意掏出真金白銀的人少之又少。</a:t>
            </a:r>
            <a:br/>
            <a:br/>
            <a:r>
              <a:t>這組自住買方非常有誠意，已經把『5 萬元的現金斡旋』直接擺在我們店頭桌上，隨時等著只要您點頭就正式簽約履約！</a:t>
            </a:r>
            <a:br/>
            <a:br/>
            <a:r>
              <a:t>您 107 年買 670 萬，買方出價已經讓您穩穩賺錢出場，又享有 8 年自住免稅優勢，還能完美避開後面南區老屋量縮價跌的風險。</a:t>
            </a:r>
            <a:br/>
            <a:br/>
            <a:r>
              <a:t>信義房屋那邊今天還在打電話催買方去談南屯的大墩人文，請大哥／大姐今天就痛快做決定，給我們授權簽字，我們立刻幫您把七百多萬的現金穩穩落袋！」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97680"/>
            <a:ext cx="10728655" cy="2103120"/>
          </a:xfrm>
          <a:prstGeom prst="roundRect">
            <a:avLst/>
          </a:prstGeom>
          <a:solidFill>
            <a:srgbClr val="FDEDEC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434840"/>
            <a:ext cx="101800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392B"/>
                </a:solidFill>
                <a:latin typeface="微軟正黑體"/>
              </a:defRPr>
            </a:pPr>
            <a:r>
              <a:t>🛡️ 買方斡旋唯一保留特約條款（純粹財務保命條款，其餘抗坑條款全數剔除）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050">
                <a:solidFill>
                  <a:srgbClr val="1E293B"/>
                </a:solidFill>
                <a:latin typeface="微軟正黑體"/>
              </a:defRPr>
            </a:pPr>
            <a:r>
              <a:t>「本件買賣若買方於簽約後向金融機構申請本標的物房屋貸款，獲核准之貸款金額未達買賣成交總價百分之七十（70%）者（非因買方個人重大信用瑕疵所致），買方得主張無條件解除本買賣契約（或斡旋契約）。賣方及仲介方應於買方出具銀行審核結果後三日內，全額無息返還買方已支付之全部斡旋金及價款，雙方互不負違約賠償責任及仲介服務費。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484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98C14"/>
                </a:solidFill>
                <a:latin typeface="微軟正黑體"/>
              </a:defRPr>
            </a:pPr>
            <a:r>
              <a:t>抓緊大盤反轉前夕  •  把握唯一誠意自住買盤</a:t>
            </a:r>
          </a:p>
          <a:p>
            <a:pPr algn="ctr">
              <a:spcBef>
                <a:spcPts val="1600"/>
              </a:spcBef>
              <a:defRPr sz="2200" b="1">
                <a:solidFill>
                  <a:srgbClr val="FFFFFF"/>
                </a:solidFill>
                <a:latin typeface="微軟正黑體"/>
              </a:defRPr>
            </a:pPr>
            <a:r>
              <a:t>恭祝 屋主資產安全變現・圓滿落袋為安大贏家！</a:t>
            </a:r>
          </a:p>
          <a:p>
            <a:pPr algn="ctr">
              <a:spcBef>
                <a:spcPts val="2400"/>
              </a:spcBef>
              <a:defRPr sz="1300">
                <a:solidFill>
                  <a:srgbClr val="BED2F0"/>
                </a:solidFill>
                <a:latin typeface="微軟正黑體"/>
              </a:defRPr>
            </a:pPr>
            <a:r>
              <a:t>永義房屋專案團隊 敬製  |  長億南園 8 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