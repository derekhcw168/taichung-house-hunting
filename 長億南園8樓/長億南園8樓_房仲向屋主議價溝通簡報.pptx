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D98C14"/>
                </a:solidFill>
                <a:latin typeface="微軟正黑體"/>
              </a:defRPr>
            </a:pPr>
            <a:r>
              <a:t>長億南園 8 樓</a:t>
            </a:r>
          </a:p>
          <a:p>
            <a:pPr>
              <a:spcBef>
                <a:spcPts val="800"/>
              </a:spcBef>
              <a:defRPr sz="3600" b="1">
                <a:solidFill>
                  <a:srgbClr val="FFFFFF"/>
                </a:solidFill>
                <a:latin typeface="微軟正黑體"/>
              </a:defRPr>
            </a:pPr>
            <a:r>
              <a:t>房仲向屋主議價溝通簡報</a:t>
            </a:r>
          </a:p>
          <a:p>
            <a:pPr>
              <a:spcBef>
                <a:spcPts val="1400"/>
              </a:spcBef>
              <a:defRPr sz="1400">
                <a:solidFill>
                  <a:srgbClr val="C8D7EB"/>
                </a:solidFill>
                <a:latin typeface="微軟正黑體"/>
              </a:defRPr>
            </a:pPr>
            <a:r>
              <a:t>【市場大盤反轉急凍・南區10大指標社區全數反轉走跌・同社區4戶競售剖析・南屯大墩人文競品威脅・掌握稀缺中年自住買盤】</a:t>
            </a:r>
          </a:p>
          <a:p>
            <a:pPr>
              <a:spcBef>
                <a:spcPts val="3600"/>
              </a:spcBef>
              <a:defRPr sz="1100">
                <a:solidFill>
                  <a:srgbClr val="96AFCD"/>
                </a:solidFill>
                <a:latin typeface="微軟正黑體"/>
              </a:defRPr>
            </a:pPr>
            <a:r>
              <a:t>報告單位：永義房屋專案團隊  |  標的：長億南園 8 樓（德富路 390 號）  |  買方狀況：成熟中年家庭・自住・屋主願談可立即下斡旋金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C14"/>
                </a:solidFill>
                <a:latin typeface="微軟正黑體"/>
              </a:defRPr>
            </a:pPr>
            <a:r>
              <a:t>長億南園 8 樓・房仲向屋主議價溝通簡報</a:t>
            </a:r>
          </a:p>
          <a:p>
            <a:pPr>
              <a:spcBef>
                <a:spcPts val="200"/>
              </a:spcBef>
              <a:defRPr sz="2000" b="1">
                <a:solidFill>
                  <a:srgbClr val="1B365D"/>
                </a:solidFill>
                <a:latin typeface="微軟正黑體"/>
              </a:defRPr>
            </a:pPr>
            <a:r>
              <a:t>執行摘要：屋主當下面臨的 4 大關鍵決策局勢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5146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2148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0392B"/>
                </a:solidFill>
                <a:latin typeface="微軟正黑體"/>
              </a:defRPr>
            </a:pPr>
            <a:r>
              <a:t>📉 大盤確認反轉下修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100">
                <a:solidFill>
                  <a:srgbClr val="1E293B"/>
                </a:solidFill>
                <a:latin typeface="微軟正黑體"/>
              </a:defRPr>
            </a:pPr>
            <a:r>
              <a:t>第七波信用管制後，南區 53 棟老牌社區成交量暴跌 76.4%！單價中位數自 26.9 萬見頂回落，價格正式進入『緩跌』格局，近兩年買盤極端稀缺，越晚賣越難賣。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1371600"/>
            <a:ext cx="25146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554480"/>
            <a:ext cx="2148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8C14"/>
                </a:solidFill>
                <a:latin typeface="微軟正黑體"/>
              </a:defRPr>
            </a:pPr>
            <a:r>
              <a:t>🏢 同社區 4 戶競售剖析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100">
                <a:solidFill>
                  <a:srgbClr val="1E293B"/>
                </a:solidFill>
                <a:latin typeface="微軟正黑體"/>
              </a:defRPr>
            </a:pPr>
            <a:r>
              <a:t>同社區即有 4 戶在售，附近社區類似總價更有數十戶在賣！4 樓開 898 萬搶低總、3 樓巨露台平車大降 70 萬，周邊供給大量湧出，削價競爭劇烈。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25146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2148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C5E8A"/>
                </a:solidFill>
                <a:latin typeface="微軟正黑體"/>
              </a:defRPr>
            </a:pPr>
            <a:r>
              <a:t>⚡ 南屯大墩人文強烈威脅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100">
                <a:solidFill>
                  <a:srgbClr val="1E293B"/>
                </a:solidFill>
                <a:latin typeface="微軟正黑體"/>
              </a:defRPr>
            </a:pPr>
            <a:r>
              <a:t>買方曾租住南屯『大墩人文』社區有感情，目前正由信義房屋積極洽談中。若本案屋主無意願協調溝通，買方將轉向信義房屋購買大墩人文！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0" y="1371600"/>
            <a:ext cx="25146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554480"/>
            <a:ext cx="2148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7AE60"/>
                </a:solidFill>
                <a:latin typeface="微軟正黑體"/>
              </a:defRPr>
            </a:pPr>
            <a:r>
              <a:t>🎯 把握稀缺中年自住買方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100">
                <a:solidFill>
                  <a:srgbClr val="1E293B"/>
                </a:solidFill>
                <a:latin typeface="微軟正黑體"/>
              </a:defRPr>
            </a:pPr>
            <a:r>
              <a:t>近年年輕人只買新成屋小宅，買 34 年老屋的只剩中年家庭。買方純自住，只要屋主願意談，可立即下斡旋金，是目前市場極罕見的實質好買盤！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C14"/>
                </a:solidFill>
                <a:latin typeface="微軟正黑體"/>
              </a:defRPr>
            </a:pPr>
            <a:r>
              <a:t>長億南園 8 樓・房仲向屋主議價溝通簡報</a:t>
            </a:r>
          </a:p>
          <a:p>
            <a:pPr>
              <a:spcBef>
                <a:spcPts val="200"/>
              </a:spcBef>
              <a:defRPr sz="2000" b="1">
                <a:solidFill>
                  <a:srgbClr val="1B365D"/>
                </a:solidFill>
                <a:latin typeface="微軟正黑體"/>
              </a:defRPr>
            </a:pPr>
            <a:r>
              <a:t>說服理由 1：南區大盤暴跌 76.4%，價格正式向下反轉</a:t>
            </a:r>
          </a:p>
        </p:txBody>
      </p:sp>
      <p:pic>
        <p:nvPicPr>
          <p:cNvPr id="4" name="Picture 3" descr="00_台中市南區25年以上大型社區_大盤匯總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217920" cy="47548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132320" y="1371600"/>
            <a:ext cx="4327855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0" y="1554480"/>
            <a:ext cx="3779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365D"/>
                </a:solidFill>
                <a:latin typeface="微軟正黑體"/>
              </a:defRPr>
            </a:pPr>
            <a:r>
              <a:t>📊 全南區大盤關鍵數據</a:t>
            </a:r>
          </a:p>
          <a:p>
            <a:pPr>
              <a:spcBef>
                <a:spcPts val="800"/>
              </a:spcBef>
              <a:defRPr sz="1200" b="1">
                <a:solidFill>
                  <a:srgbClr val="2C5E8A"/>
                </a:solidFill>
                <a:latin typeface="微軟正黑體"/>
              </a:defRPr>
            </a:pPr>
            <a:r>
              <a:t>• 大盤樣本完整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  <a:latin typeface="微軟正黑體"/>
              </a:defRPr>
            </a:pPr>
            <a:r>
              <a:t>全南區 53 棟 25 年以上老牌大社區、涵蓋 21,208 戶、累計 7,022 筆成交實價登錄。</a:t>
            </a:r>
          </a:p>
          <a:p>
            <a:pPr>
              <a:spcBef>
                <a:spcPts val="800"/>
              </a:spcBef>
              <a:defRPr sz="1200" b="1">
                <a:solidFill>
                  <a:srgbClr val="2C5E8A"/>
                </a:solidFill>
                <a:latin typeface="微軟正黑體"/>
              </a:defRPr>
            </a:pPr>
            <a:r>
              <a:t>• 歷史見頂反轉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  <a:latin typeface="微軟正黑體"/>
              </a:defRPr>
            </a:pPr>
            <a:r>
              <a:t>113 年大盤中位數衝上 26.9 萬/坪歷史極值，第七波信用管制後急速反轉下修至 24.6 萬/坪。</a:t>
            </a:r>
          </a:p>
          <a:p>
            <a:pPr>
              <a:spcBef>
                <a:spcPts val="800"/>
              </a:spcBef>
              <a:defRPr sz="1200" b="1">
                <a:solidFill>
                  <a:srgbClr val="C0392B"/>
                </a:solidFill>
                <a:latin typeface="微軟正黑體"/>
              </a:defRPr>
            </a:pPr>
            <a:r>
              <a:t>• 成交量雪崩 76.4%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  <a:latin typeface="微軟正黑體"/>
              </a:defRPr>
            </a:pPr>
            <a:r>
              <a:t>年成交量自高峰 738 件崩縮至 115 年僅 174 件，市場動能徹底急凍！</a:t>
            </a:r>
          </a:p>
          <a:p>
            <a:pPr>
              <a:spcBef>
                <a:spcPts val="800"/>
              </a:spcBef>
              <a:defRPr sz="1200" b="1">
                <a:solidFill>
                  <a:srgbClr val="C0392B"/>
                </a:solidFill>
                <a:latin typeface="微軟正黑體"/>
              </a:defRPr>
            </a:pPr>
            <a:r>
              <a:t>• 『量先價行』鐵律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  <a:latin typeface="微軟正黑體"/>
              </a:defRPr>
            </a:pPr>
            <a:r>
              <a:t>沒有成交量支撐，老屋價格只有緩跌修正一途，不可再心存追高幻想！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C14"/>
                </a:solidFill>
                <a:latin typeface="微軟正黑體"/>
              </a:defRPr>
            </a:pPr>
            <a:r>
              <a:t>長億南園 8 樓・房仲向屋主議價溝通簡報</a:t>
            </a:r>
          </a:p>
          <a:p>
            <a:pPr>
              <a:spcBef>
                <a:spcPts val="200"/>
              </a:spcBef>
              <a:defRPr sz="2000" b="1">
                <a:solidFill>
                  <a:srgbClr val="1B365D"/>
                </a:solidFill>
                <a:latin typeface="微軟正黑體"/>
              </a:defRPr>
            </a:pPr>
            <a:r>
              <a:t>大盤走勢預估：房市趨冷只會緩跌，房屋年齡越老越便宜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3832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0392B"/>
                </a:solidFill>
                <a:latin typeface="微軟正黑體"/>
              </a:defRPr>
            </a:pPr>
            <a:r>
              <a:t>1. 信用管制掐死市場流動性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100">
                <a:solidFill>
                  <a:srgbClr val="1E293B"/>
                </a:solidFill>
                <a:latin typeface="微軟正黑體"/>
              </a:defRPr>
            </a:pPr>
            <a:r>
              <a:t>• 央行第七波信用管制全面收緊房貸成數。</a:t>
            </a:r>
            <a:br/>
            <a:r>
              <a:t>• 銀行鑑價極度保守，放款滿水位持續延燒。</a:t>
            </a:r>
            <a:br/>
            <a:r>
              <a:t>• 實質房貸利率站穩 2.5%～3.0%，買方負擔能力大幅縮水，只會持續觀望砍價。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371600"/>
            <a:ext cx="33832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55448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8C14"/>
                </a:solidFill>
                <a:latin typeface="微軟正黑體"/>
              </a:defRPr>
            </a:pPr>
            <a:r>
              <a:t>2. 35 年老屋金融大關縮限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100">
                <a:solidFill>
                  <a:srgbClr val="1E293B"/>
                </a:solidFill>
                <a:latin typeface="微軟正黑體"/>
              </a:defRPr>
            </a:pPr>
            <a:r>
              <a:t>• 長億南園已 34.7 年，跨越 35 年金融門檻。</a:t>
            </a:r>
            <a:br/>
            <a:r>
              <a:t>• 銀行內規『屋齡＋貸款年限』嚴格受限，無法貸滿 30/40 年長天期。</a:t>
            </a:r>
            <a:br/>
            <a:r>
              <a:t>• 買方每月還款本金加重，老屋接手門檻越來越高，未來只剩全現金買方。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1371600"/>
            <a:ext cx="33832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  <a:latin typeface="微軟正黑體"/>
              </a:defRPr>
            </a:pPr>
            <a:r>
              <a:t>3. 未來三年價格逐年回測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100">
                <a:solidFill>
                  <a:srgbClr val="1E293B"/>
                </a:solidFill>
                <a:latin typeface="微軟正黑體"/>
              </a:defRPr>
            </a:pPr>
            <a:r>
              <a:t>• 根據南區大盤模型推估：</a:t>
            </a:r>
            <a:br/>
            <a:r>
              <a:t>   - 116 年下探：21.1 萬/坪</a:t>
            </a:r>
            <a:br/>
            <a:r>
              <a:t>   - 117 年下探：18.0 萬/坪</a:t>
            </a:r>
            <a:br/>
            <a:r>
              <a:t>   - 118 年回測歷史支撐：15.8 萬/坪</a:t>
            </a:r>
            <a:br/>
            <a:r>
              <a:t>• 趁目前 20 幾萬高檔反轉初期賣出，是資產最佳安全落袋窗口！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C14"/>
                </a:solidFill>
                <a:latin typeface="微軟正黑體"/>
              </a:defRPr>
            </a:pPr>
            <a:r>
              <a:t>長億南園 8 樓・房仲向屋主議價溝通簡報</a:t>
            </a:r>
          </a:p>
          <a:p>
            <a:pPr>
              <a:spcBef>
                <a:spcPts val="200"/>
              </a:spcBef>
              <a:defRPr sz="2000" b="1">
                <a:solidFill>
                  <a:srgbClr val="1B365D"/>
                </a:solidFill>
                <a:latin typeface="微軟正黑體"/>
              </a:defRPr>
            </a:pPr>
            <a:r>
              <a:t>客觀實證：全南區 10 大類似指標老牌社區實價登錄全數反轉向下（鐵證總表）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72865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097280"/>
                <a:gridCol w="1645920"/>
                <a:gridCol w="1645920"/>
                <a:gridCol w="1554480"/>
                <a:gridCol w="1097280"/>
                <a:gridCol w="1767535"/>
              </a:tblGrid>
              <a:tr h="34913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指標社區建案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總戶數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歷史最高單價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115年最新成交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113➜115均價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跌幅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實登走勢反轉特徵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長億城攬翠區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669 戶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29.5 萬 (113/06)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26.9 萬 (115/06)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26.3 ➜ 23.2 萬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-11.9%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工學大案高點已過，量能大縮85%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工學天下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452 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29.0 萬 (113/07)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19.6 萬 (115/06)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24.7 ➜ 20.7 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-16.1%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最新單價暴跌，正式跌破 2 字頭！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龍邦綠園道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322 戶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28.5 萬 (114/02)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23.6 萬 (115/08)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23.6 ➜ 21.3 萬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-9.5%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綠園道知名名宅高檔回落、買盤縮手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文心高第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266 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34.5 萬 (113/05)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30.4 萬 (115/07)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31.3 ➜ 28.5 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東興路高樓名廈見頂反轉修正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大東家華園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227 戶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27.7 萬 (113/03)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20.3 萬 (115/07)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24.5 ➜ 23.1 萬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-5.9%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學府商圈最新成交逼近 1 字頭！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假日半島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219 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33.2 萬 (113/10)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24.8 萬 (115/07)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29.4 ➜ 25.3 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-14.0%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復興路指標大樓下修逾 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文心大地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207 戶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28.4 萬 (113/07)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24.1 萬 (115/05)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26.4 ➜ 22.5 萬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-15.1%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文心南路聚落量能雪崩、價格下挫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文心及第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259 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35.7 萬 (113/06)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18.9 萬 (115/03)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30.6 ➜ 18.9 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-38.2%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歷史極值暴跌，最新成交跌破 2 字頭！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大安黃金城大廈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307 戶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34.3 萬 (114/04)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25.2 萬 (115/06)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26.6 ➜ 23.7 萬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-11.1%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興大生活圈大案支撐瓦解、買氣急凍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4914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京城特區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388 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25.9 萬 (113/03)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18.6 萬 (115/05)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22.4 ➜ 20.9 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-6.9%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學府路大案連跌，最新跌至 18.6 萬！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31520" y="5349240"/>
            <a:ext cx="10728655" cy="1143000"/>
          </a:xfrm>
          <a:prstGeom prst="rect">
            <a:avLst/>
          </a:prstGeom>
          <a:solidFill>
            <a:srgbClr val="FEF2F2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440680"/>
            <a:ext cx="1036289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C0392B"/>
                </a:solidFill>
                <a:latin typeface="微軟正黑體"/>
              </a:defRPr>
            </a:pPr>
            <a:r>
              <a:t>🎯 房仲議價關鍵說服點：全南區老牌大社區無一倖免！高點已過，量縮價跌是整個大盤的系統性下修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這 10 個比長億南園規模更大、知名度更高的老牌社區，全部在 113 年見頂後反轉向下！其中工學天下、京城特區、文心及第最新成交更已直接跌破 2 字頭！長億南園絕非個案，此時若不趁高檔反轉初期讓利成交，後續跌幅只會更深！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C14"/>
                </a:solidFill>
                <a:latin typeface="微軟正黑體"/>
              </a:defRPr>
            </a:pPr>
            <a:r>
              <a:t>長億南園 8 樓・房仲向屋主議價溝通簡報</a:t>
            </a:r>
          </a:p>
          <a:p>
            <a:pPr>
              <a:spcBef>
                <a:spcPts val="200"/>
              </a:spcBef>
              <a:defRPr sz="2000" b="1">
                <a:solidFill>
                  <a:srgbClr val="1B365D"/>
                </a:solidFill>
                <a:latin typeface="微軟正黑體"/>
              </a:defRPr>
            </a:pPr>
            <a:r>
              <a:t>指標實證 1【工學商圈大案全面回檔】長億城・工學天下・京城特區</a:t>
            </a:r>
          </a:p>
        </p:txBody>
      </p:sp>
      <p:pic>
        <p:nvPicPr>
          <p:cNvPr id="4" name="Picture 3" descr="03_長億城攬翠區陽光區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3383280" cy="235948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3611880"/>
            <a:ext cx="33832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703320"/>
            <a:ext cx="3108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B365D"/>
                </a:solidFill>
                <a:latin typeface="微軟正黑體"/>
              </a:defRPr>
            </a:pPr>
            <a:r>
              <a:t>長億城攬翠區（669戶・屋齡30.9年）</a:t>
            </a:r>
          </a:p>
          <a:p>
            <a:pPr>
              <a:lnSpc>
                <a:spcPct val="120000"/>
              </a:lnSpc>
              <a:spcBef>
                <a:spcPts val="400"/>
              </a:spcBef>
              <a:defRPr sz="950">
                <a:solidFill>
                  <a:srgbClr val="1E293B"/>
                </a:solidFill>
                <a:latin typeface="微軟正黑體"/>
              </a:defRPr>
            </a:pPr>
            <a:r>
              <a:t>• 113年高點：29.5 萬/坪 (8樓)</a:t>
            </a:r>
            <a:br/>
            <a:r>
              <a:t>• 115年最新成交：26.9 萬/坪</a:t>
            </a:r>
            <a:br/>
            <a:r>
              <a:t>• 均價自 26.3 萬跌至 23.2 萬 (-11.9%)</a:t>
            </a:r>
            <a:br/>
            <a:r>
              <a:t>• 年成交量自高峰 63 件雪崩至 9 件！</a:t>
            </a:r>
            <a:br/>
            <a:r>
              <a:t>• 669 戶大社區委售競爭激烈，價格持續下探。</a:t>
            </a:r>
          </a:p>
        </p:txBody>
      </p:sp>
      <p:pic>
        <p:nvPicPr>
          <p:cNvPr id="7" name="Picture 6" descr="07_工學天下_成交行情走勢圖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371600"/>
            <a:ext cx="3383280" cy="235948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389120" y="3611880"/>
            <a:ext cx="33832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3703320"/>
            <a:ext cx="3108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B365D"/>
                </a:solidFill>
                <a:latin typeface="微軟正黑體"/>
              </a:defRPr>
            </a:pPr>
            <a:r>
              <a:t>工學天下（452戶・屋齡31.7年）</a:t>
            </a:r>
          </a:p>
          <a:p>
            <a:pPr>
              <a:lnSpc>
                <a:spcPct val="120000"/>
              </a:lnSpc>
              <a:spcBef>
                <a:spcPts val="400"/>
              </a:spcBef>
              <a:defRPr sz="950">
                <a:solidFill>
                  <a:srgbClr val="1E293B"/>
                </a:solidFill>
                <a:latin typeface="微軟正黑體"/>
              </a:defRPr>
            </a:pPr>
            <a:r>
              <a:t>• 113年高點：29.0 萬/坪 (9樓)</a:t>
            </a:r>
            <a:br/>
            <a:r>
              <a:t>• 115年最新成交：19.6 萬/坪 (7樓)</a:t>
            </a:r>
            <a:br/>
            <a:r>
              <a:t>• 🔥 最新成交正式跌破 2 字頭！</a:t>
            </a:r>
            <a:br/>
            <a:r>
              <a:t>• 均價自 24.7 萬跌至 20.7 萬 (-16.1%)</a:t>
            </a:r>
            <a:br/>
            <a:r>
              <a:t>• 買盤對 30 年以上無障礙老屋縮手，殺價猛烈。</a:t>
            </a:r>
          </a:p>
        </p:txBody>
      </p:sp>
      <p:pic>
        <p:nvPicPr>
          <p:cNvPr id="10" name="Picture 9" descr="11_京城特區_成交行情走勢圖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371600"/>
            <a:ext cx="3383280" cy="234661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046720" y="3611880"/>
            <a:ext cx="33832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3703320"/>
            <a:ext cx="3108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B365D"/>
                </a:solidFill>
                <a:latin typeface="微軟正黑體"/>
              </a:defRPr>
            </a:pPr>
            <a:r>
              <a:t>京城特區（388戶・屋齡29.1年）</a:t>
            </a:r>
          </a:p>
          <a:p>
            <a:pPr>
              <a:lnSpc>
                <a:spcPct val="120000"/>
              </a:lnSpc>
              <a:spcBef>
                <a:spcPts val="400"/>
              </a:spcBef>
              <a:defRPr sz="950">
                <a:solidFill>
                  <a:srgbClr val="1E293B"/>
                </a:solidFill>
                <a:latin typeface="微軟正黑體"/>
              </a:defRPr>
            </a:pPr>
            <a:r>
              <a:t>• 113年高點：25.9 萬/坪 (18樓)</a:t>
            </a:r>
            <a:br/>
            <a:r>
              <a:t>• 115年最新成交：18.6 萬/坪 (3樓)</a:t>
            </a:r>
            <a:br/>
            <a:r>
              <a:t>• 🔥 跌破 2 字頭，單價見 18.6 萬低點！</a:t>
            </a:r>
            <a:br/>
            <a:r>
              <a:t>• 均價自 22.4 萬下修至 20.9 萬 (-6.9%)</a:t>
            </a:r>
            <a:br/>
            <a:r>
              <a:t>• 學府路核心生活圈老屋買氣急凍、去化極慢。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C14"/>
                </a:solidFill>
                <a:latin typeface="微軟正黑體"/>
              </a:defRPr>
            </a:pPr>
            <a:r>
              <a:t>長億南園 8 樓・房仲向屋主議價溝通簡報</a:t>
            </a:r>
          </a:p>
          <a:p>
            <a:pPr>
              <a:spcBef>
                <a:spcPts val="200"/>
              </a:spcBef>
              <a:defRPr sz="2000" b="1">
                <a:solidFill>
                  <a:srgbClr val="1B365D"/>
                </a:solidFill>
                <a:latin typeface="微軟正黑體"/>
              </a:defRPr>
            </a:pPr>
            <a:r>
              <a:t>指標實證 2【復興與文心核心聚落反轉】文心高第・假日半島・文心及第</a:t>
            </a:r>
          </a:p>
        </p:txBody>
      </p:sp>
      <p:pic>
        <p:nvPicPr>
          <p:cNvPr id="4" name="Picture 3" descr="27_文心及第文心南路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3383280" cy="235948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3611880"/>
            <a:ext cx="33832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703320"/>
            <a:ext cx="3108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B365D"/>
                </a:solidFill>
                <a:latin typeface="微軟正黑體"/>
              </a:defRPr>
            </a:pPr>
            <a:r>
              <a:t>文心及第（259戶・屋齡27.3年）</a:t>
            </a:r>
          </a:p>
          <a:p>
            <a:pPr>
              <a:lnSpc>
                <a:spcPct val="120000"/>
              </a:lnSpc>
              <a:spcBef>
                <a:spcPts val="400"/>
              </a:spcBef>
              <a:defRPr sz="950">
                <a:solidFill>
                  <a:srgbClr val="1E293B"/>
                </a:solidFill>
                <a:latin typeface="微軟正黑體"/>
              </a:defRPr>
            </a:pPr>
            <a:r>
              <a:t>• 113年高點：35.7 萬/坪 (10樓)</a:t>
            </a:r>
            <a:br/>
            <a:r>
              <a:t>• 115年最新成交：18.9 萬/坪 (14樓)</a:t>
            </a:r>
            <a:br/>
            <a:r>
              <a:t>• 🔥 高點暴跌 38.2%，高樓層亦破 2 字頭！</a:t>
            </a:r>
            <a:br/>
            <a:r>
              <a:t>• 均價自 30.6 萬腰斬至 18.9 萬</a:t>
            </a:r>
            <a:br/>
            <a:r>
              <a:t>• 文心南路捷運生活圈老屋面臨買盤嚴苛砍價。</a:t>
            </a:r>
          </a:p>
        </p:txBody>
      </p:sp>
      <p:pic>
        <p:nvPicPr>
          <p:cNvPr id="7" name="Picture 6" descr="38_假日半島_成交行情走勢圖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371600"/>
            <a:ext cx="3383280" cy="235948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389120" y="3611880"/>
            <a:ext cx="33832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3703320"/>
            <a:ext cx="3108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B365D"/>
                </a:solidFill>
                <a:latin typeface="微軟正黑體"/>
              </a:defRPr>
            </a:pPr>
            <a:r>
              <a:t>假日半島（219戶・屋齡32.4年）</a:t>
            </a:r>
          </a:p>
          <a:p>
            <a:pPr>
              <a:lnSpc>
                <a:spcPct val="120000"/>
              </a:lnSpc>
              <a:spcBef>
                <a:spcPts val="400"/>
              </a:spcBef>
              <a:defRPr sz="950">
                <a:solidFill>
                  <a:srgbClr val="1E293B"/>
                </a:solidFill>
                <a:latin typeface="微軟正黑體"/>
              </a:defRPr>
            </a:pPr>
            <a:r>
              <a:t>• 113年高點：33.2 萬/坪 (9樓)</a:t>
            </a:r>
            <a:br/>
            <a:r>
              <a:t>• 115年最新成交：24.8 萬/坪 (5樓)</a:t>
            </a:r>
            <a:br/>
            <a:r>
              <a:t>• 均價自 29.4 萬跌至 25.3 萬 (-14.0%)</a:t>
            </a:r>
            <a:br/>
            <a:r>
              <a:t>• 復興路二段名宅高檔震盪下修</a:t>
            </a:r>
            <a:br/>
            <a:r>
              <a:t>• 交易量能萎縮逾八成，買方出價保守謹慎。</a:t>
            </a:r>
          </a:p>
        </p:txBody>
      </p:sp>
      <p:pic>
        <p:nvPicPr>
          <p:cNvPr id="10" name="Picture 9" descr="26_文心高第_成交行情走勢圖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371600"/>
            <a:ext cx="3383280" cy="234661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046720" y="3611880"/>
            <a:ext cx="33832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3703320"/>
            <a:ext cx="3108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B365D"/>
                </a:solidFill>
                <a:latin typeface="微軟正黑體"/>
              </a:defRPr>
            </a:pPr>
            <a:r>
              <a:t>文心高第（266戶・屋齡24.9年）</a:t>
            </a:r>
          </a:p>
          <a:p>
            <a:pPr>
              <a:lnSpc>
                <a:spcPct val="120000"/>
              </a:lnSpc>
              <a:spcBef>
                <a:spcPts val="400"/>
              </a:spcBef>
              <a:defRPr sz="950">
                <a:solidFill>
                  <a:srgbClr val="1E293B"/>
                </a:solidFill>
                <a:latin typeface="微軟正黑體"/>
              </a:defRPr>
            </a:pPr>
            <a:r>
              <a:t>• 113年高點：34.5 萬/坪 (12樓)</a:t>
            </a:r>
            <a:br/>
            <a:r>
              <a:t>• 115年最新成交：30.4 萬/坪 (2樓)</a:t>
            </a:r>
            <a:br/>
            <a:r>
              <a:t>• 均價自 31.3 萬下修至 28.5 萬 (-8.9%)</a:t>
            </a:r>
            <a:br/>
            <a:r>
              <a:t>• 東興路指標建案高檔反轉</a:t>
            </a:r>
            <a:br/>
            <a:r>
              <a:t>• 買盤難耐高總價，委售時間由 2 個月拉長至半年以上。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C14"/>
                </a:solidFill>
                <a:latin typeface="微軟正黑體"/>
              </a:defRPr>
            </a:pPr>
            <a:r>
              <a:t>長億南園 8 樓・房仲向屋主議價溝通簡報</a:t>
            </a:r>
          </a:p>
          <a:p>
            <a:pPr>
              <a:spcBef>
                <a:spcPts val="200"/>
              </a:spcBef>
              <a:defRPr sz="2000" b="1">
                <a:solidFill>
                  <a:srgbClr val="1B365D"/>
                </a:solidFill>
                <a:latin typeface="微軟正黑體"/>
              </a:defRPr>
            </a:pPr>
            <a:r>
              <a:t>指標實證 3【園道與大安聚落破底】龍邦綠園道・大東家華園・文心大地・大安黃金城</a:t>
            </a:r>
          </a:p>
        </p:txBody>
      </p:sp>
      <p:pic>
        <p:nvPicPr>
          <p:cNvPr id="4" name="Picture 3" descr="15_龍邦綠園道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2542032" cy="176313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3154680"/>
            <a:ext cx="254203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246120"/>
            <a:ext cx="235915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B365D"/>
                </a:solidFill>
                <a:latin typeface="微軟正黑體"/>
              </a:defRPr>
            </a:pPr>
            <a:r>
              <a:t>龍邦綠園道（322戶）</a:t>
            </a:r>
          </a:p>
          <a:p>
            <a:pPr>
              <a:lnSpc>
                <a:spcPct val="115000"/>
              </a:lnSpc>
              <a:spcBef>
                <a:spcPts val="300"/>
              </a:spcBef>
              <a:defRPr sz="900">
                <a:solidFill>
                  <a:srgbClr val="1E293B"/>
                </a:solidFill>
                <a:latin typeface="微軟正黑體"/>
              </a:defRPr>
            </a:pPr>
            <a:r>
              <a:t>• 高點：28.5 萬 (114年)</a:t>
            </a:r>
            <a:br/>
            <a:r>
              <a:t>• 最新：23.6 萬 (115/08)</a:t>
            </a:r>
            <a:br/>
            <a:r>
              <a:t>• 均價：23.6 ➜ 21.3 萬</a:t>
            </a:r>
            <a:br/>
            <a:r>
              <a:t>• 園道首排支撐鬆動，價格下修 -9.5%。</a:t>
            </a:r>
          </a:p>
        </p:txBody>
      </p:sp>
      <p:pic>
        <p:nvPicPr>
          <p:cNvPr id="7" name="Picture 6" descr="35_大東家華園_成交行情走勢圖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6432" y="1371600"/>
            <a:ext cx="2542032" cy="177280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456432" y="3154680"/>
            <a:ext cx="254203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7872" y="3246120"/>
            <a:ext cx="235915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B365D"/>
                </a:solidFill>
                <a:latin typeface="微軟正黑體"/>
              </a:defRPr>
            </a:pPr>
            <a:r>
              <a:t>大東家華園（227戶）</a:t>
            </a:r>
          </a:p>
          <a:p>
            <a:pPr>
              <a:lnSpc>
                <a:spcPct val="115000"/>
              </a:lnSpc>
              <a:spcBef>
                <a:spcPts val="300"/>
              </a:spcBef>
              <a:defRPr sz="900">
                <a:solidFill>
                  <a:srgbClr val="1E293B"/>
                </a:solidFill>
                <a:latin typeface="微軟正黑體"/>
              </a:defRPr>
            </a:pPr>
            <a:r>
              <a:t>• 高點：27.7 萬 (113年)</a:t>
            </a:r>
            <a:br/>
            <a:r>
              <a:t>• 最新：20.3 萬 (115/07)</a:t>
            </a:r>
            <a:br/>
            <a:r>
              <a:t>• 🔥 最新成交逼近 1 字頭！</a:t>
            </a:r>
            <a:br/>
            <a:r>
              <a:t>• 均價：24.5 ➜ 23.1 萬</a:t>
            </a:r>
            <a:br/>
            <a:r>
              <a:t>• 復興學府生活圈老屋買盤大退潮。</a:t>
            </a:r>
          </a:p>
        </p:txBody>
      </p:sp>
      <p:pic>
        <p:nvPicPr>
          <p:cNvPr id="10" name="Picture 9" descr="41_文心大地_成交行情走勢圖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344" y="1371600"/>
            <a:ext cx="2542032" cy="177280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181344" y="3154680"/>
            <a:ext cx="254203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2784" y="3246120"/>
            <a:ext cx="235915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B365D"/>
                </a:solidFill>
                <a:latin typeface="微軟正黑體"/>
              </a:defRPr>
            </a:pPr>
            <a:r>
              <a:t>文心大地（207戶）</a:t>
            </a:r>
          </a:p>
          <a:p>
            <a:pPr>
              <a:lnSpc>
                <a:spcPct val="115000"/>
              </a:lnSpc>
              <a:spcBef>
                <a:spcPts val="300"/>
              </a:spcBef>
              <a:defRPr sz="900">
                <a:solidFill>
                  <a:srgbClr val="1E293B"/>
                </a:solidFill>
                <a:latin typeface="微軟正黑體"/>
              </a:defRPr>
            </a:pPr>
            <a:r>
              <a:t>• 高點：28.4 萬 (113年)</a:t>
            </a:r>
            <a:br/>
            <a:r>
              <a:t>• 最新：24.1 萬 (115/05)</a:t>
            </a:r>
            <a:br/>
            <a:r>
              <a:t>• 均價：26.4 ➜ 22.5 萬</a:t>
            </a:r>
            <a:br/>
            <a:r>
              <a:t>• 均價下修 -15.1%，量能急凍、多案滯銷。</a:t>
            </a:r>
          </a:p>
        </p:txBody>
      </p:sp>
      <p:pic>
        <p:nvPicPr>
          <p:cNvPr id="13" name="Picture 12" descr="18_大安黃金城大廈_成交行情走勢圖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6256" y="1371600"/>
            <a:ext cx="2542032" cy="1772802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8906256" y="3154680"/>
            <a:ext cx="254203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97696" y="3246120"/>
            <a:ext cx="235915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B365D"/>
                </a:solidFill>
                <a:latin typeface="微軟正黑體"/>
              </a:defRPr>
            </a:pPr>
            <a:r>
              <a:t>大安黃金城（307戶）</a:t>
            </a:r>
          </a:p>
          <a:p>
            <a:pPr>
              <a:lnSpc>
                <a:spcPct val="115000"/>
              </a:lnSpc>
              <a:spcBef>
                <a:spcPts val="300"/>
              </a:spcBef>
              <a:defRPr sz="900">
                <a:solidFill>
                  <a:srgbClr val="1E293B"/>
                </a:solidFill>
                <a:latin typeface="微軟正黑體"/>
              </a:defRPr>
            </a:pPr>
            <a:r>
              <a:t>• 高點：34.3 萬 (114年)</a:t>
            </a:r>
            <a:br/>
            <a:r>
              <a:t>• 最新：25.2 萬 (115/06)</a:t>
            </a:r>
            <a:br/>
            <a:r>
              <a:t>• 均價：26.6 ➜ 23.7 萬</a:t>
            </a:r>
            <a:br/>
            <a:r>
              <a:t>• 均價下修 -11.1%，中興大學生活圈買盤縮手。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C14"/>
                </a:solidFill>
                <a:latin typeface="微軟正黑體"/>
              </a:defRPr>
            </a:pPr>
            <a:r>
              <a:t>長億南園 8 樓・房仲向屋主議價溝通簡報</a:t>
            </a:r>
          </a:p>
          <a:p>
            <a:pPr>
              <a:spcBef>
                <a:spcPts val="200"/>
              </a:spcBef>
              <a:defRPr sz="2000" b="1">
                <a:solidFill>
                  <a:srgbClr val="1B365D"/>
                </a:solidFill>
                <a:latin typeface="微軟正黑體"/>
              </a:defRPr>
            </a:pPr>
            <a:r>
              <a:t>說服理由 2：實登最新成交跌至 21.4 萬/坪，同社區9樓僅782萬無法追高</a:t>
            </a:r>
          </a:p>
        </p:txBody>
      </p:sp>
      <p:pic>
        <p:nvPicPr>
          <p:cNvPr id="4" name="Picture 3" descr="28_長億南園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217920" cy="47548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132320" y="1371600"/>
            <a:ext cx="4327855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0" y="1554480"/>
            <a:ext cx="3779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365D"/>
                </a:solidFill>
                <a:latin typeface="微軟正黑體"/>
              </a:defRPr>
            </a:pPr>
            <a:r>
              <a:t>🏢 長億南園最新實登實證</a:t>
            </a:r>
          </a:p>
          <a:p>
            <a:pPr>
              <a:spcBef>
                <a:spcPts val="800"/>
              </a:spcBef>
              <a:defRPr sz="1200" b="1">
                <a:solidFill>
                  <a:srgbClr val="2C5E8A"/>
                </a:solidFill>
                <a:latin typeface="微軟正黑體"/>
              </a:defRPr>
            </a:pPr>
            <a:r>
              <a:t>• 115 年 9 月最新成交定錨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  <a:latin typeface="微軟正黑體"/>
              </a:defRPr>
            </a:pPr>
            <a:r>
              <a:t>同社區德富路 4 樓，含車位總價僅 825 萬，拆算單價已跌回 21.4 萬/坪（含車均攤僅 22.1 萬）。</a:t>
            </a:r>
          </a:p>
          <a:p>
            <a:pPr>
              <a:spcBef>
                <a:spcPts val="800"/>
              </a:spcBef>
              <a:defRPr sz="1200" b="1">
                <a:solidFill>
                  <a:srgbClr val="C0392B"/>
                </a:solidFill>
                <a:latin typeface="微軟正黑體"/>
              </a:defRPr>
            </a:pPr>
            <a:r>
              <a:t>• 同社區 9 樓總價僅 782 萬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  <a:latin typeface="微軟正黑體"/>
              </a:defRPr>
            </a:pPr>
            <a:r>
              <a:t>115 年 4 月成交同社區 9 樓總價更只有 782 萬，買方無法出高價追價！</a:t>
            </a:r>
          </a:p>
          <a:p>
            <a:pPr>
              <a:spcBef>
                <a:spcPts val="800"/>
              </a:spcBef>
              <a:defRPr sz="1200" b="1">
                <a:solidFill>
                  <a:srgbClr val="2C5E8A"/>
                </a:solidFill>
                <a:latin typeface="微軟正黑體"/>
              </a:defRPr>
            </a:pPr>
            <a:r>
              <a:t>• 實價登錄更見 20.6 萬紀錄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  <a:latin typeface="微軟正黑體"/>
              </a:defRPr>
            </a:pPr>
            <a:r>
              <a:t>同社區 12 樓曾出現單價 20.6 萬/坪成交紀錄，打破屋主 23 萬以上開價幻想。</a:t>
            </a:r>
          </a:p>
          <a:p>
            <a:pPr>
              <a:spcBef>
                <a:spcPts val="800"/>
              </a:spcBef>
              <a:defRPr sz="1200" b="1">
                <a:solidFill>
                  <a:srgbClr val="2C5E8A"/>
                </a:solidFill>
                <a:latin typeface="微軟正黑體"/>
              </a:defRPr>
            </a:pPr>
            <a:r>
              <a:t>• 歷史長期均價 13～17 萬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  <a:latin typeface="微軟正黑體"/>
              </a:defRPr>
            </a:pPr>
            <a:r>
              <a:t>105～110 年長達六年合理區間為 13～17 萬/坪。前兩年極端高點已過，買方態度堅定理性，無法追高！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C14"/>
                </a:solidFill>
                <a:latin typeface="微軟正黑體"/>
              </a:defRPr>
            </a:pPr>
            <a:r>
              <a:t>長億南園 8 樓・房仲向屋主議價溝通簡報</a:t>
            </a:r>
          </a:p>
          <a:p>
            <a:pPr>
              <a:spcBef>
                <a:spcPts val="200"/>
              </a:spcBef>
              <a:defRPr sz="2000" b="1">
                <a:solidFill>
                  <a:srgbClr val="1B365D"/>
                </a:solidFill>
                <a:latin typeface="微軟正黑體"/>
              </a:defRPr>
            </a:pPr>
            <a:r>
              <a:t>說服理由 3：同一社區即有 4 戶同時銷售，周邊更有數十戶在賣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728655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1645920"/>
                <a:gridCol w="2103120"/>
                <a:gridCol w="2773375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戶別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坪數與格局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目前開價 / 單價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銷售現況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市場競爭威脅評估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【本案】8 樓大三房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42.23 坪 (室內 32 坪)</a:t>
                      </a:r>
                      <a:br/>
                      <a:r>
                        <a:t>3房2廳2衛+機上車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998 萬</a:t>
                      </a:r>
                      <a:br/>
                      <a:r>
                        <a:t>(23.6 萬/坪)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主力推廣戶別</a:t>
                      </a:r>
                      <a:br/>
                      <a:r>
                        <a:t>歷經三次降價求售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同社區主力競品，開價已被市場定錨於 998 萬。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10 樓高樓三房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35.61 坪 (室內 27 坪)</a:t>
                      </a:r>
                      <a:br/>
                      <a:r>
                        <a:t>3房2廳2衛+機上車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958 萬</a:t>
                      </a:r>
                      <a:br/>
                      <a:r>
                        <a:t>(26.9 萬/坪)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主打免千萬高樓三房</a:t>
                      </a:r>
                      <a:br/>
                      <a:r>
                        <a:t>積極推銷中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總價比 8 樓便宜 40 萬，強烈瓜分看屋客。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4 樓大三房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37.29 坪 (室內 28 坪)</a:t>
                      </a:r>
                      <a:br/>
                      <a:r>
                        <a:t>3房2廳2衛+休旅車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898 萬</a:t>
                      </a:r>
                      <a:br/>
                      <a:r>
                        <a:t>(24.1 萬/坪)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社區最低總價門檻</a:t>
                      </a:r>
                      <a:br/>
                      <a:r>
                        <a:t>承辦經紀人主推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開價直接殺入 800 多萬，買方第一眼首選，吸走大部分首購自住客。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 樓巨露台平車戶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66.28 坪 (含露台31坪)</a:t>
                      </a:r>
                      <a:br/>
                      <a:r>
                        <a:t>3房2廳2衛+坡道平車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1,258 萬</a:t>
                      </a:r>
                      <a:br/>
                      <a:r>
                        <a:t>(18.9 萬/坪)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近期主動降價 70 萬</a:t>
                      </a:r>
                      <a:br/>
                      <a:r>
                        <a:t>屋主讓利積極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社區極罕見平面車位＋31坪大露台，單價殺至 18.9 萬，讓利誠意十足。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303520"/>
            <a:ext cx="10728655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0392B"/>
                </a:solidFill>
                <a:latin typeface="微軟正黑體"/>
              </a:defRPr>
            </a:pPr>
            <a:r>
              <a:t>💡 房仲核心建言：同社區即有 4 戶在售，附近社區類似總價物件總計更有數十戶同時銷售！「誰先適度讓利，誰就能先把數百萬現金抱回家」！</a:t>
            </a:r>
            <a:br/>
            <a:r>
              <a:t>堅持高價只會變成替其他物件做免費抬轎。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C14"/>
                </a:solidFill>
                <a:latin typeface="微軟正黑體"/>
              </a:defRPr>
            </a:pPr>
            <a:r>
              <a:t>長億南園 8 樓・房仲向屋主議價溝通簡報</a:t>
            </a:r>
          </a:p>
          <a:p>
            <a:pPr>
              <a:spcBef>
                <a:spcPts val="200"/>
              </a:spcBef>
              <a:defRPr sz="2000" b="1">
                <a:solidFill>
                  <a:srgbClr val="1B365D"/>
                </a:solidFill>
                <a:latin typeface="微軟正黑體"/>
              </a:defRPr>
            </a:pPr>
            <a:r>
              <a:t>說服理由 4：相同價位可買『921 震後宅』，震前老屋存在安全疑慮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2120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0392B"/>
                </a:solidFill>
                <a:latin typeface="微軟正黑體"/>
              </a:defRPr>
            </a:pPr>
            <a:r>
              <a:t>1. 921 震災曾列『需注意建物』紀錄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200">
                <a:solidFill>
                  <a:srgbClr val="1E293B"/>
                </a:solidFill>
                <a:latin typeface="微軟正黑體"/>
              </a:defRPr>
            </a:pPr>
            <a:r>
              <a:t>• 同社區產調白紙黑字載明：『本物件曾被台中市政府列為需注意建物，雖目前已無列管，但收定後及簽約時勿承諾貸款成數』。</a:t>
            </a:r>
            <a:br/>
            <a:r>
              <a:t>• 買方是純自住，對震災歷史紀錄非常敏感，存在天然的耐震安全心理抗性。</a:t>
            </a:r>
            <a:br/>
            <a:r>
              <a:t>• 銀行內部亦有歷史紀錄，鑑價與成數極度保守！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2120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98C14"/>
                </a:solidFill>
                <a:latin typeface="微軟正黑體"/>
              </a:defRPr>
            </a:pPr>
            <a:r>
              <a:t>2. 相同價位市場可選『921 震後宅』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200">
                <a:solidFill>
                  <a:srgbClr val="1E293B"/>
                </a:solidFill>
                <a:latin typeface="微軟正黑體"/>
              </a:defRPr>
            </a:pPr>
            <a:r>
              <a:t>• 長億南園民國 80 年興建（屋齡 34.7 年），適用 921 震前舊耐震法規。</a:t>
            </a:r>
            <a:br/>
            <a:r>
              <a:t>• 買方直言：『在目前 800、900 萬價位，市場上完全可以挑到 921 震後興建、耐震法規提升的中古大樓(大慶國宅)，對地震疑慮完全消除！』，買方對大慶國宅亦展現高度興趣。</a:t>
            </a:r>
            <a:br/>
            <a:r>
              <a:t>• 震前老屋在現行市場上具有無法抹滅的實質折價抗性！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C14"/>
                </a:solidFill>
                <a:latin typeface="微軟正黑體"/>
              </a:defRPr>
            </a:pPr>
            <a:r>
              <a:t>長億南園 8 樓・房仲向屋主議價溝通簡報</a:t>
            </a:r>
          </a:p>
          <a:p>
            <a:pPr>
              <a:spcBef>
                <a:spcPts val="200"/>
              </a:spcBef>
              <a:defRPr sz="2000" b="1">
                <a:solidFill>
                  <a:srgbClr val="1B365D"/>
                </a:solidFill>
                <a:latin typeface="微軟正黑體"/>
              </a:defRPr>
            </a:pPr>
            <a:r>
              <a:t>說服理由 5：近年年輕人只買新小宅，買 34 年老屋的買家只剩中年家庭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2120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0392B"/>
                </a:solidFill>
                <a:latin typeface="微軟正黑體"/>
              </a:defRPr>
            </a:pPr>
            <a:r>
              <a:t>現代年輕首購族（25～35歲）</a:t>
            </a:r>
          </a:p>
          <a:p>
            <a:pPr>
              <a:lnSpc>
                <a:spcPct val="130000"/>
              </a:lnSpc>
              <a:spcBef>
                <a:spcPts val="1400"/>
              </a:spcBef>
              <a:defRPr sz="1200">
                <a:solidFill>
                  <a:srgbClr val="1E293B"/>
                </a:solidFill>
                <a:latin typeface="微軟正黑體"/>
              </a:defRPr>
            </a:pPr>
            <a:r>
              <a:t>❌ 絕不買 30 幾年陳屋</a:t>
            </a:r>
            <a:br/>
            <a:r>
              <a:t>• 偏好重劃區預售屋、新成屋、小宅兩房。</a:t>
            </a:r>
            <a:br/>
            <a:r>
              <a:t>• 重視公設會館、飯店物業管理、電動車充電樁。</a:t>
            </a:r>
            <a:br/>
            <a:r>
              <a:t>• 看到 34 年無公設外觀老舊大樓，直接轉頭放棄。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2120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7AE60"/>
                </a:solidFill>
                <a:latin typeface="微軟正黑體"/>
              </a:defRPr>
            </a:pPr>
            <a:r>
              <a:t>中年成熟家庭買方（40～55歲）</a:t>
            </a:r>
          </a:p>
          <a:p>
            <a:pPr>
              <a:lnSpc>
                <a:spcPct val="130000"/>
              </a:lnSpc>
              <a:spcBef>
                <a:spcPts val="1400"/>
              </a:spcBef>
              <a:defRPr sz="1200">
                <a:solidFill>
                  <a:srgbClr val="1E293B"/>
                </a:solidFill>
                <a:latin typeface="微軟正黑體"/>
              </a:defRPr>
            </a:pPr>
            <a:r>
              <a:t>✅ 老牌大樓唯一真實買盤！</a:t>
            </a:r>
            <a:br/>
            <a:r>
              <a:t>• 重視室內實質大坪數（喜愛本戶室內 32 坪大空間）。</a:t>
            </a:r>
            <a:br/>
            <a:r>
              <a:t>• 財務務實健全、自備款充裕、珍惜整理過的水電衛浴。</a:t>
            </a:r>
            <a:br/>
            <a:r>
              <a:t>• 剛好就是本組買方！近兩年買盤極端稀缺，錯過難再尋！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C14"/>
                </a:solidFill>
                <a:latin typeface="微軟正黑體"/>
              </a:defRPr>
            </a:pPr>
            <a:r>
              <a:t>長億南園 8 樓・房仲向屋主議價溝通簡報</a:t>
            </a:r>
          </a:p>
          <a:p>
            <a:pPr>
              <a:spcBef>
                <a:spcPts val="200"/>
              </a:spcBef>
              <a:defRPr sz="2000" b="1">
                <a:solidFill>
                  <a:srgbClr val="1B365D"/>
                </a:solidFill>
                <a:latin typeface="微軟正黑體"/>
              </a:defRPr>
            </a:pPr>
            <a:r>
              <a:t>說服理由 6：買方曾租住南屯大墩人文有感情，信義房屋正積極洽談中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728655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206240"/>
                <a:gridCol w="4236415"/>
              </a:tblGrid>
              <a:tr h="69494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評估指標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南屯區【大墩人文】(約 188 戶・信義積極洽談中)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南區【長億南園 8 樓】(本案)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地段價值與增值性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南屯成熟富人商圈，地段保值抗跌性全台中名列前茅。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南區老舊市區，受十三期新成屋比價排擠。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交通與生活機能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緊鄰文心森林公園商圈、捷運綠線、南屯好市多(Costco)。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南區德富路商圈，生活機能便利但無大型好市多與精華捷運。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房屋格局與空間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正三房格局，全社區約 188 戶規模適中，質感佳，室內達 31.5 坪滿意度高。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室內 32 坪超大空間（本戶唯一最大勝出亮點！）。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買方當下態度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買方曾租住大墩人文有深厚感情，信義房屋積極洽談中！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若本戶屋主無意願協調溝通，買家只好轉向買大墩人文！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120640"/>
            <a:ext cx="10728655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0392B"/>
                </a:solidFill>
                <a:latin typeface="微軟正黑體"/>
              </a:defRPr>
            </a:pPr>
            <a:r>
              <a:t>⚠️ 經紀人急迫預警：買方曾租住大墩人文有深厚感情，信義房屋正積極帶他們洽談！若大哥／大姐無意願協調溝通，買方就只好轉向向信義房屋購買大墩人文了！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C14"/>
                </a:solidFill>
                <a:latin typeface="微軟正黑體"/>
              </a:defRPr>
            </a:pPr>
            <a:r>
              <a:t>長億南園 8 樓・房仲向屋主議價溝通簡報</a:t>
            </a:r>
          </a:p>
          <a:p>
            <a:pPr>
              <a:spcBef>
                <a:spcPts val="200"/>
              </a:spcBef>
              <a:defRPr sz="2000" b="1">
                <a:solidFill>
                  <a:srgbClr val="1B365D"/>
                </a:solidFill>
                <a:latin typeface="微軟正黑體"/>
              </a:defRPr>
            </a:pPr>
            <a:r>
              <a:t>說服理由 7：雙衛浴皆無對外窗＋舊裝潢清運泥作工程龐大，買方無法追高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2120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365D"/>
                </a:solidFill>
                <a:latin typeface="微軟正黑體"/>
              </a:defRPr>
            </a:pPr>
            <a:r>
              <a:t>屋況客觀限制與必備整修款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150">
                <a:solidFill>
                  <a:srgbClr val="1E293B"/>
                </a:solidFill>
                <a:latin typeface="微軟正黑體"/>
              </a:defRPr>
            </a:pPr>
            <a:r>
              <a:t>• 肯定屋主 6 年前水電衛浴翻新用心，但已有 6 年自然折舊。</a:t>
            </a:r>
            <a:br/>
            <a:r>
              <a:t>• 原本舊有裝潢、衣櫃、固定書桌，買方均需拆除清運，重新施作泥作、粉刷、油漆等工程，額外成本負擔沉重！</a:t>
            </a:r>
            <a:br/>
            <a:r>
              <a:t>• 雙衛浴皆無對外窗（暗房衛浴），通風排濕不良，須加裝獨立抽風暖風乾燥系統。</a:t>
            </a:r>
            <a:br/>
            <a:r>
              <a:t>• 扣除拆除清運與泥作整修必備支出，買方購屋實質預算已達上限。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2120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365D"/>
                </a:solidFill>
                <a:latin typeface="微軟正黑體"/>
              </a:defRPr>
            </a:pPr>
            <a:r>
              <a:t>買方無法追高，絕非惡意殺價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150">
                <a:solidFill>
                  <a:srgbClr val="1E293B"/>
                </a:solidFill>
                <a:latin typeface="微軟正黑體"/>
              </a:defRPr>
            </a:pPr>
            <a:r>
              <a:t>• 買方是純自住家庭，財務預算客觀嚴格。</a:t>
            </a:r>
            <a:br/>
            <a:r>
              <a:t>• 銀行因 34.7 年高屋齡與 921 歷史，核貸成數極其保守，買方自備款負擔沈重！</a:t>
            </a:r>
            <a:br/>
            <a:r>
              <a:t>• 扣除拆除清運、泥作粉刷與水電整修成本後，買方已出到自身務實極限，真的無法出高價追價！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C14"/>
                </a:solidFill>
                <a:latin typeface="微軟正黑體"/>
              </a:defRPr>
            </a:pPr>
            <a:r>
              <a:t>長億南園 8 樓・房仲向屋主議價溝通簡報</a:t>
            </a:r>
          </a:p>
          <a:p>
            <a:pPr>
              <a:spcBef>
                <a:spcPts val="200"/>
              </a:spcBef>
              <a:defRPr sz="2000" b="1">
                <a:solidFill>
                  <a:srgbClr val="1B365D"/>
                </a:solidFill>
                <a:latin typeface="微軟正黑體"/>
              </a:defRPr>
            </a:pPr>
            <a:r>
              <a:t>說服理由 8：107 年買 670 萬持有滿 8 年，大賺出場＋享 400 萬免稅額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7277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900830"/>
                <a:gridCol w="3900830"/>
              </a:tblGrid>
              <a:tr h="69494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財務 / 稅務項目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歷史數據與條件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本次成交預估結果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屋主當初買入成本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民國 107 年 6 月購入：670 萬 (15.9 萬/坪)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本金 670 萬 100% 全數收回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產權持有時間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107 年 7 月登記至今：已整整滿 8 年！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已度過房地合一高稅率重課期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成交實質獲利評估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在較高價位順利成交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完全覆蓋成本與裝修折舊，淨賺數十萬現金！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房地合一自住免稅額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持有滿 8 年，符合自住設籍滿 6 年條件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享有 400 萬免稅額，獲利免繳稅，全額現金落袋！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120640"/>
            <a:ext cx="10728655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7AE60"/>
                </a:solidFill>
                <a:latin typeface="微軟正黑體"/>
              </a:defRPr>
            </a:pPr>
            <a:r>
              <a:t>🏆 獲利了結論點：屋主買 670 萬已享受 8 年居住增值，今天賣出保證倒賺幾十萬現金且不用繳房地合一稅！</a:t>
            </a:r>
            <a:br/>
            <a:r>
              <a:t>在房市反轉向下之際，及時把現金抱在身上，比繼續套在 35 年老屋承擔跌價風險聰明太多！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C14"/>
                </a:solidFill>
                <a:latin typeface="微軟正黑體"/>
              </a:defRPr>
            </a:pPr>
            <a:r>
              <a:t>長億南園 8 樓・房仲向屋主議價溝通簡報</a:t>
            </a:r>
          </a:p>
          <a:p>
            <a:pPr>
              <a:spcBef>
                <a:spcPts val="200"/>
              </a:spcBef>
              <a:defRPr sz="2000" b="1">
                <a:solidFill>
                  <a:srgbClr val="1B365D"/>
                </a:solidFill>
                <a:latin typeface="微軟正黑體"/>
              </a:defRPr>
            </a:pPr>
            <a:r>
              <a:t>說服理由 9 &amp; 10：十三期新案夾擊磁吸，現金落袋理財勝過套牢老屋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2120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98C14"/>
                </a:solidFill>
                <a:latin typeface="微軟正黑體"/>
              </a:defRPr>
            </a:pPr>
            <a:r>
              <a:t>理由 9：十三期新案交屋潮磁吸比價</a:t>
            </a:r>
          </a:p>
          <a:p>
            <a:pPr>
              <a:lnSpc>
                <a:spcPct val="130000"/>
              </a:lnSpc>
              <a:spcBef>
                <a:spcPts val="1400"/>
              </a:spcBef>
              <a:defRPr sz="1200">
                <a:solidFill>
                  <a:srgbClr val="1E293B"/>
                </a:solidFill>
                <a:latin typeface="微軟正黑體"/>
              </a:defRPr>
            </a:pPr>
            <a:r>
              <a:t>• 南區緊鄰十三期重劃區，周邊大量現代化新成屋陸續完工交屋。</a:t>
            </a:r>
            <a:br/>
            <a:r>
              <a:t>• 具備高預算的買盤全面被吸走，對比出 34 年老舊大樓在管理、公設與外觀上的巨大折舊落差。</a:t>
            </a:r>
            <a:br/>
            <a:r>
              <a:t>• 二手老屋市場邊緣化日益嚴重，現在不賣，未來的買家只會越來越少！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2120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7AE60"/>
                </a:solidFill>
                <a:latin typeface="微軟正黑體"/>
              </a:defRPr>
            </a:pPr>
            <a:r>
              <a:t>理由 10：收回數百萬現金創造穩定收益</a:t>
            </a:r>
          </a:p>
          <a:p>
            <a:pPr>
              <a:lnSpc>
                <a:spcPct val="130000"/>
              </a:lnSpc>
              <a:spcBef>
                <a:spcPts val="1400"/>
              </a:spcBef>
              <a:defRPr sz="1200">
                <a:solidFill>
                  <a:srgbClr val="1E293B"/>
                </a:solidFill>
                <a:latin typeface="微軟正黑體"/>
              </a:defRPr>
            </a:pPr>
            <a:r>
              <a:t>• 目前央行利率與金融收益處於歷史高檔。</a:t>
            </a:r>
            <a:br/>
            <a:r>
              <a:t>• 賣屋收回 670 萬本金加獲利，投入高股息或穩健定存，每年穩領 20～30 萬被動收入！</a:t>
            </a:r>
            <a:br/>
            <a:r>
              <a:t>• 完全免除老屋折舊、房屋稅、地價稅與管理費，資金效益遠勝套牢在緩跌老屋！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C14"/>
                </a:solidFill>
                <a:latin typeface="微軟正黑體"/>
              </a:defRPr>
            </a:pPr>
            <a:r>
              <a:t>長億南園 8 樓・房仲向屋主議價溝通簡報</a:t>
            </a:r>
          </a:p>
          <a:p>
            <a:pPr>
              <a:spcBef>
                <a:spcPts val="200"/>
              </a:spcBef>
              <a:defRPr sz="2000" b="1">
                <a:solidFill>
                  <a:srgbClr val="1B365D"/>
                </a:solidFill>
                <a:latin typeface="微軟正黑體"/>
              </a:defRPr>
            </a:pPr>
            <a:r>
              <a:t>收尾逼單促成：『只要屋主願意談，買方願意立即下斡旋金！』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4754880"/>
          </a:xfrm>
          <a:prstGeom prst="rect">
            <a:avLst/>
          </a:prstGeom>
          <a:solidFill>
            <a:srgbClr val="EAFAF1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10058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7AE60"/>
                </a:solidFill>
                <a:latin typeface="微軟正黑體"/>
              </a:defRPr>
            </a:pPr>
            <a:r>
              <a:t>🎯 房仲逼單最關鍵的一句話（激發屋主落袋為安與急迫感）：</a:t>
            </a:r>
          </a:p>
          <a:p>
            <a:pPr>
              <a:lnSpc>
                <a:spcPct val="130000"/>
              </a:lnSpc>
              <a:spcBef>
                <a:spcPts val="1400"/>
              </a:spcBef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「大哥／大姐，現在市場上光看不買的假客人很多，但真正有誠意的買方少之又少。</a:t>
            </a:r>
            <a:br/>
            <a:br/>
            <a:r>
              <a:t>這組自住買方非常有誠意：只要大哥／大姐願意談，買方願意立即下斡旋金，隨時配合我們正式簽約履約！</a:t>
            </a:r>
            <a:br/>
            <a:br/>
            <a:r>
              <a:t>您 107 年買 670 萬，現在成交已經讓您穩穩賺錢出場，又享有滿 8 年自住 400 萬免稅優勢，還能完美避開後面南區老屋量縮價跌與新案夾擊的風險。</a:t>
            </a:r>
            <a:br/>
            <a:br/>
            <a:r>
              <a:t>信義房屋那邊今天還在積極催買方去簽南屯的大墩人文，請大哥／大姐今天就做決定，給我們授權簽字，我們立刻幫您把現金穩穩落袋！」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98C14"/>
                </a:solidFill>
                <a:latin typeface="微軟正黑體"/>
              </a:defRPr>
            </a:pPr>
            <a:r>
              <a:t>抓緊大盤反轉前夕  •  把握唯一誠意自住買盤</a:t>
            </a:r>
          </a:p>
          <a:p>
            <a:pPr algn="ctr">
              <a:spcBef>
                <a:spcPts val="1600"/>
              </a:spcBef>
              <a:defRPr sz="2200" b="1">
                <a:solidFill>
                  <a:srgbClr val="FFFFFF"/>
                </a:solidFill>
                <a:latin typeface="微軟正黑體"/>
              </a:defRPr>
            </a:pPr>
            <a:r>
              <a:t>恭祝 屋主資產安全變現・圓滿落袋為安大贏家！</a:t>
            </a:r>
          </a:p>
          <a:p>
            <a:pPr algn="ctr">
              <a:spcBef>
                <a:spcPts val="2400"/>
              </a:spcBef>
              <a:defRPr sz="1300">
                <a:solidFill>
                  <a:srgbClr val="BED2F0"/>
                </a:solidFill>
                <a:latin typeface="微軟正黑體"/>
              </a:defRPr>
            </a:pPr>
            <a:r>
              <a:t>永義房屋專案團隊 敬製  |  長億南園 8 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