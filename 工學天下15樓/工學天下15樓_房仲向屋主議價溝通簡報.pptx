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8C14"/>
                </a:solidFill>
                <a:latin typeface="微軟正黑體"/>
              </a:defRPr>
            </a:pPr>
            <a:r>
              <a:t>工學天下 15 樓之 1（次頂樓溫馨三房・銷售編號 4262WL）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房仲向屋主議價溝通簡報</a:t>
            </a:r>
          </a:p>
          <a:p>
            <a:pPr>
              <a:spcBef>
                <a:spcPts val="1400"/>
              </a:spcBef>
              <a:defRPr sz="1400">
                <a:solidFill>
                  <a:srgbClr val="C8D7EB"/>
                </a:solidFill>
                <a:latin typeface="微軟正黑體"/>
              </a:defRPr>
            </a:pPr>
            <a:r>
              <a:t>【市場大盤反轉急凍・南區10大指標社區全數走跌・工學天下全紀錄價量剖析・同社區23間競售賣壓・南屯大墩人文與南區長億南園競品威脅・掌握稀缺成熟自住買盤】</a:t>
            </a:r>
          </a:p>
          <a:p>
            <a:pPr>
              <a:spcBef>
                <a:spcPts val="3600"/>
              </a:spcBef>
              <a:defRPr sz="1100">
                <a:solidFill>
                  <a:srgbClr val="96AFCD"/>
                </a:solidFill>
                <a:latin typeface="微軟正黑體"/>
              </a:defRPr>
            </a:pPr>
            <a:r>
              <a:t>報告單位：信義房屋專案團隊  |  標的：工學北路 141 號 15 樓之 1（40.10坪無車位）  |  買方狀況：成熟中年自住家庭・做足功課・屋主願談可立即下斡旋金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執行摘要：屋主當下面臨的 4 大關鍵決策局勢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14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  <a:latin typeface="微軟正黑體"/>
              </a:defRPr>
            </a:pPr>
            <a:r>
              <a:t>📉 大盤確認反轉下修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第七波信用管制後，南區 53 棟老牌社區成交量暴跌 76.4%！中位數自 26.9 萬見頂回落，價格正式進入『緩跌』格局，近兩年買盤極端稀缺，越晚賣越難賣。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2514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C14"/>
                </a:solidFill>
                <a:latin typeface="微軟正黑體"/>
              </a:defRPr>
            </a:pPr>
            <a:r>
              <a:t>🏢 同社區 23 戶競售賣壓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同社區 591 即有高達 23 戶在售，三房佔 22 戶！鄰近老牌社區更有數十戶在賣，委售大塞車，削價競爭劇烈，誰先讓利誰先拿現金！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2514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E8A"/>
                </a:solidFill>
                <a:latin typeface="微軟正黑體"/>
              </a:defRPr>
            </a:pPr>
            <a:r>
              <a:t>⚡ 兩大強烈競品威脅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買方正同時洽談南屯『大墩人文 11 樓』（室內 31.5 坪無灌水梯間）與南區『長億南園 8 樓』（室內 32 坪且水電已翻新），本案屋主若無意願協調，買方隨時轉移簽約！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371600"/>
            <a:ext cx="2514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55448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  <a:latin typeface="微軟正黑體"/>
              </a:defRPr>
            </a:pPr>
            <a:r>
              <a:t>🎯 把握稀缺成熟自住買方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年輕人只買新小宅，買 31.7 年老屋的只剩中年家庭。買方純自住，只要屋主願意談，可立即下斡旋金，是目前市場極罕見的實質好買盤！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宏觀鐵證 1：南區大盤暴跌 76.4%，價格正式向下反轉</a:t>
            </a:r>
          </a:p>
        </p:txBody>
      </p:sp>
      <p:pic>
        <p:nvPicPr>
          <p:cNvPr id="4" name="Picture 3" descr="00_台中市南區25年以上大型社區_大盤匯總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2320" y="1371600"/>
            <a:ext cx="432785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554480"/>
            <a:ext cx="3779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📊 全南區大盤關鍵數據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大盤樣本完整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全南區 53 棟 25 年以上老牌大社區、涵蓋 21,208 戶、累計 7,022 筆成交實價登錄。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歷史見頂反轉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113 年大盤中位數衝上 26.9 萬/坪歷史極值，第七波信用管制後急速反轉下修至 24.6 萬/坪。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成交量雪崩 76.4%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年成交量自高峰 738 件崩縮至 115 年僅 174 件，市場動能徹底急凍！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『量先價行』鐵律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沒有成交量支撐，老屋價格只有緩跌修正一途，不可再心存追高幻想！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大盤走勢預估：房市趨冷只會緩跌，房屋年齡越老越便宜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  <a:latin typeface="微軟正黑體"/>
              </a:defRPr>
            </a:pPr>
            <a:r>
              <a:t>1. 信用管制掐死市場流動性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央行第七波信用管制全面收緊房貸成數。</a:t>
            </a:r>
            <a:br/>
            <a:r>
              <a:t>• 銀行鑑價極度保守，放款滿水位持續延燒。</a:t>
            </a:r>
            <a:br/>
            <a:r>
              <a:t>• 實質房貸利率站穩 2.5%～3.0%，買方負擔能力大幅縮水，只會持續觀望砍價。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C14"/>
                </a:solidFill>
                <a:latin typeface="微軟正黑體"/>
              </a:defRPr>
            </a:pPr>
            <a:r>
              <a:t>2. 30 年老屋金融大關縮限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工學天下已 31.7 年，跨越 30 年金融門檻。</a:t>
            </a:r>
            <a:br/>
            <a:r>
              <a:t>• 銀行內規『屋齡＋貸款年限』嚴格受限，無法貸滿 30/40 年長天期。</a:t>
            </a:r>
            <a:br/>
            <a:r>
              <a:t>• 買方每月還款本金加重，老屋接手門檻越來越高，未來只剩全現金買方。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3. 未來三年價格逐年回測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根據南區大盤模型推估：</a:t>
            </a:r>
            <a:br/>
            <a:r>
              <a:t>   - 116 年下探：21.1 萬/坪</a:t>
            </a:r>
            <a:br/>
            <a:r>
              <a:t>   - 117 年下探：18.0 萬/坪</a:t>
            </a:r>
            <a:br/>
            <a:r>
              <a:t>   - 118 年回測歷史支撐：15.8 萬/坪</a:t>
            </a:r>
            <a:br/>
            <a:r>
              <a:t>• 趁目前 20 幾萬高檔反轉初期賣出，是資產最佳安全落袋窗口！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客觀實證：全南區 10 大類似指標老牌社區實價登錄全數反轉向下（鐵證總表）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97280"/>
                <a:gridCol w="1645920"/>
                <a:gridCol w="1645920"/>
                <a:gridCol w="1554480"/>
                <a:gridCol w="1097280"/>
                <a:gridCol w="1767535"/>
              </a:tblGrid>
              <a:tr h="34913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指標社區建案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總戶數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歷史最高單價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115年最新成交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113➜115均價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跌幅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實登走勢反轉特徵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長億城攬翠區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669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29.5 萬 (113/06)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26.9 萬 (115/06)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26.3 ➜ 23.2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-11.9%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工學大案高點已過，量能大縮85%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工學天下 (本社區)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452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29.0 萬 (113/07)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19.6 萬 (115/06)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24.7 ➜ 20.7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最新單價暴跌，正式摜破 2 字頭！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長億南園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171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27.2 萬 (113/05)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21.4 萬 (115/09)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25.1 ➜ 21.8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-13.1%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德富路指標回檔，9樓僅782萬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龍邦綠園道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322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28.5 萬 (114/02)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23.6 萬 (115/08)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23.6 ➜ 21.3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綠園道知名名宅高檔回落、買盤縮手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文心高第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266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34.5 萬 (113/05)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30.4 萬 (115/07)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31.3 ➜ 28.5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-8.9%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東興路高樓名廈見頂反轉修正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大東家華園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227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27.7 萬 (113/03)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20.3 萬 (115/07)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24.5 ➜ 23.1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學府商圈最新成交逼近 1 字頭！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假日半島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219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33.2 萬 (113/10)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24.8 萬 (115/07)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29.4 ➜ 25.3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-14.0%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復興路指標大樓下修逾 14%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文心大地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207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28.4 萬 (113/07)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24.1 萬 (115/05)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26.4 ➜ 22.5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文心南路聚落量能雪崩、價格下挫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文心及第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259 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35.7 萬 (113/06)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18.9 萬 (115/03)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30.6 ➜ 18.9 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-38.2%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歷史極值暴跌，最新成交跌破 2 字頭！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京城特區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388 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25.9 萬 (113/03)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18.6 萬 (115/05)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22.4 ➜ 20.9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學府路大案連跌，最新跌至 18.6 萬！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349240"/>
            <a:ext cx="10728655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0392B"/>
                </a:solidFill>
                <a:latin typeface="微軟正黑體"/>
              </a:defRPr>
            </a:pPr>
            <a:r>
              <a:t>🎯 房仲議價關鍵說服點：全南區老牌大社區無一倖免！高點已過，量縮價跌是整個大盤的系統性下修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這 10 個指標老牌社區全部在 113 年見頂後反轉向下！其中工學天下、京城特區、文心及第最新成交更已直接跌破 2 字頭！工學天下絕非個案，此時若不趁高檔反轉初期讓利成交，後續跌幅只會更深！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指標實證 1【工學商圈大案全面回檔】長億城・工學天下・京城特區</a:t>
            </a:r>
          </a:p>
        </p:txBody>
      </p:sp>
      <p:pic>
        <p:nvPicPr>
          <p:cNvPr id="4" name="Picture 3" descr="03_長億城攬翠區陽光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383280" cy="23594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長億城攬翠區（669戶・屋齡30.9年）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113年高點：29.5 萬/坪 (8樓)</a:t>
            </a:r>
            <a:br/>
            <a:r>
              <a:t>• 115年最新成交：26.9 萬/坪</a:t>
            </a:r>
            <a:br/>
            <a:r>
              <a:t>• 均價自 26.3 萬跌至 23.2 萬 (-11.9%)</a:t>
            </a:r>
            <a:br/>
            <a:r>
              <a:t>• 年成交量自高峰 63 件雪崩至 9 件！</a:t>
            </a:r>
            <a:br/>
            <a:r>
              <a:t>• 669 戶大社區委售競爭激烈，價格持續下探。</a:t>
            </a:r>
          </a:p>
        </p:txBody>
      </p:sp>
      <p:pic>
        <p:nvPicPr>
          <p:cNvPr id="7" name="Picture 6" descr="07_工學天下_成交行情走勢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383280" cy="23594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891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工學天下（452戶・屋齡31.7年）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113年高點：29.0 萬/坪 (9樓)</a:t>
            </a:r>
            <a:br/>
            <a:r>
              <a:t>• 115年最新成交：19.6 萬/坪 (7樓)</a:t>
            </a:r>
            <a:br/>
            <a:r>
              <a:t>• 🔥 最新成交正式跌破 2 字頭！</a:t>
            </a:r>
            <a:br/>
            <a:r>
              <a:t>• 均價自 24.7 萬跌至 20.7 萬 (-16.1%)</a:t>
            </a:r>
            <a:br/>
            <a:r>
              <a:t>• 買盤對 30 年以上無車位老屋縮手，殺價猛烈。</a:t>
            </a:r>
          </a:p>
        </p:txBody>
      </p:sp>
      <p:pic>
        <p:nvPicPr>
          <p:cNvPr id="10" name="Picture 9" descr="11_京城特區_成交行情走勢圖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383280" cy="23466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467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京城特區（388戶・屋齡29.1年）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113年高點：25.9 萬/坪 (18樓)</a:t>
            </a:r>
            <a:br/>
            <a:r>
              <a:t>• 115年最新成交：18.6 萬/坪 (3樓)</a:t>
            </a:r>
            <a:br/>
            <a:r>
              <a:t>• 🔥 跌破 2 字頭，單價見 18.6 萬低點！</a:t>
            </a:r>
            <a:br/>
            <a:r>
              <a:t>• 均價自 22.4 萬下修至 20.9 萬 (-6.9%)</a:t>
            </a:r>
            <a:br/>
            <a:r>
              <a:t>• 學府路核心生活圈老屋買氣急凍、去化極慢。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指標實證 2【復興與文心核心聚落反轉】文心及第・假日半島・文心高第</a:t>
            </a:r>
          </a:p>
        </p:txBody>
      </p:sp>
      <p:pic>
        <p:nvPicPr>
          <p:cNvPr id="4" name="Picture 3" descr="27_文心及第文心南路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383280" cy="23594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文心及第（259戶・屋齡27.3年）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113年高點：35.7 萬/坪 (10樓)</a:t>
            </a:r>
            <a:br/>
            <a:r>
              <a:t>• 115年最新成交：18.9 萬/坪 (14樓)</a:t>
            </a:r>
            <a:br/>
            <a:r>
              <a:t>• 🔥 高點暴跌 38.2%，高樓層亦破 2 字頭！</a:t>
            </a:r>
            <a:br/>
            <a:r>
              <a:t>• 均價自 30.6 萬腰斬至 18.9 萬</a:t>
            </a:r>
            <a:br/>
            <a:r>
              <a:t>• 文心南路捷運生活圈老屋面臨買盤嚴苛砍價。</a:t>
            </a:r>
          </a:p>
        </p:txBody>
      </p:sp>
      <p:pic>
        <p:nvPicPr>
          <p:cNvPr id="7" name="Picture 6" descr="38_假日半島_成交行情走勢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383280" cy="23594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891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假日半島（219戶・屋齡32.4年）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113年高點：33.2 萬/坪 (9樓)</a:t>
            </a:r>
            <a:br/>
            <a:r>
              <a:t>• 115年最新成交：24.8 萬/坪 (5樓)</a:t>
            </a:r>
            <a:br/>
            <a:r>
              <a:t>• 均價自 29.4 萬跌至 25.3 萬 (-14.0%)</a:t>
            </a:r>
            <a:br/>
            <a:r>
              <a:t>• 復興路二段名宅高檔震盪下修</a:t>
            </a:r>
            <a:br/>
            <a:r>
              <a:t>• 交易量能萎縮逾八成，買方出價保守謹慎。</a:t>
            </a:r>
          </a:p>
        </p:txBody>
      </p:sp>
      <p:pic>
        <p:nvPicPr>
          <p:cNvPr id="10" name="Picture 9" descr="26_文心高第_成交行情走勢圖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383280" cy="23466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46720" y="361188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70332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微軟正黑體"/>
              </a:defRPr>
            </a:pPr>
            <a:r>
              <a:t>文心高第（266戶・屋齡24.9年）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950">
                <a:solidFill>
                  <a:srgbClr val="1E293B"/>
                </a:solidFill>
                <a:latin typeface="微軟正黑體"/>
              </a:defRPr>
            </a:pPr>
            <a:r>
              <a:t>• 113年高點：34.5 萬/坪 (12樓)</a:t>
            </a:r>
            <a:br/>
            <a:r>
              <a:t>• 115年最新成交：30.4 萬/坪 (2樓)</a:t>
            </a:r>
            <a:br/>
            <a:r>
              <a:t>• 均價自 31.3 萬下修至 28.5 萬 (-8.9%)</a:t>
            </a:r>
            <a:br/>
            <a:r>
              <a:t>• 東興路指標建案高檔反轉</a:t>
            </a:r>
            <a:br/>
            <a:r>
              <a:t>• 買盤難耐高總價，委售時間由 2 個月拉長至半年以上。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指標實證 3【德富、園道與學府聚落破底】長億南園・龍邦綠園道・大東家華園・大安黃金城</a:t>
            </a:r>
          </a:p>
        </p:txBody>
      </p:sp>
      <p:pic>
        <p:nvPicPr>
          <p:cNvPr id="4" name="Picture 3" descr="28_長億南園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542032" cy="17728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315468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2359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長億南園（171戶）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900">
                <a:solidFill>
                  <a:srgbClr val="1E293B"/>
                </a:solidFill>
                <a:latin typeface="微軟正黑體"/>
              </a:defRPr>
            </a:pPr>
            <a:r>
              <a:t>• 高點：27.2 萬 (113年)</a:t>
            </a:r>
            <a:br/>
            <a:r>
              <a:t>• 最新：21.4 萬 (115/09)</a:t>
            </a:r>
            <a:br/>
            <a:r>
              <a:t>• 均價：25.1 ➜ 21.8 萬 (-13.1%)</a:t>
            </a:r>
            <a:br/>
            <a:r>
              <a:t>• 9 樓總價僅 782 萬，永義積極洽談本組買方！</a:t>
            </a:r>
          </a:p>
        </p:txBody>
      </p:sp>
      <p:pic>
        <p:nvPicPr>
          <p:cNvPr id="7" name="Picture 6" descr="15_龍邦綠園道_成交行情走勢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371600"/>
            <a:ext cx="2542032" cy="17631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56432" y="315468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246120"/>
            <a:ext cx="2359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龍邦綠園道（322戶）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900">
                <a:solidFill>
                  <a:srgbClr val="1E293B"/>
                </a:solidFill>
                <a:latin typeface="微軟正黑體"/>
              </a:defRPr>
            </a:pPr>
            <a:r>
              <a:t>• 高點：28.5 萬 (114年)</a:t>
            </a:r>
            <a:br/>
            <a:r>
              <a:t>• 最新：23.6 萬 (115/08)</a:t>
            </a:r>
            <a:br/>
            <a:r>
              <a:t>• 均價：23.6 ➜ 21.3 萬 (-9.5%)</a:t>
            </a:r>
            <a:br/>
            <a:r>
              <a:t>• 園道首排支撐鬆動，價格高檔回落。</a:t>
            </a:r>
          </a:p>
        </p:txBody>
      </p:sp>
      <p:pic>
        <p:nvPicPr>
          <p:cNvPr id="10" name="Picture 9" descr="35_大東家華園_成交行情走勢圖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371600"/>
            <a:ext cx="2542032" cy="177280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81344" y="315468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3246120"/>
            <a:ext cx="2359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大東家華園（227戶）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900">
                <a:solidFill>
                  <a:srgbClr val="1E293B"/>
                </a:solidFill>
                <a:latin typeface="微軟正黑體"/>
              </a:defRPr>
            </a:pPr>
            <a:r>
              <a:t>• 高點：27.7 萬 (113年)</a:t>
            </a:r>
            <a:br/>
            <a:r>
              <a:t>• 最新：20.3 萬 (115/07)</a:t>
            </a:r>
            <a:br/>
            <a:r>
              <a:t>• 🔥 最新成交逼近 1 字頭！</a:t>
            </a:r>
            <a:br/>
            <a:r>
              <a:t>• 均價：24.5 ➜ 23.1 萬 (-5.9%)。</a:t>
            </a:r>
          </a:p>
        </p:txBody>
      </p:sp>
      <p:pic>
        <p:nvPicPr>
          <p:cNvPr id="13" name="Picture 12" descr="18_大安黃金城大廈_成交行情走勢圖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56" y="1371600"/>
            <a:ext cx="2542032" cy="177280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906256" y="315468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3246120"/>
            <a:ext cx="2359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大安黃金城（307戶）</a:t>
            </a:r>
          </a:p>
          <a:p>
            <a:pPr>
              <a:lnSpc>
                <a:spcPct val="115000"/>
              </a:lnSpc>
              <a:spcBef>
                <a:spcPts val="300"/>
              </a:spcBef>
              <a:defRPr sz="900">
                <a:solidFill>
                  <a:srgbClr val="1E293B"/>
                </a:solidFill>
                <a:latin typeface="微軟正黑體"/>
              </a:defRPr>
            </a:pPr>
            <a:r>
              <a:t>• 高點：34.3 萬 (114年)</a:t>
            </a:r>
            <a:br/>
            <a:r>
              <a:t>• 最新：25.2 萬 (115/06)</a:t>
            </a:r>
            <a:br/>
            <a:r>
              <a:t>• 均價：26.6 ➜ 23.7 萬 (-11.1%)</a:t>
            </a:r>
            <a:br/>
            <a:r>
              <a:t>• 中興大學生活圈買盤全面縮手。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工學天下全紀錄價量剖析：115年最新成交摜破20萬至19.58萬，成交量大縮84%</a:t>
            </a:r>
          </a:p>
        </p:txBody>
      </p:sp>
      <p:pic>
        <p:nvPicPr>
          <p:cNvPr id="4" name="Picture 3" descr="工學天下15樓_成交單價價量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2320" y="1371600"/>
            <a:ext cx="432785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554480"/>
            <a:ext cx="3779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🏢 工學天下實登關鍵鐵證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115/06 最新無車位跌破 20 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189號7F之3 無車位成交 19.58 萬/坪（折合本戶 40.1 坪僅值 785 萬）！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115/01 最新無車位僅 660 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189號3F之2 無車位成交總價更僅 660 萬（20.77 萬/坪），總價定錨極低！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• 年度成交均價大跌 16.1%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年度均價自 113 年 24.68 萬大跌至 115 年 20.70 萬，年成交量自 25 件急凍至 4 件！</a:t>
            </a:r>
          </a:p>
          <a:p>
            <a:pPr>
              <a:spcBef>
                <a:spcPts val="800"/>
              </a:spcBef>
              <a:defRPr sz="1200" b="1">
                <a:solidFill>
                  <a:srgbClr val="2C5E8A"/>
                </a:solidFill>
                <a:latin typeface="微軟正黑體"/>
              </a:defRPr>
            </a:pPr>
            <a:r>
              <a:t>• 長期合理歷史均價僅 17 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101~109 年合理區間為 12~16 萬，樂居全期均價 17.02 萬。本案開 23.14 萬完全偏離行情！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1：產調說明書 *7 條鐵證揭露，主建物含電樓梯間室內縮水 3 坪！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信義房屋產調說明書白紙黑字鐵證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注意事項第 *7 條明確記載：</a:t>
            </a:r>
            <a:br/>
            <a:r>
              <a:t>  『本物件經信義房屋確認主建物登記面積（27.1坪）含該層之（電）樓梯間，因此可能造成室內實際面積小於主建物登記之面積』。</a:t>
            </a:r>
            <a:br/>
            <a:r>
              <a:t>• 早期建商將當層 3 戶共用的 2 部電梯廳與公共樓梯間塞入主建物登記！</a:t>
            </a:r>
            <a:br/>
            <a:r>
              <a:t>• 扣除分攤梯間公設（約 2.5～3.5 坪），室內實質可用面積僅約 23.5～24 坪，實質公設比超過 30%！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買方理性爭取折讓 60 萬虛坪價差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買方複看時拿捲尺一對即發現室內實坪嚴重縮水。</a:t>
            </a:r>
            <a:br/>
            <a:r>
              <a:t>• 買方表示：『我花錢買 27.1 坪主建物，結果裡面有 3 坪是門外的梯間公設！這 3 坪虛坪算下來就要 60 萬元！』</a:t>
            </a:r>
            <a:br/>
            <a:r>
              <a:t>• 屋主本來就應該將梯間公設虛坪價差實質折讓給買方，這是白紙黑字事實，談判桌上無法反駁！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2：產調 13 條註記曾為須注意建築物（921黃單），銀行貸款保守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信義說明書第 13 條警示條款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說明書白紙黑字記載：</a:t>
            </a:r>
            <a:br/>
            <a:r>
              <a:t>  『本棟建物為須注意之建築物，業已修復完成並取得建築師專業鑑定報告，建議承買人簽約前確認金融機構貸款條件』。</a:t>
            </a:r>
            <a:br/>
            <a:r>
              <a:t>• 依法必須揭露，看屋買方十組有八組看到『須注意之建築物』即嚇退！</a:t>
            </a:r>
            <a:br/>
            <a:r>
              <a:t>• 銀行內部亦有歷史列管紀錄，鑑價與成數審核極其保守！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E8A"/>
                </a:solidFill>
                <a:latin typeface="微軟正黑體"/>
              </a:defRPr>
            </a:pPr>
            <a:r>
              <a:t>31.7 年老屋＋無車位＋黃單三重限制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屋齡已達 31.7 年，加上無固定車位，銀行貸款年限與成數遭到大幅壓縮。</a:t>
            </a:r>
            <a:br/>
            <a:r>
              <a:t>• 買方必須自行準備充裕現金彌補自備款落差。</a:t>
            </a:r>
            <a:br/>
            <a:r>
              <a:t>• 這組成熟中年買方願包容歷史瑕疵、理性承接，是千載難逢的誠意買盤，屋主價格務必實質讓步！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3：115 年最新無車位成交摜破 20 萬，最低總價僅 660 萬！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94560"/>
                <a:gridCol w="451073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成交時間與戶別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車位狀況 / 坪數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成交總價 / 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對本案（141號15F之1）的定錨意義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115/06 189號7樓之3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無車位 (49.54坪)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970 萬</a:t>
                      </a:r>
                      <a:br/>
                      <a:r>
                        <a:t>(19.58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最新一筆無車位實登，直接跌破 20 萬大關！折合本戶僅值 785 萬。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115/01 189號3樓之2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無車位 (31.78坪)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660 萬</a:t>
                      </a:r>
                      <a:br/>
                      <a:r>
                        <a:t>(20.77 萬/坪)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115 年最新無車位 3 房最低成交總價定錨在 660 萬！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114/01 189號5樓之3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機械車位 (54.10坪)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1,050 萬</a:t>
                      </a:r>
                      <a:br/>
                      <a:r>
                        <a:t>(19.41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含車位都才 19.41 萬/坪！以此單價乘本戶 40.1 坪僅值 778 萬。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【本案開價】141號15F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無車位 (40.10坪)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928 萬</a:t>
                      </a:r>
                      <a:br/>
                      <a:r>
                        <a:t>(23.14 萬/坪)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嚴重脫節！比最新無車位成交價（19.58萬）貴了近兩成，無人追價！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💡 房仲核心建言：最新無車位成交已實質跌回 19.58 萬/坪，總價最低僅 660 萬。照最新實登計算，本戶天花板頂多 780 萬，完全不可能有買方去追 23 萬以上開價！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4：完全無車位致命硬傷 vs 同棟 141 號附平車才賣 20.8 萬/坪！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工學商圈停車極難，無車位是最大抗性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樓下為工學市場與商圈，周邊臨停極度困難。</a:t>
            </a:r>
            <a:br/>
            <a:r>
              <a:t>• 三房家庭大多有開車通勤需求，無固定車位是中古轉手最大抗性。</a:t>
            </a:r>
            <a:br/>
            <a:r>
              <a:t>• 買方若在外租車位，一個月 3,000 元，住 20 年就要多付 72 萬租金！這筆折價必然由房價扣除！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同棟 141 號 4 樓附平面車位僅賣 20.86 萬/坪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買方調出同一棟（141 號 4 樓之 2）113/03 實登紀錄：</a:t>
            </a:r>
            <a:br/>
            <a:r>
              <a:t>  附一個坡道平面大車位（47.95 坪），成交單價僅 20.86 萬/坪（總價 1,000 萬）！</a:t>
            </a:r>
            <a:br/>
            <a:r>
              <a:t>• 買方質疑：『人家同棟有平面大車位在最熱時才賣 20.8 萬，你們這間完全沒車位憑什麼開 23.14 萬？』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5：同棟正樓下 13 樓 610 萬與正樓上 16 樓 530 萬實登定錨！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C5E8A"/>
                </a:solidFill>
                <a:latin typeface="微軟正黑體"/>
              </a:defRPr>
            </a:pPr>
            <a:r>
              <a:t>同棟正樓下 141 號 13 樓之 1 (無車位)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坪數：39.19 坪 (與本案格局同座向)</a:t>
            </a:r>
            <a:br/>
            <a:r>
              <a:t>• 成交時間：民國 109 年 4 月</a:t>
            </a:r>
            <a:br/>
            <a:r>
              <a:t>• 成交總價：610 萬 (單價 15.57 萬/坪)</a:t>
            </a:r>
            <a:br/>
            <a:r>
              <a:t>• 正樓下無車位正常市場價即為 610 萬！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微軟正黑體"/>
              </a:defRPr>
            </a:pPr>
            <a:r>
              <a:t>同棟正樓上 141 號 16 樓之 1 (無車位)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坪數：40.30 坪 (頂樓戶無車位)</a:t>
            </a:r>
            <a:br/>
            <a:r>
              <a:t>• 成交時間：民國 108 年 1 月</a:t>
            </a:r>
            <a:br/>
            <a:r>
              <a:t>• 成交總價：530 萬 (單價 13.15 萬/坪)</a:t>
            </a:r>
            <a:br/>
            <a:r>
              <a:t>• 正樓上無車位正常市場價僅 530 萬！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98C14"/>
                </a:solidFill>
                <a:latin typeface="微軟正黑體"/>
              </a:defRPr>
            </a:pPr>
            <a:r>
              <a:t>信義行情表區段最低單價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門牌：155 號 3 樓之 1</a:t>
            </a:r>
            <a:br/>
            <a:r>
              <a:t>• 成交時間：114 年 9 月</a:t>
            </a:r>
            <a:br/>
            <a:r>
              <a:t>• 成交總價：630 萬 (單價 12.54 萬/坪)</a:t>
            </a:r>
            <a:br/>
            <a:r>
              <a:t>• 買方已被 610~660 萬定錨，出價 600 多萬合情合理！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6：31.7 年老屋管線未曾更換＋雙衛浴無窗，120 萬翻修剛性支出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屋況客觀限制與必要工程清單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說明書勾選『水電管線未曾更換』，32 年老舊電線與冷熱水管必須全數重拉！</a:t>
            </a:r>
            <a:br/>
            <a:r>
              <a:t>• 雙衛浴皆無對外窗（暗衛），必須打除見底重做防水層與加裝暖風排氣系統。</a:t>
            </a:r>
            <a:br/>
            <a:r>
              <a:t>• 前陽台加窗屬既存違建需重整，更換隔音防水氣密窗。</a:t>
            </a:r>
            <a:br/>
            <a:r>
              <a:t>• 廚房老舊流理台櫥櫃換新、全室油漆泥作，統包基礎工程報價達 110～120 萬！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E8A"/>
                </a:solidFill>
                <a:latin typeface="微軟正黑體"/>
              </a:defRPr>
            </a:pPr>
            <a:r>
              <a:t>買方是純自住，預算嚴格扣除工程款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買方不是投資客隨便粉刷轉租，而是家庭長期自住，居家安全不可妥協。</a:t>
            </a:r>
            <a:br/>
            <a:r>
              <a:t>• 120 萬翻修工程款是實打實的現金支出，必須從購屋總預算中倒扣。</a:t>
            </a:r>
            <a:br/>
            <a:r>
              <a:t>• 買方出價是經過精密財務精算後的真實極限，絕非惡意殺價！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7：同社區高達 23 間在售多殺多危機，早一步成交勝過被鄰居踐踏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同社區 23 戶在售大塞車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目前 591 網站上『工學天下』同社區即有高達 23 戶同時銷售（三房佔 22 戶）！</a:t>
            </a:r>
            <a:br/>
            <a:r>
              <a:t>• 開價區間自 788 萬至 1,398 萬，社區待售供給量極度龐大。</a:t>
            </a:r>
            <a:br/>
            <a:r>
              <a:t>• 買方進來看工學天下，一次可以挑選比較多間，選擇極多！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誰先讓利，誰就能先把數百萬現金抱回家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1E293B"/>
                </a:solidFill>
                <a:latin typeface="微軟正黑體"/>
              </a:defRPr>
            </a:pPr>
            <a:r>
              <a:t>• 現在市場買氣急凍，只要社區有急售鄰居撐不住率先降價成交在 17~18 萬，後面所有買方出價會再殺兩成！</a:t>
            </a:r>
            <a:br/>
            <a:r>
              <a:t>• 趁本組買方最喜歡 15 樓視野、尚未被別戶吸走前成交，才不會陷入社區多殺多泥淖！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8：屋主 85 年買入持有整整 30 年成本僅 300 多萬，大賺出場落袋為安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77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00830"/>
                <a:gridCol w="390083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財務 / 稅務項目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歷史數據與條件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本次成交預估結果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屋主原始買入成本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民國 85 年 5 月登記：約 320～400 萬 (8~10 萬/坪)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本金早已 100% 回收，無任何房貸壓力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產權持有時間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民國 85 年至今：已整整滿 30 年！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第一手屋主，資產累積期長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成交實質獲利評估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在 600 多萬價位順利成交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淨賺 250 萬～350 萬純現金落袋！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房屋現況持有成本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目前空屋，每月白繳 1,943 元管理費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及時變現，省去每月管理費與老屋跌價折舊風險！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  <a:latin typeface="微軟正黑體"/>
              </a:defRPr>
            </a:pPr>
            <a:r>
              <a:t>🏆 獲利了結論點：屋主持有滿 30 年，無論成交 630 萬還是 680 萬，都是倒賺 250~350 萬現金落袋！</a:t>
            </a:r>
            <a:br/>
            <a:r>
              <a:t>在房市反轉向下之際，及時把數百萬現金抱在身上，比繼續空置老屋承擔跌價風險聰明太多！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9：強烈競品雙重施壓，南屯大墩人文與南區長億南園隨時簽約！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834640"/>
                <a:gridCol w="3047695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評估指標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南屯【大墩人文 11 樓】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南區【長億南園 8 樓】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工學天下 15 樓之 1 (本案)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地段生活圈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南屯捷運站、大墩森林公園富人商圈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南區德富路商圈、近忠明南路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南區工學市場商圈、高工路生活圈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室內實質坪數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室內 31.5 坪 (純室內，無灌水梯間！)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室內 32 坪超大空間 (附機上車位)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權狀 40.1 坪 (主建物灌梯間，實質 23.5 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屋況整修現況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需基礎翻修，但戶數 188 戶單純質感佳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 年前整理過水電衛浴，永義積極撮合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31.7 年老屋管線未曾更換，需全室翻修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買方當下態度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買方曾租住有感情，信義房屋積極洽談中！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永義房屋積極催促下斡旋！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若本戶價格踩太硬，買方立刻轉身簽別間！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392B"/>
                </a:solidFill>
                <a:latin typeface="微軟正黑體"/>
              </a:defRPr>
            </a:pPr>
            <a:r>
              <a:t>⚠️ 經紀人急迫預警：買方手上有大墩人文與長億南園兩大強烈競品，哪一間先讓利談進預算就簽哪一間！若我們堅持高價不談，買方轉頭簽約，本案將徹底失去難得的自住好買方！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說服理由 10 &amp; 11：買方『比實登最低價再低兩成』科學精算與出價方案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方案 A：實登最低價打 8 折（★最推薦首選）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基準：115/06 最新無車位實登 19.58 萬/坪 (折合本戶 785 萬)。</a:t>
            </a:r>
            <a:br/>
            <a:r>
              <a:t>• 精算：785 萬 × 0.8 (打 8 折) ＝ 628 萬 (15.66 萬/坪)！</a:t>
            </a:r>
            <a:br/>
            <a:r>
              <a:t>• 扣除 120 萬翻修＋35 萬梯間虛坪，出價有憑有據！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方案 B：信義房屋 7 折收斡方案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基準：目前開價 928 萬 × 0.7 ＝ 650 萬 (16.21 萬/坪)！</a:t>
            </a:r>
            <a:br/>
            <a:r>
              <a:t>• 符合信義店頭收斡慣例，總價剛好站上 650 萬整數關卡。</a:t>
            </a:r>
            <a:br/>
            <a:r>
              <a:t>• 能迅速促成信義店頭向屋主收斡見面談！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  <a:latin typeface="微軟正黑體"/>
              </a:defRPr>
            </a:pPr>
            <a:r>
              <a:t>方案 C：同條件 15 樓歷史成交打 8 折封頂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• 基準：112/08 149 號 15 樓無車位成交 840 萬 × 0.8 ＝ 672 萬 (16.76 萬/坪)！</a:t>
            </a:r>
            <a:br/>
            <a:r>
              <a:t>• 買方家庭談判之封頂絕對天花板，絕不再加價！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8C14"/>
                </a:solidFill>
                <a:latin typeface="微軟正黑體"/>
              </a:defRPr>
            </a:pPr>
            <a:r>
              <a:t>工學天下 15 樓之 1・房仲向屋主議價溝通簡報</a:t>
            </a:r>
          </a:p>
          <a:p>
            <a:pPr>
              <a:spcBef>
                <a:spcPts val="200"/>
              </a:spcBef>
              <a:defRPr sz="2000" b="1">
                <a:solidFill>
                  <a:srgbClr val="1B365D"/>
                </a:solidFill>
                <a:latin typeface="微軟正黑體"/>
              </a:defRPr>
            </a:pPr>
            <a:r>
              <a:t>臨門一腳促成簽約：『只要屋主願意談，買方願意立即下斡旋金！』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微軟正黑體"/>
              </a:defRPr>
            </a:pPr>
            <a:r>
              <a:t>🎯 房仲逼單最關鍵的一句話（激發屋主落袋為安與急迫感）：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「大哥／大姐，現在市場上光看不買的假客人很多，但真正有誠意的自住買方少之又少。</a:t>
            </a:r>
            <a:br/>
            <a:br/>
            <a:r>
              <a:t>這組自住買方非常有誠意：只要大哥／大姐願意談，買方願意立即下斡旋金，隨時配合我們正式簽約履約！</a:t>
            </a:r>
            <a:br/>
            <a:br/>
            <a:r>
              <a:t>您民國 85 年買 300 多萬，現在成交已經讓您穩穩淨賺兩三百萬現金出場，還能完美避開後面南區老屋量縮價跌與同社區 23 戶削價競爭的風險。</a:t>
            </a:r>
            <a:br/>
            <a:br/>
            <a:r>
              <a:t>而且買方甚至承諾會花上百萬把全室水電與防水重新翻新、好好善待這個起家厝。信義房屋那邊今天還在積極催買方去簽南屯的大墩人文，請大哥／大姐今天就做決定，給我們授權簽字，我們立刻幫您把數百萬現金穩穩落袋！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8C14"/>
                </a:solidFill>
                <a:latin typeface="微軟正黑體"/>
              </a:defRPr>
            </a:pPr>
            <a:r>
              <a:t>抓緊大盤反轉前夕  •  把握唯一誠意自住買盤</a:t>
            </a:r>
          </a:p>
          <a:p>
            <a:pPr algn="ctr">
              <a:spcBef>
                <a:spcPts val="1600"/>
              </a:spcBef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恭祝 屋主資產高點變現・圓滿落袋為安大贏家！</a:t>
            </a:r>
          </a:p>
          <a:p>
            <a:pPr algn="ctr">
              <a:spcBef>
                <a:spcPts val="2400"/>
              </a:spcBef>
              <a:defRPr sz="1300">
                <a:solidFill>
                  <a:srgbClr val="BED2F0"/>
                </a:solidFill>
                <a:latin typeface="微軟正黑體"/>
              </a:defRPr>
            </a:pPr>
            <a:r>
              <a:t>信義房屋專案團隊 敬製  |  工學天下 15 樓之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